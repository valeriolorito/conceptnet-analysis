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6858000" cx="12192000"/>
  <p:notesSz cx="6858000" cy="9144000"/>
  <p:embeddedFontLst>
    <p:embeddedFont>
      <p:font typeface="Roboto"/>
      <p:regular r:id="rId25"/>
      <p:bold r:id="rId26"/>
      <p:italic r:id="rId27"/>
      <p:boldItalic r:id="rId28"/>
    </p:embeddedFont>
    <p:embeddedFont>
      <p:font typeface="Poppins"/>
      <p:regular r:id="rId29"/>
      <p:bold r:id="rId30"/>
      <p:italic r:id="rId31"/>
      <p:boldItalic r:id="rId32"/>
    </p:embeddedFont>
    <p:embeddedFont>
      <p:font typeface="Lato"/>
      <p:regular r:id="rId33"/>
      <p:bold r:id="rId34"/>
      <p:italic r:id="rId35"/>
      <p:boldItalic r:id="rId36"/>
    </p:embeddedFont>
    <p:embeddedFont>
      <p:font typeface="Plus Jakarta Sans"/>
      <p:regular r:id="rId37"/>
      <p:bold r:id="rId38"/>
      <p:italic r:id="rId39"/>
      <p:boldItalic r:id="rId40"/>
    </p:embeddedFont>
    <p:embeddedFont>
      <p:font typeface="Inter"/>
      <p:regular r:id="rId41"/>
      <p:bold r:id="rId42"/>
      <p:italic r:id="rId43"/>
      <p:boldItalic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45" roundtripDataSignature="AMtx7mg41bLl2R3BCPwILJx2GyMfXOWHW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lusJakartaSans-boldItalic.fntdata"/><Relationship Id="rId20" Type="http://schemas.openxmlformats.org/officeDocument/2006/relationships/slide" Target="slides/slide15.xml"/><Relationship Id="rId42" Type="http://schemas.openxmlformats.org/officeDocument/2006/relationships/font" Target="fonts/Inter-bold.fntdata"/><Relationship Id="rId41" Type="http://schemas.openxmlformats.org/officeDocument/2006/relationships/font" Target="fonts/Inter-regular.fntdata"/><Relationship Id="rId22" Type="http://schemas.openxmlformats.org/officeDocument/2006/relationships/slide" Target="slides/slide17.xml"/><Relationship Id="rId44" Type="http://schemas.openxmlformats.org/officeDocument/2006/relationships/font" Target="fonts/Inter-boldItalic.fntdata"/><Relationship Id="rId21" Type="http://schemas.openxmlformats.org/officeDocument/2006/relationships/slide" Target="slides/slide16.xml"/><Relationship Id="rId43" Type="http://schemas.openxmlformats.org/officeDocument/2006/relationships/font" Target="fonts/Inter-italic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45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-bold.fntdata"/><Relationship Id="rId25" Type="http://schemas.openxmlformats.org/officeDocument/2006/relationships/font" Target="fonts/Roboto-regular.fntdata"/><Relationship Id="rId28" Type="http://schemas.openxmlformats.org/officeDocument/2006/relationships/font" Target="fonts/Roboto-boldItalic.fntdata"/><Relationship Id="rId27" Type="http://schemas.openxmlformats.org/officeDocument/2006/relationships/font" Target="fonts/Robo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oppins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oppins-italic.fntdata"/><Relationship Id="rId30" Type="http://schemas.openxmlformats.org/officeDocument/2006/relationships/font" Target="fonts/Poppins-bold.fntdata"/><Relationship Id="rId11" Type="http://schemas.openxmlformats.org/officeDocument/2006/relationships/slide" Target="slides/slide6.xml"/><Relationship Id="rId33" Type="http://schemas.openxmlformats.org/officeDocument/2006/relationships/font" Target="fonts/Lato-regular.fntdata"/><Relationship Id="rId10" Type="http://schemas.openxmlformats.org/officeDocument/2006/relationships/slide" Target="slides/slide5.xml"/><Relationship Id="rId32" Type="http://schemas.openxmlformats.org/officeDocument/2006/relationships/font" Target="fonts/Poppins-boldItalic.fntdata"/><Relationship Id="rId13" Type="http://schemas.openxmlformats.org/officeDocument/2006/relationships/slide" Target="slides/slide8.xml"/><Relationship Id="rId35" Type="http://schemas.openxmlformats.org/officeDocument/2006/relationships/font" Target="fonts/Lato-italic.fntdata"/><Relationship Id="rId12" Type="http://schemas.openxmlformats.org/officeDocument/2006/relationships/slide" Target="slides/slide7.xml"/><Relationship Id="rId34" Type="http://schemas.openxmlformats.org/officeDocument/2006/relationships/font" Target="fonts/Lato-bold.fntdata"/><Relationship Id="rId15" Type="http://schemas.openxmlformats.org/officeDocument/2006/relationships/slide" Target="slides/slide10.xml"/><Relationship Id="rId37" Type="http://schemas.openxmlformats.org/officeDocument/2006/relationships/font" Target="fonts/PlusJakartaSans-regular.fntdata"/><Relationship Id="rId14" Type="http://schemas.openxmlformats.org/officeDocument/2006/relationships/slide" Target="slides/slide9.xml"/><Relationship Id="rId36" Type="http://schemas.openxmlformats.org/officeDocument/2006/relationships/font" Target="fonts/Lato-boldItalic.fntdata"/><Relationship Id="rId17" Type="http://schemas.openxmlformats.org/officeDocument/2006/relationships/slide" Target="slides/slide12.xml"/><Relationship Id="rId39" Type="http://schemas.openxmlformats.org/officeDocument/2006/relationships/font" Target="fonts/PlusJakartaSans-italic.fntdata"/><Relationship Id="rId16" Type="http://schemas.openxmlformats.org/officeDocument/2006/relationships/slide" Target="slides/slide11.xml"/><Relationship Id="rId38" Type="http://schemas.openxmlformats.org/officeDocument/2006/relationships/font" Target="fonts/PlusJakartaSans-bold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3" name="Google Shape;83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fbd9b9fdfa_0_3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g3fbd9b9fdfa_0_34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g3fbd9b9fdfa_0_34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5" name="Google Shape;125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fbd9b9fdfa_0_21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g3fbd9b9fdfa_0_214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g3fbd9b9fdfa_0_214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fbd9b9fdfa_0_16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g3fbd9b9fdfa_0_167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g3fbd9b9fdfa_0_167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fbd9b9fdfa_0_2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g3fbd9b9fdfa_0_25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fbd9b9fdfa_0_3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g3fbd9b9fdfa_0_34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fbe76f6726_0_20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8" name="Google Shape;288;g3fbe76f6726_0_204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g3fbe76f6726_0_204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fbd9b9fdfa_0_45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3fbd9b9fdfa_0_4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h49a0bcae752c4fa0_2_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1" name="Google Shape;321;h49a0bcae752c4fa0_2_5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h49a0bcae752c4fa0_2_5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0" name="Google Shape;350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fbe76f6726_0_24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7" name="Google Shape;397;g3fbe76f6726_0_240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g3fbe76f6726_0_240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3fbe76f6726_0_4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1" name="Google Shape;481;g3fbe76f6726_0_41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g3fbe76f6726_0_41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3fbe76f6726_0_32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2" name="Google Shape;522;g3fbe76f6726_0_327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g3fbe76f6726_0_327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g3fbe76f6726_0_12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4" name="Google Shape;604;g3fbe76f6726_0_128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g3fbe76f6726_0_128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g3fbe76f6726_0_16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1" name="Google Shape;631;g3fbe76f6726_0_162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g3fbe76f6726_0_162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h49a0bcae752c4fa0_1_17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2" name="Google Shape;662;h49a0bcae752c4fa0_1_170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h49a0bcae752c4fa0_1_170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h49a0bcae752c4fa0_1_23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9" name="Google Shape;729;h49a0bcae752c4fa0_1_236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0" name="Google Shape;730;h49a0bcae752c4fa0_1_236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h49a0bcae752c4fa0_0_5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5" name="Google Shape;765;h49a0bcae752c4fa0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hyperlink" Target="http://drive.google.com/file/d/158fAHV6X1-tFTS73SMDM7f6-wlNO2hla/view" TargetMode="External"/><Relationship Id="rId4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"/>
          <p:cNvSpPr txBox="1"/>
          <p:nvPr/>
        </p:nvSpPr>
        <p:spPr>
          <a:xfrm>
            <a:off x="615100" y="2256525"/>
            <a:ext cx="109947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7E0705"/>
                </a:solidFill>
                <a:latin typeface="Poppins"/>
                <a:ea typeface="Poppins"/>
                <a:cs typeface="Poppins"/>
                <a:sym typeface="Poppins"/>
              </a:rPr>
              <a:t>ConceptNet Analysis: Knowledge Graph vs. Relational DBMS Comparison</a:t>
            </a:r>
            <a:endParaRPr b="1" sz="4000">
              <a:solidFill>
                <a:srgbClr val="7E070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1323975" y="4566394"/>
            <a:ext cx="95250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Project Group: Valerio Lorito (1885657) &amp;</a:t>
            </a:r>
            <a:r>
              <a:rPr lang="en-US" sz="165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Costanza Maiolino (2064531)</a:t>
            </a:r>
            <a:br>
              <a:rPr b="0" i="0" lang="en-US" sz="1800" u="none" cap="none" strike="noStrike">
                <a:solidFill>
                  <a:srgbClr val="822433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400" u="none" cap="none" strike="noStrike">
              <a:solidFill>
                <a:srgbClr val="8224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3545305" y="3617124"/>
            <a:ext cx="5101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8B1A1A"/>
                </a:solidFill>
                <a:latin typeface="Calibri"/>
                <a:ea typeface="Calibri"/>
                <a:cs typeface="Calibri"/>
                <a:sym typeface="Calibri"/>
              </a:rPr>
              <a:t>Data Management Project 2026</a:t>
            </a:r>
            <a:endParaRPr sz="1900">
              <a:solidFill>
                <a:srgbClr val="8B1A1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"/>
          <p:cNvSpPr/>
          <p:nvPr/>
        </p:nvSpPr>
        <p:spPr>
          <a:xfrm>
            <a:off x="0" y="6614400"/>
            <a:ext cx="12192000" cy="243600"/>
          </a:xfrm>
          <a:prstGeom prst="rect">
            <a:avLst/>
          </a:prstGeom>
          <a:solidFill>
            <a:srgbClr val="82243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0" y="6608025"/>
            <a:ext cx="12192000" cy="243600"/>
          </a:xfrm>
          <a:prstGeom prst="rect">
            <a:avLst/>
          </a:prstGeom>
          <a:solidFill>
            <a:srgbClr val="8924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0" y="0"/>
            <a:ext cx="12192000" cy="243600"/>
          </a:xfrm>
          <a:prstGeom prst="rect">
            <a:avLst/>
          </a:prstGeom>
          <a:solidFill>
            <a:srgbClr val="82243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-19050" y="6614399"/>
            <a:ext cx="12211050" cy="297857"/>
          </a:xfrm>
          <a:prstGeom prst="rect">
            <a:avLst/>
          </a:prstGeom>
          <a:solidFill>
            <a:srgbClr val="82243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F1A2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"/>
          <p:cNvSpPr/>
          <p:nvPr/>
        </p:nvSpPr>
        <p:spPr>
          <a:xfrm>
            <a:off x="-9525" y="-57220"/>
            <a:ext cx="12211050" cy="297857"/>
          </a:xfrm>
          <a:prstGeom prst="rect">
            <a:avLst/>
          </a:prstGeom>
          <a:solidFill>
            <a:srgbClr val="82243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F1A2D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fbd9b9fdfa_0_34"/>
          <p:cNvSpPr/>
          <p:nvPr/>
        </p:nvSpPr>
        <p:spPr>
          <a:xfrm>
            <a:off x="1020339" y="334425"/>
            <a:ext cx="1917600" cy="383400"/>
          </a:xfrm>
          <a:prstGeom prst="roundRect">
            <a:avLst>
              <a:gd fmla="val 50000" name="adj"/>
            </a:avLst>
          </a:prstGeom>
          <a:solidFill>
            <a:srgbClr val="0F8B8D"/>
          </a:solidFill>
          <a:ln>
            <a:noFill/>
          </a:ln>
        </p:spPr>
        <p:txBody>
          <a:bodyPr anchorCtr="0" anchor="ctr" bIns="119825" lIns="119825" spcFirstLastPara="1" rIns="119825" wrap="square" tIns="1198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g3fbd9b9fdfa_0_34"/>
          <p:cNvSpPr txBox="1"/>
          <p:nvPr/>
        </p:nvSpPr>
        <p:spPr>
          <a:xfrm>
            <a:off x="1020339" y="334431"/>
            <a:ext cx="1917600" cy="383400"/>
          </a:xfrm>
          <a:prstGeom prst="rect">
            <a:avLst/>
          </a:prstGeom>
          <a:solidFill>
            <a:srgbClr val="82243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78"/>
              <a:buFont typeface="Arial"/>
              <a:buNone/>
            </a:pPr>
            <a:r>
              <a:rPr b="1" i="0" lang="en-US" sz="1278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BACKGROUND</a:t>
            </a:r>
            <a:endParaRPr b="0" i="0" sz="127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g3fbd9b9fdfa_0_34"/>
          <p:cNvSpPr txBox="1"/>
          <p:nvPr/>
        </p:nvSpPr>
        <p:spPr>
          <a:xfrm>
            <a:off x="996013" y="849620"/>
            <a:ext cx="5436600" cy="38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4423"/>
              <a:buFont typeface="Calibri"/>
              <a:buNone/>
            </a:pPr>
            <a:r>
              <a:rPr b="1" i="0" lang="en-US" sz="4128" u="none" cap="none" strike="noStrike">
                <a:solidFill>
                  <a:srgbClr val="5B0F00"/>
                </a:solidFill>
                <a:latin typeface="Calibri"/>
                <a:ea typeface="Calibri"/>
                <a:cs typeface="Calibri"/>
                <a:sym typeface="Calibri"/>
              </a:rPr>
              <a:t>What is ConceptNet?</a:t>
            </a:r>
            <a:endParaRPr b="0" i="0" sz="4128" u="none" cap="none" strike="noStrike">
              <a:solidFill>
                <a:srgbClr val="5B0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g3fbd9b9fdfa_0_34"/>
          <p:cNvSpPr txBox="1"/>
          <p:nvPr/>
        </p:nvSpPr>
        <p:spPr>
          <a:xfrm>
            <a:off x="1020339" y="1401080"/>
            <a:ext cx="4977000" cy="11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724"/>
              <a:buFont typeface="Calibri"/>
              <a:buNone/>
            </a:pPr>
            <a:r>
              <a:rPr b="1" i="0" lang="en-US" sz="1724" u="none" cap="none" strike="noStrike">
                <a:solidFill>
                  <a:srgbClr val="85200C"/>
                </a:solidFill>
                <a:latin typeface="Calibri"/>
                <a:ea typeface="Calibri"/>
                <a:cs typeface="Calibri"/>
                <a:sym typeface="Calibri"/>
              </a:rPr>
              <a:t>ConceptNet</a:t>
            </a:r>
            <a:r>
              <a:rPr b="0" i="0" lang="en-US" sz="1724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is a large-scale, multilingual knowledge graph that connects words and phrases through labeled, weighted semantic relationships.</a:t>
            </a:r>
            <a:endParaRPr b="0" i="0" sz="172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g3fbd9b9fdfa_0_34"/>
          <p:cNvSpPr txBox="1"/>
          <p:nvPr/>
        </p:nvSpPr>
        <p:spPr>
          <a:xfrm>
            <a:off x="1020339" y="2507118"/>
            <a:ext cx="4977000" cy="11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451"/>
              <a:buFont typeface="Calibri"/>
              <a:buNone/>
            </a:pPr>
            <a:r>
              <a:rPr b="0" i="0" lang="en-US" sz="1451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It integrates data from crowdsourced resources (e.g. Open Mind Common Sense), expert-curated databases (e.g. WordNet), and multilingual knowledge bases (e.g. Wiktionary, DBPedia).</a:t>
            </a:r>
            <a:endParaRPr b="0" i="0" sz="145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g3fbd9b9fdfa_0_34"/>
          <p:cNvSpPr/>
          <p:nvPr/>
        </p:nvSpPr>
        <p:spPr>
          <a:xfrm>
            <a:off x="6550512" y="1236930"/>
            <a:ext cx="2212200" cy="1271700"/>
          </a:xfrm>
          <a:prstGeom prst="roundRect">
            <a:avLst>
              <a:gd fmla="val 10435" name="adj"/>
            </a:avLst>
          </a:prstGeom>
          <a:solidFill>
            <a:srgbClr val="822433"/>
          </a:solidFill>
          <a:ln>
            <a:noFill/>
          </a:ln>
        </p:spPr>
        <p:txBody>
          <a:bodyPr anchorCtr="0" anchor="ctr" bIns="110575" lIns="110575" spcFirstLastPara="1" rIns="110575" wrap="square" tIns="110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6">
              <a:highlight>
                <a:srgbClr val="822433"/>
              </a:highlight>
            </a:endParaRPr>
          </a:p>
        </p:txBody>
      </p:sp>
      <p:sp>
        <p:nvSpPr>
          <p:cNvPr id="104" name="Google Shape;104;g3fbd9b9fdfa_0_34"/>
          <p:cNvSpPr txBox="1"/>
          <p:nvPr/>
        </p:nvSpPr>
        <p:spPr>
          <a:xfrm>
            <a:off x="6550512" y="1369655"/>
            <a:ext cx="2212200" cy="60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29"/>
              <a:buFont typeface="Calibri"/>
              <a:buNone/>
            </a:pPr>
            <a:r>
              <a:rPr b="1" i="0" lang="en-US" sz="3629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5.7</a:t>
            </a:r>
            <a:endParaRPr b="0" i="0" sz="362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g3fbd9b9fdfa_0_34"/>
          <p:cNvSpPr txBox="1"/>
          <p:nvPr/>
        </p:nvSpPr>
        <p:spPr>
          <a:xfrm>
            <a:off x="6550512" y="1989036"/>
            <a:ext cx="2212200" cy="3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61"/>
              <a:buFont typeface="Calibri"/>
              <a:buNone/>
            </a:pPr>
            <a:r>
              <a:rPr b="0" i="0" lang="en-US" sz="1361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Latest Version</a:t>
            </a:r>
            <a:endParaRPr b="0" i="0" sz="1361" u="none" cap="none" strike="noStrik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g3fbd9b9fdfa_0_34"/>
          <p:cNvSpPr/>
          <p:nvPr/>
        </p:nvSpPr>
        <p:spPr>
          <a:xfrm>
            <a:off x="8983788" y="1236930"/>
            <a:ext cx="2212200" cy="1271700"/>
          </a:xfrm>
          <a:prstGeom prst="roundRect">
            <a:avLst>
              <a:gd fmla="val 10435" name="adj"/>
            </a:avLst>
          </a:prstGeom>
          <a:solidFill>
            <a:srgbClr val="822433"/>
          </a:solidFill>
          <a:ln>
            <a:noFill/>
          </a:ln>
        </p:spPr>
        <p:txBody>
          <a:bodyPr anchorCtr="0" anchor="ctr" bIns="110575" lIns="110575" spcFirstLastPara="1" rIns="110575" wrap="square" tIns="110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g3fbd9b9fdfa_0_34"/>
          <p:cNvSpPr txBox="1"/>
          <p:nvPr/>
        </p:nvSpPr>
        <p:spPr>
          <a:xfrm>
            <a:off x="8983788" y="1369655"/>
            <a:ext cx="2212200" cy="60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29"/>
              <a:buFont typeface="Calibri"/>
              <a:buNone/>
            </a:pPr>
            <a:r>
              <a:rPr b="1" i="0" lang="en-US" sz="3629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36+</a:t>
            </a:r>
            <a:endParaRPr b="0" i="0" sz="362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g3fbd9b9fdfa_0_34"/>
          <p:cNvSpPr txBox="1"/>
          <p:nvPr/>
        </p:nvSpPr>
        <p:spPr>
          <a:xfrm>
            <a:off x="8983788" y="1989036"/>
            <a:ext cx="2212200" cy="3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61"/>
              <a:buFont typeface="Calibri"/>
              <a:buNone/>
            </a:pPr>
            <a:r>
              <a:rPr b="0" i="0" lang="en-US" sz="1361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Languages</a:t>
            </a:r>
            <a:endParaRPr b="0" i="0" sz="1361" u="none" cap="none" strike="noStrik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g3fbd9b9fdfa_0_34"/>
          <p:cNvSpPr/>
          <p:nvPr/>
        </p:nvSpPr>
        <p:spPr>
          <a:xfrm>
            <a:off x="6550512" y="2730081"/>
            <a:ext cx="2212200" cy="1271700"/>
          </a:xfrm>
          <a:prstGeom prst="roundRect">
            <a:avLst>
              <a:gd fmla="val 10435" name="adj"/>
            </a:avLst>
          </a:prstGeom>
          <a:solidFill>
            <a:srgbClr val="822433"/>
          </a:solidFill>
          <a:ln>
            <a:noFill/>
          </a:ln>
        </p:spPr>
        <p:txBody>
          <a:bodyPr anchorCtr="0" anchor="ctr" bIns="110575" lIns="110575" spcFirstLastPara="1" rIns="110575" wrap="square" tIns="110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g3fbd9b9fdfa_0_34"/>
          <p:cNvSpPr txBox="1"/>
          <p:nvPr/>
        </p:nvSpPr>
        <p:spPr>
          <a:xfrm>
            <a:off x="6550512" y="2862805"/>
            <a:ext cx="2212200" cy="60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29"/>
              <a:buFont typeface="Calibri"/>
              <a:buNone/>
            </a:pPr>
            <a:r>
              <a:rPr b="1" i="0" lang="en-US" sz="3629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~8M</a:t>
            </a:r>
            <a:endParaRPr b="0" i="0" sz="362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g3fbd9b9fdfa_0_34"/>
          <p:cNvSpPr txBox="1"/>
          <p:nvPr/>
        </p:nvSpPr>
        <p:spPr>
          <a:xfrm>
            <a:off x="6550512" y="3482186"/>
            <a:ext cx="2212200" cy="3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61"/>
              <a:buFont typeface="Calibri"/>
              <a:buNone/>
            </a:pPr>
            <a:r>
              <a:rPr b="0" i="0" lang="en-US" sz="1361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Nodes</a:t>
            </a:r>
            <a:endParaRPr b="0" i="0" sz="1361" u="none" cap="none" strike="noStrik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g3fbd9b9fdfa_0_34"/>
          <p:cNvSpPr/>
          <p:nvPr/>
        </p:nvSpPr>
        <p:spPr>
          <a:xfrm>
            <a:off x="8983788" y="2730081"/>
            <a:ext cx="2212200" cy="1271700"/>
          </a:xfrm>
          <a:prstGeom prst="roundRect">
            <a:avLst>
              <a:gd fmla="val 10435" name="adj"/>
            </a:avLst>
          </a:prstGeom>
          <a:solidFill>
            <a:srgbClr val="822433"/>
          </a:solidFill>
          <a:ln>
            <a:noFill/>
          </a:ln>
        </p:spPr>
        <p:txBody>
          <a:bodyPr anchorCtr="0" anchor="ctr" bIns="110575" lIns="110575" spcFirstLastPara="1" rIns="110575" wrap="square" tIns="110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g3fbd9b9fdfa_0_34"/>
          <p:cNvSpPr txBox="1"/>
          <p:nvPr/>
        </p:nvSpPr>
        <p:spPr>
          <a:xfrm>
            <a:off x="8983788" y="2862805"/>
            <a:ext cx="2212200" cy="60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29"/>
              <a:buFont typeface="Calibri"/>
              <a:buNone/>
            </a:pPr>
            <a:r>
              <a:rPr b="1" i="0" lang="en-US" sz="3629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~</a:t>
            </a:r>
            <a:r>
              <a:rPr b="1" lang="en-US" sz="362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34</a:t>
            </a:r>
            <a:r>
              <a:rPr b="1" i="0" lang="en-US" sz="3629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endParaRPr b="0" i="0" sz="362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g3fbd9b9fdfa_0_34"/>
          <p:cNvSpPr txBox="1"/>
          <p:nvPr/>
        </p:nvSpPr>
        <p:spPr>
          <a:xfrm>
            <a:off x="8983788" y="3482186"/>
            <a:ext cx="2212200" cy="3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61"/>
              <a:buFont typeface="Calibri"/>
              <a:buNone/>
            </a:pPr>
            <a:r>
              <a:rPr b="0" i="0" lang="en-US" sz="1361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Edges</a:t>
            </a:r>
            <a:endParaRPr b="0" i="0" sz="1361" u="none" cap="none" strike="noStrik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g3fbd9b9fdfa_0_34"/>
          <p:cNvSpPr txBox="1"/>
          <p:nvPr/>
        </p:nvSpPr>
        <p:spPr>
          <a:xfrm>
            <a:off x="1020339" y="3779072"/>
            <a:ext cx="4804500" cy="33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61"/>
              <a:buFont typeface="Calibri"/>
              <a:buNone/>
            </a:pPr>
            <a:r>
              <a:rPr b="1" i="0" lang="en-US" sz="1361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Example relationships:</a:t>
            </a:r>
            <a:endParaRPr b="0" i="0" sz="136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g3fbd9b9fdfa_0_34"/>
          <p:cNvSpPr txBox="1"/>
          <p:nvPr/>
        </p:nvSpPr>
        <p:spPr>
          <a:xfrm>
            <a:off x="1020364" y="4276691"/>
            <a:ext cx="3207300" cy="497700"/>
          </a:xfrm>
          <a:prstGeom prst="rect">
            <a:avLst/>
          </a:prstGeom>
          <a:solidFill>
            <a:srgbClr val="FAEAE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361"/>
              <a:buFont typeface="Calibri"/>
              <a:buNone/>
            </a:pPr>
            <a:r>
              <a:rPr b="1" i="0" lang="en-US" sz="1361" u="none" cap="none" strike="noStrike">
                <a:solidFill>
                  <a:srgbClr val="7E0705"/>
                </a:solidFill>
                <a:latin typeface="Calibri"/>
                <a:ea typeface="Calibri"/>
                <a:cs typeface="Calibri"/>
                <a:sym typeface="Calibri"/>
              </a:rPr>
              <a:t>dog  —IsA→  animal</a:t>
            </a:r>
            <a:endParaRPr b="0" i="0" sz="1361" u="none" cap="none" strike="noStrike">
              <a:solidFill>
                <a:srgbClr val="7E070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g3fbd9b9fdfa_0_34"/>
          <p:cNvSpPr txBox="1"/>
          <p:nvPr/>
        </p:nvSpPr>
        <p:spPr>
          <a:xfrm>
            <a:off x="4449046" y="4274909"/>
            <a:ext cx="3207300" cy="497700"/>
          </a:xfrm>
          <a:prstGeom prst="rect">
            <a:avLst/>
          </a:prstGeom>
          <a:solidFill>
            <a:srgbClr val="FAEAE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361"/>
              <a:buFont typeface="Calibri"/>
              <a:buNone/>
            </a:pPr>
            <a:r>
              <a:rPr b="1" i="0" lang="en-US" sz="1361" u="none" cap="none" strike="noStrike">
                <a:solidFill>
                  <a:srgbClr val="7E0705"/>
                </a:solidFill>
                <a:latin typeface="Calibri"/>
                <a:ea typeface="Calibri"/>
                <a:cs typeface="Calibri"/>
                <a:sym typeface="Calibri"/>
              </a:rPr>
              <a:t>tree  —PartOf→  forest</a:t>
            </a:r>
            <a:endParaRPr b="0" i="0" sz="1361" u="none" cap="none" strike="noStrike">
              <a:solidFill>
                <a:srgbClr val="7E070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g3fbd9b9fdfa_0_34"/>
          <p:cNvSpPr txBox="1"/>
          <p:nvPr/>
        </p:nvSpPr>
        <p:spPr>
          <a:xfrm>
            <a:off x="7877778" y="4274909"/>
            <a:ext cx="3207300" cy="497700"/>
          </a:xfrm>
          <a:prstGeom prst="rect">
            <a:avLst/>
          </a:prstGeom>
          <a:solidFill>
            <a:srgbClr val="FAEAE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361"/>
              <a:buFont typeface="Calibri"/>
              <a:buNone/>
            </a:pPr>
            <a:r>
              <a:rPr b="1" i="0" lang="en-US" sz="1361" u="none" cap="none" strike="noStrike">
                <a:solidFill>
                  <a:srgbClr val="7E0705"/>
                </a:solidFill>
                <a:latin typeface="Calibri"/>
                <a:ea typeface="Calibri"/>
                <a:cs typeface="Calibri"/>
                <a:sym typeface="Calibri"/>
              </a:rPr>
              <a:t>knife  —UsedFor→  cutting</a:t>
            </a:r>
            <a:endParaRPr b="0" i="0" sz="1361" u="none" cap="none" strike="noStrike">
              <a:solidFill>
                <a:srgbClr val="7E070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g3fbd9b9fdfa_0_34"/>
          <p:cNvSpPr txBox="1"/>
          <p:nvPr/>
        </p:nvSpPr>
        <p:spPr>
          <a:xfrm>
            <a:off x="5093889" y="4975335"/>
            <a:ext cx="1917600" cy="383400"/>
          </a:xfrm>
          <a:prstGeom prst="rect">
            <a:avLst/>
          </a:prstGeom>
          <a:solidFill>
            <a:srgbClr val="82243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78"/>
              <a:buFont typeface="Arial"/>
              <a:buNone/>
            </a:pPr>
            <a:r>
              <a:rPr b="1" lang="en-US" sz="1278">
                <a:solidFill>
                  <a:srgbClr val="FFFFFF"/>
                </a:solidFill>
              </a:rPr>
              <a:t>MAIN OBJECTIVE</a:t>
            </a:r>
            <a:endParaRPr b="0" i="0" sz="127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g3fbd9b9fdfa_0_34"/>
          <p:cNvSpPr txBox="1"/>
          <p:nvPr/>
        </p:nvSpPr>
        <p:spPr>
          <a:xfrm>
            <a:off x="1118850" y="5401900"/>
            <a:ext cx="9954300" cy="12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89850" lIns="89850" spcFirstLastPara="1" rIns="89850" wrap="square" tIns="8985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1179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85200C"/>
                </a:solidFill>
                <a:latin typeface="Calibri"/>
                <a:ea typeface="Calibri"/>
                <a:cs typeface="Calibri"/>
                <a:sym typeface="Calibri"/>
              </a:rPr>
              <a:t>COMPARE TWO DIFFERENT ARCHITECTURES FOR REPRESENTING AND QUERYING CONCEPTNET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25000"/>
              </a:lnSpc>
              <a:spcBef>
                <a:spcPts val="1179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SQL-</a:t>
            </a: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BASED ARCHITECTURE — </a:t>
            </a:r>
            <a:r>
              <a:rPr b="1"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MYSQL</a:t>
            </a: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		vs. 			NOSQL-</a:t>
            </a: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BASED ARCHITECTURE — </a:t>
            </a:r>
            <a:r>
              <a:rPr b="1"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MEMGRAPH</a:t>
            </a:r>
            <a:endParaRPr b="1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49384" rtl="0" algn="l">
              <a:lnSpc>
                <a:spcPct val="115000"/>
              </a:lnSpc>
              <a:spcBef>
                <a:spcPts val="1179"/>
              </a:spcBef>
              <a:spcAft>
                <a:spcPts val="1179"/>
              </a:spcAft>
              <a:buNone/>
            </a:pPr>
            <a:r>
              <a:t/>
            </a:r>
            <a:endParaRPr b="1" sz="1671">
              <a:solidFill>
                <a:schemeClr val="dk1"/>
              </a:solidFill>
            </a:endParaRPr>
          </a:p>
        </p:txBody>
      </p:sp>
      <p:sp>
        <p:nvSpPr>
          <p:cNvPr id="121" name="Google Shape;121;g3fbd9b9fdfa_0_34"/>
          <p:cNvSpPr/>
          <p:nvPr/>
        </p:nvSpPr>
        <p:spPr>
          <a:xfrm>
            <a:off x="-9525" y="-57220"/>
            <a:ext cx="12211200" cy="297900"/>
          </a:xfrm>
          <a:prstGeom prst="rect">
            <a:avLst/>
          </a:prstGeom>
          <a:solidFill>
            <a:srgbClr val="82243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F1A2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g3fbd9b9fdfa_0_34"/>
          <p:cNvSpPr/>
          <p:nvPr/>
        </p:nvSpPr>
        <p:spPr>
          <a:xfrm>
            <a:off x="-19050" y="6614399"/>
            <a:ext cx="12211200" cy="297900"/>
          </a:xfrm>
          <a:prstGeom prst="rect">
            <a:avLst/>
          </a:prstGeom>
          <a:solidFill>
            <a:srgbClr val="82243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F1A2D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"/>
          <p:cNvSpPr/>
          <p:nvPr/>
        </p:nvSpPr>
        <p:spPr>
          <a:xfrm>
            <a:off x="0" y="6614400"/>
            <a:ext cx="12192000" cy="243600"/>
          </a:xfrm>
          <a:prstGeom prst="rect">
            <a:avLst/>
          </a:prstGeom>
          <a:solidFill>
            <a:srgbClr val="8924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3"/>
          <p:cNvSpPr/>
          <p:nvPr/>
        </p:nvSpPr>
        <p:spPr>
          <a:xfrm>
            <a:off x="0" y="0"/>
            <a:ext cx="12192000" cy="243600"/>
          </a:xfrm>
          <a:prstGeom prst="rect">
            <a:avLst/>
          </a:prstGeom>
          <a:solidFill>
            <a:srgbClr val="82243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3"/>
          <p:cNvSpPr/>
          <p:nvPr/>
        </p:nvSpPr>
        <p:spPr>
          <a:xfrm>
            <a:off x="-19050" y="6614399"/>
            <a:ext cx="12211050" cy="297857"/>
          </a:xfrm>
          <a:prstGeom prst="rect">
            <a:avLst/>
          </a:prstGeom>
          <a:solidFill>
            <a:srgbClr val="82243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F1A2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3"/>
          <p:cNvSpPr/>
          <p:nvPr/>
        </p:nvSpPr>
        <p:spPr>
          <a:xfrm>
            <a:off x="-9525" y="-57220"/>
            <a:ext cx="12211050" cy="297857"/>
          </a:xfrm>
          <a:prstGeom prst="rect">
            <a:avLst/>
          </a:prstGeom>
          <a:solidFill>
            <a:srgbClr val="82243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F1A2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3"/>
          <p:cNvSpPr/>
          <p:nvPr/>
        </p:nvSpPr>
        <p:spPr>
          <a:xfrm>
            <a:off x="457200" y="320054"/>
            <a:ext cx="2053800" cy="410700"/>
          </a:xfrm>
          <a:prstGeom prst="roundRect">
            <a:avLst>
              <a:gd fmla="val 50000" name="adj"/>
            </a:avLst>
          </a:prstGeom>
          <a:solidFill>
            <a:srgbClr val="0F8B8D"/>
          </a:solidFill>
          <a:ln>
            <a:noFill/>
          </a:ln>
        </p:spPr>
        <p:txBody>
          <a:bodyPr anchorCtr="0" anchor="ctr" bIns="128325" lIns="128325" spcFirstLastPara="1" rIns="128325" wrap="square" tIns="12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3"/>
          <p:cNvSpPr txBox="1"/>
          <p:nvPr/>
        </p:nvSpPr>
        <p:spPr>
          <a:xfrm>
            <a:off x="457200" y="320054"/>
            <a:ext cx="2053800" cy="410700"/>
          </a:xfrm>
          <a:prstGeom prst="rect">
            <a:avLst/>
          </a:prstGeom>
          <a:solidFill>
            <a:srgbClr val="82243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4"/>
              <a:buFont typeface="Arial"/>
              <a:buNone/>
            </a:pPr>
            <a:r>
              <a:rPr b="1" i="0" lang="en-US" sz="140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PIPELINE</a:t>
            </a:r>
            <a:endParaRPr b="0" i="0" sz="1404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3"/>
          <p:cNvSpPr txBox="1"/>
          <p:nvPr/>
        </p:nvSpPr>
        <p:spPr>
          <a:xfrm>
            <a:off x="457200" y="897648"/>
            <a:ext cx="11551800" cy="77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4773"/>
              <a:buFont typeface="Calibri"/>
              <a:buNone/>
            </a:pPr>
            <a:r>
              <a:rPr b="1" i="0" lang="en-US" sz="4773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Filtering Pipeline — Overview</a:t>
            </a:r>
            <a:endParaRPr b="0" i="0" sz="477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3"/>
          <p:cNvSpPr/>
          <p:nvPr/>
        </p:nvSpPr>
        <p:spPr>
          <a:xfrm>
            <a:off x="1122400" y="1937778"/>
            <a:ext cx="1797000" cy="2535000"/>
          </a:xfrm>
          <a:prstGeom prst="roundRect">
            <a:avLst>
              <a:gd fmla="val 8571" name="adj"/>
            </a:avLst>
          </a:prstGeom>
          <a:solidFill>
            <a:srgbClr val="7E0705"/>
          </a:solidFill>
          <a:ln>
            <a:noFill/>
          </a:ln>
        </p:spPr>
        <p:txBody>
          <a:bodyPr anchorCtr="0" anchor="ctr" bIns="128325" lIns="128325" spcFirstLastPara="1" rIns="128325" wrap="square" tIns="12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3"/>
          <p:cNvSpPr/>
          <p:nvPr/>
        </p:nvSpPr>
        <p:spPr>
          <a:xfrm>
            <a:off x="1738475" y="2162317"/>
            <a:ext cx="564600" cy="564600"/>
          </a:xfrm>
          <a:prstGeom prst="ellipse">
            <a:avLst/>
          </a:prstGeom>
          <a:solidFill>
            <a:srgbClr val="EC6E4C"/>
          </a:solidFill>
          <a:ln>
            <a:noFill/>
          </a:ln>
        </p:spPr>
        <p:txBody>
          <a:bodyPr anchorCtr="0" anchor="ctr" bIns="128325" lIns="128325" spcFirstLastPara="1" rIns="128325" wrap="square" tIns="12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3"/>
          <p:cNvSpPr txBox="1"/>
          <p:nvPr/>
        </p:nvSpPr>
        <p:spPr>
          <a:xfrm>
            <a:off x="1738475" y="2162317"/>
            <a:ext cx="564600" cy="56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46"/>
              <a:buFont typeface="Arial"/>
              <a:buNone/>
            </a:pPr>
            <a:r>
              <a:rPr b="1" i="0" lang="en-US" sz="224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2246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3"/>
          <p:cNvSpPr txBox="1"/>
          <p:nvPr/>
        </p:nvSpPr>
        <p:spPr>
          <a:xfrm>
            <a:off x="1250729" y="2868265"/>
            <a:ext cx="1540500" cy="7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25"/>
              <a:buFont typeface="Calibri"/>
              <a:buNone/>
            </a:pPr>
            <a:r>
              <a:rPr b="1" i="0" lang="en-US" sz="182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English Filter</a:t>
            </a:r>
            <a:endParaRPr b="0" i="0" sz="182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3"/>
          <p:cNvSpPr txBox="1"/>
          <p:nvPr/>
        </p:nvSpPr>
        <p:spPr>
          <a:xfrm>
            <a:off x="1250729" y="3638390"/>
            <a:ext cx="1540500" cy="8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4"/>
              <a:buFont typeface="Calibri"/>
              <a:buNone/>
            </a:pPr>
            <a:r>
              <a:rPr b="0" i="0" lang="en-US" sz="1404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Remove non-English</a:t>
            </a:r>
            <a:endParaRPr b="0" i="0" sz="1404" u="none" cap="none" strike="noStrik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4"/>
              <a:buFont typeface="Calibri"/>
              <a:buNone/>
            </a:pPr>
            <a:r>
              <a:rPr b="0" i="0" lang="en-US" sz="1404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concepts</a:t>
            </a:r>
            <a:endParaRPr b="0" i="0" sz="1404" u="none" cap="none" strike="noStrik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3"/>
          <p:cNvSpPr txBox="1"/>
          <p:nvPr/>
        </p:nvSpPr>
        <p:spPr>
          <a:xfrm>
            <a:off x="2919334" y="3317505"/>
            <a:ext cx="192300" cy="51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C6E4C"/>
              </a:buClr>
              <a:buSzPts val="2246"/>
              <a:buFont typeface="Arial"/>
              <a:buNone/>
            </a:pPr>
            <a:r>
              <a:rPr b="1" i="0" lang="en-US" sz="2246" u="none" cap="none" strike="noStrike">
                <a:solidFill>
                  <a:srgbClr val="EC6E4C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246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3"/>
          <p:cNvSpPr/>
          <p:nvPr/>
        </p:nvSpPr>
        <p:spPr>
          <a:xfrm>
            <a:off x="3111875" y="1937975"/>
            <a:ext cx="1797000" cy="2535000"/>
          </a:xfrm>
          <a:prstGeom prst="roundRect">
            <a:avLst>
              <a:gd fmla="val 8571" name="adj"/>
            </a:avLst>
          </a:prstGeom>
          <a:solidFill>
            <a:srgbClr val="7E0705"/>
          </a:solidFill>
          <a:ln>
            <a:noFill/>
          </a:ln>
        </p:spPr>
        <p:txBody>
          <a:bodyPr anchorCtr="0" anchor="ctr" bIns="128325" lIns="128325" spcFirstLastPara="1" rIns="128325" wrap="square" tIns="12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3"/>
          <p:cNvSpPr/>
          <p:nvPr/>
        </p:nvSpPr>
        <p:spPr>
          <a:xfrm>
            <a:off x="3727965" y="2162317"/>
            <a:ext cx="564600" cy="564600"/>
          </a:xfrm>
          <a:prstGeom prst="ellipse">
            <a:avLst/>
          </a:prstGeom>
          <a:solidFill>
            <a:srgbClr val="EC6E4C"/>
          </a:solidFill>
          <a:ln>
            <a:noFill/>
          </a:ln>
        </p:spPr>
        <p:txBody>
          <a:bodyPr anchorCtr="0" anchor="ctr" bIns="128325" lIns="128325" spcFirstLastPara="1" rIns="128325" wrap="square" tIns="12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3"/>
          <p:cNvSpPr txBox="1"/>
          <p:nvPr/>
        </p:nvSpPr>
        <p:spPr>
          <a:xfrm>
            <a:off x="3727965" y="2162317"/>
            <a:ext cx="564600" cy="56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46"/>
              <a:buFont typeface="Arial"/>
              <a:buNone/>
            </a:pPr>
            <a:r>
              <a:rPr b="1" i="0" lang="en-US" sz="224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246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3"/>
          <p:cNvSpPr txBox="1"/>
          <p:nvPr/>
        </p:nvSpPr>
        <p:spPr>
          <a:xfrm>
            <a:off x="3240219" y="2868265"/>
            <a:ext cx="1540500" cy="7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25"/>
              <a:buFont typeface="Calibri"/>
              <a:buNone/>
            </a:pPr>
            <a:r>
              <a:rPr b="1" i="0" lang="en-US" sz="182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Biology Subgraph</a:t>
            </a:r>
            <a:endParaRPr b="0" i="0" sz="182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3"/>
          <p:cNvSpPr txBox="1"/>
          <p:nvPr/>
        </p:nvSpPr>
        <p:spPr>
          <a:xfrm>
            <a:off x="3240219" y="3638390"/>
            <a:ext cx="1540500" cy="8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4"/>
              <a:buFont typeface="Calibri"/>
              <a:buNone/>
            </a:pPr>
            <a:r>
              <a:rPr b="0" i="0" lang="en-US" sz="1404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2-hop extraction</a:t>
            </a:r>
            <a:endParaRPr b="0" i="0" sz="1404" u="none" cap="none" strike="noStrik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4"/>
              <a:buFont typeface="Calibri"/>
              <a:buNone/>
            </a:pPr>
            <a:r>
              <a:rPr b="0" i="0" lang="en-US" sz="1404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from root concepts</a:t>
            </a:r>
            <a:endParaRPr b="0" i="0" sz="1404" u="none" cap="none" strike="noStrik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3"/>
          <p:cNvSpPr txBox="1"/>
          <p:nvPr/>
        </p:nvSpPr>
        <p:spPr>
          <a:xfrm>
            <a:off x="4908824" y="3317505"/>
            <a:ext cx="192300" cy="51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C6E4C"/>
              </a:buClr>
              <a:buSzPts val="2246"/>
              <a:buFont typeface="Arial"/>
              <a:buNone/>
            </a:pPr>
            <a:r>
              <a:rPr b="1" i="0" lang="en-US" sz="2246" u="none" cap="none" strike="noStrike">
                <a:solidFill>
                  <a:srgbClr val="EC6E4C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246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3"/>
          <p:cNvSpPr/>
          <p:nvPr/>
        </p:nvSpPr>
        <p:spPr>
          <a:xfrm>
            <a:off x="5101350" y="1937779"/>
            <a:ext cx="1797000" cy="2535000"/>
          </a:xfrm>
          <a:prstGeom prst="roundRect">
            <a:avLst>
              <a:gd fmla="val 8571" name="adj"/>
            </a:avLst>
          </a:prstGeom>
          <a:solidFill>
            <a:srgbClr val="7E0705"/>
          </a:solidFill>
          <a:ln>
            <a:noFill/>
          </a:ln>
        </p:spPr>
        <p:txBody>
          <a:bodyPr anchorCtr="0" anchor="ctr" bIns="128325" lIns="128325" spcFirstLastPara="1" rIns="128325" wrap="square" tIns="12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3"/>
          <p:cNvSpPr/>
          <p:nvPr/>
        </p:nvSpPr>
        <p:spPr>
          <a:xfrm>
            <a:off x="5717455" y="2162317"/>
            <a:ext cx="564600" cy="564600"/>
          </a:xfrm>
          <a:prstGeom prst="ellipse">
            <a:avLst/>
          </a:prstGeom>
          <a:solidFill>
            <a:srgbClr val="EC6E4C"/>
          </a:solidFill>
          <a:ln>
            <a:noFill/>
          </a:ln>
        </p:spPr>
        <p:txBody>
          <a:bodyPr anchorCtr="0" anchor="ctr" bIns="128325" lIns="128325" spcFirstLastPara="1" rIns="128325" wrap="square" tIns="12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3"/>
          <p:cNvSpPr txBox="1"/>
          <p:nvPr/>
        </p:nvSpPr>
        <p:spPr>
          <a:xfrm>
            <a:off x="5717455" y="2162317"/>
            <a:ext cx="564600" cy="56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46"/>
              <a:buFont typeface="Arial"/>
              <a:buNone/>
            </a:pPr>
            <a:r>
              <a:rPr b="1" lang="en-US" sz="2246">
                <a:solidFill>
                  <a:srgbClr val="FFFFFF"/>
                </a:solidFill>
              </a:rPr>
              <a:t>-</a:t>
            </a:r>
            <a:endParaRPr b="0" i="0" sz="2246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3"/>
          <p:cNvSpPr txBox="1"/>
          <p:nvPr/>
        </p:nvSpPr>
        <p:spPr>
          <a:xfrm>
            <a:off x="5229709" y="2868265"/>
            <a:ext cx="1540500" cy="7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25"/>
              <a:buFont typeface="Calibri"/>
              <a:buNone/>
            </a:pPr>
            <a:r>
              <a:rPr b="1" lang="en-US" sz="1825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Contract Definition</a:t>
            </a:r>
            <a:endParaRPr b="0" i="0" sz="182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3"/>
          <p:cNvSpPr txBox="1"/>
          <p:nvPr/>
        </p:nvSpPr>
        <p:spPr>
          <a:xfrm>
            <a:off x="5229709" y="3638390"/>
            <a:ext cx="1540500" cy="8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4"/>
              <a:buFont typeface="Calibri"/>
              <a:buNone/>
            </a:pPr>
            <a:r>
              <a:rPr b="0" i="0" lang="en-US" sz="1404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3 node types,</a:t>
            </a:r>
            <a:endParaRPr b="0" i="0" sz="1404" u="none" cap="none" strike="noStrik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4"/>
              <a:buFont typeface="Calibri"/>
              <a:buNone/>
            </a:pPr>
            <a:r>
              <a:rPr lang="en-US" sz="1404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r>
              <a:rPr b="0" i="0" lang="en-US" sz="1404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 edge classes</a:t>
            </a:r>
            <a:endParaRPr sz="1404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3"/>
          <p:cNvSpPr txBox="1"/>
          <p:nvPr/>
        </p:nvSpPr>
        <p:spPr>
          <a:xfrm>
            <a:off x="6898314" y="3317505"/>
            <a:ext cx="192300" cy="51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C6E4C"/>
              </a:buClr>
              <a:buSzPts val="2246"/>
              <a:buFont typeface="Arial"/>
              <a:buNone/>
            </a:pPr>
            <a:r>
              <a:rPr b="1" i="0" lang="en-US" sz="2246" u="none" cap="none" strike="noStrike">
                <a:solidFill>
                  <a:srgbClr val="EC6E4C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246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3"/>
          <p:cNvSpPr/>
          <p:nvPr/>
        </p:nvSpPr>
        <p:spPr>
          <a:xfrm>
            <a:off x="7090850" y="1937775"/>
            <a:ext cx="1797000" cy="2535000"/>
          </a:xfrm>
          <a:prstGeom prst="roundRect">
            <a:avLst>
              <a:gd fmla="val 8571" name="adj"/>
            </a:avLst>
          </a:prstGeom>
          <a:solidFill>
            <a:srgbClr val="7E0705"/>
          </a:solidFill>
          <a:ln>
            <a:noFill/>
          </a:ln>
        </p:spPr>
        <p:txBody>
          <a:bodyPr anchorCtr="0" anchor="ctr" bIns="128325" lIns="128325" spcFirstLastPara="1" rIns="128325" wrap="square" tIns="12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3"/>
          <p:cNvSpPr/>
          <p:nvPr/>
        </p:nvSpPr>
        <p:spPr>
          <a:xfrm>
            <a:off x="7706945" y="2162317"/>
            <a:ext cx="564600" cy="564600"/>
          </a:xfrm>
          <a:prstGeom prst="ellipse">
            <a:avLst/>
          </a:prstGeom>
          <a:solidFill>
            <a:srgbClr val="EC6E4C"/>
          </a:solidFill>
          <a:ln>
            <a:noFill/>
          </a:ln>
        </p:spPr>
        <p:txBody>
          <a:bodyPr anchorCtr="0" anchor="ctr" bIns="128325" lIns="128325" spcFirstLastPara="1" rIns="128325" wrap="square" tIns="12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3"/>
          <p:cNvSpPr txBox="1"/>
          <p:nvPr/>
        </p:nvSpPr>
        <p:spPr>
          <a:xfrm>
            <a:off x="7706945" y="2162317"/>
            <a:ext cx="564600" cy="56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46"/>
              <a:buFont typeface="Arial"/>
              <a:buNone/>
            </a:pPr>
            <a:r>
              <a:rPr b="1" lang="en-US" sz="2246">
                <a:solidFill>
                  <a:srgbClr val="FFFFFF"/>
                </a:solidFill>
              </a:rPr>
              <a:t>3</a:t>
            </a:r>
            <a:endParaRPr b="0" i="0" sz="2246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3"/>
          <p:cNvSpPr txBox="1"/>
          <p:nvPr/>
        </p:nvSpPr>
        <p:spPr>
          <a:xfrm>
            <a:off x="7219199" y="2868265"/>
            <a:ext cx="1540500" cy="7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25"/>
              <a:buFont typeface="Calibri"/>
              <a:buNone/>
            </a:pPr>
            <a:r>
              <a:rPr b="1" i="0" lang="en-US" sz="182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POS Tagging</a:t>
            </a:r>
            <a:endParaRPr b="0" i="0" sz="182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3"/>
          <p:cNvSpPr txBox="1"/>
          <p:nvPr/>
        </p:nvSpPr>
        <p:spPr>
          <a:xfrm>
            <a:off x="7219199" y="3638390"/>
            <a:ext cx="1540500" cy="8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4"/>
              <a:buFont typeface="Calibri"/>
              <a:buNone/>
            </a:pPr>
            <a:r>
              <a:rPr b="0" i="0" lang="en-US" sz="1404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URI → spaCy →</a:t>
            </a:r>
            <a:endParaRPr b="0" i="0" sz="1404" u="none" cap="none" strike="noStrik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4"/>
              <a:buFont typeface="Calibri"/>
              <a:buNone/>
            </a:pPr>
            <a:r>
              <a:rPr b="0" i="0" lang="en-US" sz="1404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NLTK → WordNet </a:t>
            </a:r>
            <a:r>
              <a:rPr lang="en-US" sz="1404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→ Heuristics</a:t>
            </a:r>
            <a:endParaRPr b="0" i="0" sz="1404" u="none" cap="none" strike="noStrik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3"/>
          <p:cNvSpPr txBox="1"/>
          <p:nvPr/>
        </p:nvSpPr>
        <p:spPr>
          <a:xfrm>
            <a:off x="8887804" y="3317505"/>
            <a:ext cx="192300" cy="51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C6E4C"/>
              </a:buClr>
              <a:buSzPts val="2246"/>
              <a:buFont typeface="Arial"/>
              <a:buNone/>
            </a:pPr>
            <a:r>
              <a:rPr b="1" i="0" lang="en-US" sz="2246" u="none" cap="none" strike="noStrike">
                <a:solidFill>
                  <a:srgbClr val="EC6E4C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246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3"/>
          <p:cNvSpPr/>
          <p:nvPr/>
        </p:nvSpPr>
        <p:spPr>
          <a:xfrm>
            <a:off x="9080350" y="1931325"/>
            <a:ext cx="1797000" cy="2567100"/>
          </a:xfrm>
          <a:prstGeom prst="roundRect">
            <a:avLst>
              <a:gd fmla="val 8571" name="adj"/>
            </a:avLst>
          </a:prstGeom>
          <a:solidFill>
            <a:srgbClr val="7E0705"/>
          </a:solidFill>
          <a:ln>
            <a:noFill/>
          </a:ln>
        </p:spPr>
        <p:txBody>
          <a:bodyPr anchorCtr="0" anchor="ctr" bIns="128325" lIns="128325" spcFirstLastPara="1" rIns="128325" wrap="square" tIns="12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3"/>
          <p:cNvSpPr/>
          <p:nvPr/>
        </p:nvSpPr>
        <p:spPr>
          <a:xfrm>
            <a:off x="9696436" y="2162317"/>
            <a:ext cx="564600" cy="564600"/>
          </a:xfrm>
          <a:prstGeom prst="ellipse">
            <a:avLst/>
          </a:prstGeom>
          <a:solidFill>
            <a:srgbClr val="EC6E4C"/>
          </a:solidFill>
          <a:ln>
            <a:noFill/>
          </a:ln>
        </p:spPr>
        <p:txBody>
          <a:bodyPr anchorCtr="0" anchor="ctr" bIns="128325" lIns="128325" spcFirstLastPara="1" rIns="128325" wrap="square" tIns="12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3"/>
          <p:cNvSpPr txBox="1"/>
          <p:nvPr/>
        </p:nvSpPr>
        <p:spPr>
          <a:xfrm>
            <a:off x="9696436" y="2162317"/>
            <a:ext cx="564600" cy="56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46"/>
              <a:buFont typeface="Arial"/>
              <a:buNone/>
            </a:pPr>
            <a:r>
              <a:rPr b="1" lang="en-US" sz="2246">
                <a:solidFill>
                  <a:srgbClr val="FFFFFF"/>
                </a:solidFill>
              </a:rPr>
              <a:t>4</a:t>
            </a:r>
            <a:endParaRPr b="0" i="0" sz="2246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3"/>
          <p:cNvSpPr txBox="1"/>
          <p:nvPr/>
        </p:nvSpPr>
        <p:spPr>
          <a:xfrm>
            <a:off x="9208690" y="2868265"/>
            <a:ext cx="1540500" cy="7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25"/>
              <a:buFont typeface="Calibri"/>
              <a:buNone/>
            </a:pPr>
            <a:r>
              <a:rPr b="1" i="0" lang="en-US" sz="182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Node Typing</a:t>
            </a:r>
            <a:endParaRPr b="0" i="0" sz="182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3"/>
          <p:cNvSpPr txBox="1"/>
          <p:nvPr/>
        </p:nvSpPr>
        <p:spPr>
          <a:xfrm>
            <a:off x="9208690" y="3638390"/>
            <a:ext cx="1540500" cy="8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4"/>
              <a:buFont typeface="Calibri"/>
              <a:buNone/>
            </a:pPr>
            <a:r>
              <a:rPr b="0" i="0" lang="en-US" sz="1404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POS tag to</a:t>
            </a:r>
            <a:endParaRPr b="0" i="0" sz="1404" u="none" cap="none" strike="noStrik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4"/>
              <a:buFont typeface="Calibri"/>
              <a:buNone/>
            </a:pPr>
            <a:r>
              <a:rPr b="0" i="0" lang="en-US" sz="1404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node type policy</a:t>
            </a:r>
            <a:endParaRPr b="0" i="0" sz="1404" u="none" cap="none" strike="noStrik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3"/>
          <p:cNvSpPr txBox="1"/>
          <p:nvPr/>
        </p:nvSpPr>
        <p:spPr>
          <a:xfrm>
            <a:off x="10877294" y="3317505"/>
            <a:ext cx="192300" cy="51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C6E4C"/>
              </a:buClr>
              <a:buSzPts val="2246"/>
              <a:buFont typeface="Arial"/>
              <a:buNone/>
            </a:pPr>
            <a:r>
              <a:t/>
            </a:r>
            <a:endParaRPr b="0" i="0" sz="2246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3"/>
          <p:cNvSpPr txBox="1"/>
          <p:nvPr/>
        </p:nvSpPr>
        <p:spPr>
          <a:xfrm>
            <a:off x="457200" y="6065468"/>
            <a:ext cx="11551800" cy="4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404"/>
              <a:buFont typeface="Calibri"/>
              <a:buNone/>
            </a:pPr>
            <a:r>
              <a:rPr b="0" i="1" lang="en-US" sz="1404" u="none" cap="none" strike="noStrike">
                <a:solidFill>
                  <a:srgbClr val="8B1A1A"/>
                </a:solidFill>
                <a:latin typeface="Calibri"/>
                <a:ea typeface="Calibri"/>
                <a:cs typeface="Calibri"/>
                <a:sym typeface="Calibri"/>
              </a:rPr>
              <a:t>Each step is implemented </a:t>
            </a:r>
            <a:r>
              <a:rPr i="1" lang="en-US" sz="1404">
                <a:solidFill>
                  <a:srgbClr val="8B1A1A"/>
                </a:solidFill>
                <a:latin typeface="Calibri"/>
                <a:ea typeface="Calibri"/>
                <a:cs typeface="Calibri"/>
                <a:sym typeface="Calibri"/>
              </a:rPr>
              <a:t>in</a:t>
            </a:r>
            <a:r>
              <a:rPr b="0" i="1" lang="en-US" sz="1404" u="none" cap="none" strike="noStrike">
                <a:solidFill>
                  <a:srgbClr val="8B1A1A"/>
                </a:solidFill>
                <a:latin typeface="Calibri"/>
                <a:ea typeface="Calibri"/>
                <a:cs typeface="Calibri"/>
                <a:sym typeface="Calibri"/>
              </a:rPr>
              <a:t> Python scripts operating on the full ConceptNet 5.7 dump.</a:t>
            </a:r>
            <a:endParaRPr b="0" i="0" sz="1404" u="none" cap="none" strike="noStrike">
              <a:solidFill>
                <a:srgbClr val="8B1A1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3"/>
          <p:cNvSpPr txBox="1"/>
          <p:nvPr/>
        </p:nvSpPr>
        <p:spPr>
          <a:xfrm>
            <a:off x="4589600" y="4563250"/>
            <a:ext cx="2820300" cy="6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7E0705"/>
                </a:solidFill>
                <a:latin typeface="Calibri"/>
                <a:ea typeface="Calibri"/>
                <a:cs typeface="Calibri"/>
                <a:sym typeface="Calibri"/>
              </a:rPr>
              <a:t>FINAL DATASET</a:t>
            </a:r>
            <a:endParaRPr b="1" sz="3200">
              <a:solidFill>
                <a:srgbClr val="7E070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3"/>
          <p:cNvSpPr/>
          <p:nvPr/>
        </p:nvSpPr>
        <p:spPr>
          <a:xfrm>
            <a:off x="2841400" y="5158488"/>
            <a:ext cx="6317100" cy="770100"/>
          </a:xfrm>
          <a:prstGeom prst="roundRect">
            <a:avLst>
              <a:gd fmla="val 16667" name="adj"/>
            </a:avLst>
          </a:prstGeom>
          <a:solidFill>
            <a:srgbClr val="FAEA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3"/>
          <p:cNvSpPr txBox="1"/>
          <p:nvPr/>
        </p:nvSpPr>
        <p:spPr>
          <a:xfrm>
            <a:off x="2864925" y="5208850"/>
            <a:ext cx="6443100" cy="56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481,706 typed edges -&gt; filtered as </a:t>
            </a: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contract violations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-&gt; 454,139 loaded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291,746 typed nodes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fbd9b9fdfa_0_214"/>
          <p:cNvSpPr txBox="1"/>
          <p:nvPr/>
        </p:nvSpPr>
        <p:spPr>
          <a:xfrm>
            <a:off x="731445" y="426955"/>
            <a:ext cx="10728900" cy="6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3700"/>
              <a:buFont typeface="Calibri"/>
              <a:buNone/>
            </a:pPr>
            <a:r>
              <a:rPr b="1" i="0" lang="en-US" sz="37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Schema Modeling — Node Types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g3fbd9b9fdfa_0_214"/>
          <p:cNvSpPr txBox="1"/>
          <p:nvPr/>
        </p:nvSpPr>
        <p:spPr>
          <a:xfrm>
            <a:off x="731445" y="1095000"/>
            <a:ext cx="107289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233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7A2233"/>
                </a:solidFill>
                <a:latin typeface="Calibri"/>
                <a:ea typeface="Calibri"/>
                <a:cs typeface="Calibri"/>
                <a:sym typeface="Calibri"/>
              </a:rPr>
              <a:t>Every concept in the subgraph is assigned to exactly one node type based on its Part-of-Speech tag.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g3fbd9b9fdfa_0_214"/>
          <p:cNvSpPr/>
          <p:nvPr/>
        </p:nvSpPr>
        <p:spPr>
          <a:xfrm>
            <a:off x="731508" y="1875458"/>
            <a:ext cx="512100" cy="512100"/>
          </a:xfrm>
          <a:prstGeom prst="ellipse">
            <a:avLst/>
          </a:prstGeom>
          <a:solidFill>
            <a:srgbClr val="7A2233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g3fbd9b9fdfa_0_214"/>
          <p:cNvSpPr txBox="1"/>
          <p:nvPr/>
        </p:nvSpPr>
        <p:spPr>
          <a:xfrm>
            <a:off x="731508" y="1875458"/>
            <a:ext cx="5121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g3fbd9b9fdfa_0_214"/>
          <p:cNvSpPr txBox="1"/>
          <p:nvPr/>
        </p:nvSpPr>
        <p:spPr>
          <a:xfrm>
            <a:off x="1463028" y="1814497"/>
            <a:ext cx="36576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EntityNode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g3fbd9b9fdfa_0_214"/>
          <p:cNvSpPr/>
          <p:nvPr/>
        </p:nvSpPr>
        <p:spPr>
          <a:xfrm>
            <a:off x="1443841" y="2309670"/>
            <a:ext cx="1544400" cy="378000"/>
          </a:xfrm>
          <a:prstGeom prst="roundRect">
            <a:avLst>
              <a:gd fmla="val 50000" name="adj"/>
            </a:avLst>
          </a:prstGeom>
          <a:solidFill>
            <a:srgbClr val="FAEAEA"/>
          </a:solidFill>
          <a:ln>
            <a:noFill/>
          </a:ln>
        </p:spPr>
        <p:txBody>
          <a:bodyPr anchorCtr="0" anchor="ctr" bIns="171600" lIns="171600" spcFirstLastPara="1" rIns="171600" wrap="square" tIns="171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g3fbd9b9fdfa_0_214"/>
          <p:cNvSpPr txBox="1"/>
          <p:nvPr/>
        </p:nvSpPr>
        <p:spPr>
          <a:xfrm>
            <a:off x="1379250" y="2242613"/>
            <a:ext cx="16290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2233"/>
              </a:buClr>
              <a:buSzPts val="1548"/>
              <a:buFont typeface="Calibri"/>
              <a:buNone/>
            </a:pPr>
            <a:r>
              <a:rPr b="1" lang="en-US" sz="1185">
                <a:solidFill>
                  <a:srgbClr val="7A2233"/>
                </a:solidFill>
                <a:latin typeface="Calibri"/>
                <a:ea typeface="Calibri"/>
                <a:cs typeface="Calibri"/>
                <a:sym typeface="Calibri"/>
              </a:rPr>
              <a:t>POS TAG 'n' (NOUN)</a:t>
            </a:r>
            <a:endParaRPr b="1" sz="904">
              <a:solidFill>
                <a:srgbClr val="7A22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g3fbd9b9fdfa_0_214"/>
          <p:cNvSpPr txBox="1"/>
          <p:nvPr/>
        </p:nvSpPr>
        <p:spPr>
          <a:xfrm>
            <a:off x="5120625" y="1814500"/>
            <a:ext cx="63399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Concrete or abstract things, substances, organisms, locations, and structures.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g3fbd9b9fdfa_0_214"/>
          <p:cNvSpPr txBox="1"/>
          <p:nvPr/>
        </p:nvSpPr>
        <p:spPr>
          <a:xfrm>
            <a:off x="5120750" y="2302175"/>
            <a:ext cx="63399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7A7A7A"/>
                </a:solidFill>
                <a:latin typeface="Calibri"/>
                <a:ea typeface="Calibri"/>
                <a:cs typeface="Calibri"/>
                <a:sym typeface="Calibri"/>
              </a:rPr>
              <a:t>e.g.  </a:t>
            </a:r>
            <a:r>
              <a:rPr b="0" i="1" lang="en-US" sz="1300" u="none" cap="none" strike="noStrike">
                <a:solidFill>
                  <a:srgbClr val="7A7A7A"/>
                </a:solidFill>
                <a:latin typeface="Calibri"/>
                <a:ea typeface="Calibri"/>
                <a:cs typeface="Calibri"/>
                <a:sym typeface="Calibri"/>
              </a:rPr>
              <a:t>cell, protein, organism, molecule, forest, enzyme, habitat, tissue, species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2" name="Google Shape;182;g3fbd9b9fdfa_0_214"/>
          <p:cNvCxnSpPr/>
          <p:nvPr/>
        </p:nvCxnSpPr>
        <p:spPr>
          <a:xfrm>
            <a:off x="636257" y="3070274"/>
            <a:ext cx="10728900" cy="0"/>
          </a:xfrm>
          <a:prstGeom prst="straightConnector1">
            <a:avLst/>
          </a:prstGeom>
          <a:noFill/>
          <a:ln cap="flat" cmpd="sng" w="12700">
            <a:solidFill>
              <a:srgbClr val="E0D5D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3" name="Google Shape;183;g3fbd9b9fdfa_0_214"/>
          <p:cNvSpPr/>
          <p:nvPr/>
        </p:nvSpPr>
        <p:spPr>
          <a:xfrm>
            <a:off x="731508" y="3277538"/>
            <a:ext cx="512100" cy="512100"/>
          </a:xfrm>
          <a:prstGeom prst="ellipse">
            <a:avLst/>
          </a:prstGeom>
          <a:solidFill>
            <a:srgbClr val="7A2233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g3fbd9b9fdfa_0_214"/>
          <p:cNvSpPr txBox="1"/>
          <p:nvPr/>
        </p:nvSpPr>
        <p:spPr>
          <a:xfrm>
            <a:off x="731508" y="3277525"/>
            <a:ext cx="5121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g3fbd9b9fdfa_0_214"/>
          <p:cNvSpPr txBox="1"/>
          <p:nvPr/>
        </p:nvSpPr>
        <p:spPr>
          <a:xfrm>
            <a:off x="1463028" y="3216578"/>
            <a:ext cx="36576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ActionEventNode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g3fbd9b9fdfa_0_214"/>
          <p:cNvSpPr/>
          <p:nvPr/>
        </p:nvSpPr>
        <p:spPr>
          <a:xfrm>
            <a:off x="1463035" y="3722680"/>
            <a:ext cx="1629000" cy="398700"/>
          </a:xfrm>
          <a:prstGeom prst="roundRect">
            <a:avLst>
              <a:gd fmla="val 50000" name="adj"/>
            </a:avLst>
          </a:prstGeom>
          <a:solidFill>
            <a:srgbClr val="FAEAEA"/>
          </a:solidFill>
          <a:ln>
            <a:noFill/>
          </a:ln>
        </p:spPr>
        <p:txBody>
          <a:bodyPr anchorCtr="0" anchor="ctr" bIns="181000" lIns="181000" spcFirstLastPara="1" rIns="181000" wrap="square" tIns="181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g3fbd9b9fdfa_0_214"/>
          <p:cNvSpPr txBox="1"/>
          <p:nvPr/>
        </p:nvSpPr>
        <p:spPr>
          <a:xfrm>
            <a:off x="5120750" y="3216575"/>
            <a:ext cx="63399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Biological processes, actions, events, and state changes.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g3fbd9b9fdfa_0_214"/>
          <p:cNvSpPr txBox="1"/>
          <p:nvPr/>
        </p:nvSpPr>
        <p:spPr>
          <a:xfrm>
            <a:off x="5120750" y="3704250"/>
            <a:ext cx="63399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7A7A7A"/>
                </a:solidFill>
                <a:latin typeface="Calibri"/>
                <a:ea typeface="Calibri"/>
                <a:cs typeface="Calibri"/>
                <a:sym typeface="Calibri"/>
              </a:rPr>
              <a:t>e.g.  </a:t>
            </a:r>
            <a:r>
              <a:rPr b="0" i="1" lang="en-US" sz="1300" u="none" cap="none" strike="noStrike">
                <a:solidFill>
                  <a:srgbClr val="7A7A7A"/>
                </a:solidFill>
                <a:latin typeface="Calibri"/>
                <a:ea typeface="Calibri"/>
                <a:cs typeface="Calibri"/>
                <a:sym typeface="Calibri"/>
              </a:rPr>
              <a:t>evolve, photosynthesize, digest, replicate, mutate, metabolize, divide, absorb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9" name="Google Shape;189;g3fbd9b9fdfa_0_214"/>
          <p:cNvCxnSpPr/>
          <p:nvPr/>
        </p:nvCxnSpPr>
        <p:spPr>
          <a:xfrm>
            <a:off x="731507" y="4472354"/>
            <a:ext cx="10728900" cy="0"/>
          </a:xfrm>
          <a:prstGeom prst="straightConnector1">
            <a:avLst/>
          </a:prstGeom>
          <a:noFill/>
          <a:ln cap="flat" cmpd="sng" w="12700">
            <a:solidFill>
              <a:srgbClr val="E0D5D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0" name="Google Shape;190;g3fbd9b9fdfa_0_214"/>
          <p:cNvSpPr/>
          <p:nvPr/>
        </p:nvSpPr>
        <p:spPr>
          <a:xfrm>
            <a:off x="731508" y="4679618"/>
            <a:ext cx="512100" cy="512100"/>
          </a:xfrm>
          <a:prstGeom prst="ellipse">
            <a:avLst/>
          </a:prstGeom>
          <a:solidFill>
            <a:srgbClr val="7A2233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g3fbd9b9fdfa_0_214"/>
          <p:cNvSpPr txBox="1"/>
          <p:nvPr/>
        </p:nvSpPr>
        <p:spPr>
          <a:xfrm>
            <a:off x="731508" y="4679618"/>
            <a:ext cx="5121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g3fbd9b9fdfa_0_214"/>
          <p:cNvSpPr txBox="1"/>
          <p:nvPr/>
        </p:nvSpPr>
        <p:spPr>
          <a:xfrm>
            <a:off x="1463025" y="4618663"/>
            <a:ext cx="4094700" cy="47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2351"/>
              <a:buFont typeface="Calibri"/>
              <a:buNone/>
            </a:pPr>
            <a:r>
              <a:rPr b="1" i="0" lang="en-US" sz="2351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PropertyNode</a:t>
            </a:r>
            <a:endParaRPr b="0" i="0" sz="235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g3fbd9b9fdfa_0_214"/>
          <p:cNvSpPr/>
          <p:nvPr/>
        </p:nvSpPr>
        <p:spPr>
          <a:xfrm>
            <a:off x="1401550" y="5157250"/>
            <a:ext cx="2903400" cy="802800"/>
          </a:xfrm>
          <a:prstGeom prst="roundRect">
            <a:avLst>
              <a:gd fmla="val 50000" name="adj"/>
            </a:avLst>
          </a:prstGeom>
          <a:solidFill>
            <a:srgbClr val="FAEAEA"/>
          </a:solidFill>
          <a:ln>
            <a:noFill/>
          </a:ln>
        </p:spPr>
        <p:txBody>
          <a:bodyPr anchorCtr="0" anchor="ctr" bIns="136475" lIns="136475" spcFirstLastPara="1" rIns="136475" wrap="square" tIns="136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g3fbd9b9fdfa_0_214"/>
          <p:cNvSpPr txBox="1"/>
          <p:nvPr/>
        </p:nvSpPr>
        <p:spPr>
          <a:xfrm>
            <a:off x="1500625" y="5275000"/>
            <a:ext cx="2602200" cy="56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rgbClr val="7A2233"/>
              </a:buClr>
              <a:buSzPts val="1231"/>
              <a:buFont typeface="Calibri"/>
              <a:buNone/>
            </a:pPr>
            <a:r>
              <a:rPr b="1" lang="en-US" sz="1231">
                <a:solidFill>
                  <a:srgbClr val="7A2233"/>
                </a:solidFill>
                <a:latin typeface="Calibri"/>
                <a:ea typeface="Calibri"/>
                <a:cs typeface="Calibri"/>
                <a:sym typeface="Calibri"/>
              </a:rPr>
              <a:t>‘a’ (ADJECTIVE)</a:t>
            </a:r>
            <a:endParaRPr b="1" sz="1231">
              <a:solidFill>
                <a:srgbClr val="7A22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233"/>
              </a:buClr>
              <a:buSzPts val="1231"/>
              <a:buFont typeface="Calibri"/>
              <a:buNone/>
            </a:pPr>
            <a:r>
              <a:rPr b="1" lang="en-US" sz="1231">
                <a:solidFill>
                  <a:srgbClr val="7A2233"/>
                </a:solidFill>
                <a:latin typeface="Calibri"/>
                <a:ea typeface="Calibri"/>
                <a:cs typeface="Calibri"/>
                <a:sym typeface="Calibri"/>
              </a:rPr>
              <a:t>POS TAGS :  	‘r’ (ADVERB</a:t>
            </a:r>
            <a:r>
              <a:rPr b="1" i="0" lang="en-US" sz="1231" u="none" cap="none" strike="noStrike">
                <a:solidFill>
                  <a:srgbClr val="7A2233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1" i="0" sz="1231" u="none" cap="none" strike="noStrike">
              <a:solidFill>
                <a:srgbClr val="7A22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marR="0" rtl="0" algn="l">
              <a:spcBef>
                <a:spcPts val="0"/>
              </a:spcBef>
              <a:spcAft>
                <a:spcPts val="0"/>
              </a:spcAft>
              <a:buClr>
                <a:srgbClr val="7A2233"/>
              </a:buClr>
              <a:buSzPts val="1231"/>
              <a:buFont typeface="Calibri"/>
              <a:buNone/>
            </a:pPr>
            <a:r>
              <a:rPr b="1" lang="en-US" sz="1231">
                <a:solidFill>
                  <a:srgbClr val="7A2233"/>
                </a:solidFill>
                <a:latin typeface="Calibri"/>
                <a:ea typeface="Calibri"/>
                <a:cs typeface="Calibri"/>
                <a:sym typeface="Calibri"/>
              </a:rPr>
              <a:t>‘s’ (SATELLITE ADJECTIVE)</a:t>
            </a:r>
            <a:r>
              <a:rPr b="1" i="0" lang="en-US" sz="1231" u="none" cap="none" strike="noStrike">
                <a:solidFill>
                  <a:srgbClr val="7A223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23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g3fbd9b9fdfa_0_214"/>
          <p:cNvSpPr txBox="1"/>
          <p:nvPr/>
        </p:nvSpPr>
        <p:spPr>
          <a:xfrm>
            <a:off x="5120750" y="4618650"/>
            <a:ext cx="63399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Observable qualities, measurable attributes, and relational descriptors.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g3fbd9b9fdfa_0_214"/>
          <p:cNvSpPr txBox="1"/>
          <p:nvPr/>
        </p:nvSpPr>
        <p:spPr>
          <a:xfrm>
            <a:off x="5120625" y="5106325"/>
            <a:ext cx="63399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7A7A7A"/>
                </a:solidFill>
                <a:latin typeface="Calibri"/>
                <a:ea typeface="Calibri"/>
                <a:cs typeface="Calibri"/>
                <a:sym typeface="Calibri"/>
              </a:rPr>
              <a:t>e.g.  </a:t>
            </a:r>
            <a:r>
              <a:rPr b="0" i="1" lang="en-US" sz="1300" u="none" cap="none" strike="noStrike">
                <a:solidFill>
                  <a:srgbClr val="7A7A7A"/>
                </a:solidFill>
                <a:latin typeface="Calibri"/>
                <a:ea typeface="Calibri"/>
                <a:cs typeface="Calibri"/>
                <a:sym typeface="Calibri"/>
              </a:rPr>
              <a:t>toxic, aquatic, organic, rapidly, hereditary, microscopic, cellular, parasitic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g3fbd9b9fdfa_0_214"/>
          <p:cNvSpPr txBox="1"/>
          <p:nvPr/>
        </p:nvSpPr>
        <p:spPr>
          <a:xfrm>
            <a:off x="636247" y="6073773"/>
            <a:ext cx="102411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233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8B1A1A"/>
                </a:solidFill>
                <a:latin typeface="Calibri"/>
                <a:ea typeface="Calibri"/>
                <a:cs typeface="Calibri"/>
                <a:sym typeface="Calibri"/>
              </a:rPr>
              <a:t>This POS-based classification provides a clean, deterministic partition — every concept maps to exactly one node type with no ambiguity.</a:t>
            </a:r>
            <a:endParaRPr b="0" i="0" sz="1300" u="none" cap="none" strike="noStrike">
              <a:solidFill>
                <a:srgbClr val="8B1A1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g3fbd9b9fdfa_0_214"/>
          <p:cNvSpPr txBox="1"/>
          <p:nvPr/>
        </p:nvSpPr>
        <p:spPr>
          <a:xfrm>
            <a:off x="1463025" y="3643463"/>
            <a:ext cx="3423300" cy="3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1000" lIns="181000" spcFirstLastPara="1" rIns="181000" wrap="square" tIns="181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88">
                <a:solidFill>
                  <a:srgbClr val="7A2233"/>
                </a:solidFill>
                <a:latin typeface="Calibri"/>
                <a:ea typeface="Calibri"/>
                <a:cs typeface="Calibri"/>
                <a:sym typeface="Calibri"/>
              </a:rPr>
              <a:t>POS TAG 'v' (VERB)</a:t>
            </a:r>
            <a:endParaRPr sz="1930">
              <a:solidFill>
                <a:srgbClr val="7A22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g3fbd9b9fdfa_0_214"/>
          <p:cNvSpPr/>
          <p:nvPr/>
        </p:nvSpPr>
        <p:spPr>
          <a:xfrm>
            <a:off x="-19050" y="6614399"/>
            <a:ext cx="12211200" cy="297900"/>
          </a:xfrm>
          <a:prstGeom prst="rect">
            <a:avLst/>
          </a:prstGeom>
          <a:solidFill>
            <a:srgbClr val="82243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F1A2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g3fbd9b9fdfa_0_214"/>
          <p:cNvSpPr/>
          <p:nvPr/>
        </p:nvSpPr>
        <p:spPr>
          <a:xfrm>
            <a:off x="-9525" y="-57220"/>
            <a:ext cx="12211200" cy="297900"/>
          </a:xfrm>
          <a:prstGeom prst="rect">
            <a:avLst/>
          </a:prstGeom>
          <a:solidFill>
            <a:srgbClr val="82243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F1A2D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fbd9b9fdfa_0_167"/>
          <p:cNvSpPr txBox="1"/>
          <p:nvPr/>
        </p:nvSpPr>
        <p:spPr>
          <a:xfrm>
            <a:off x="731445" y="560970"/>
            <a:ext cx="107289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3700"/>
              <a:buFont typeface="Calibri"/>
              <a:buNone/>
            </a:pPr>
            <a:r>
              <a:rPr b="1" i="0" lang="en-US" sz="37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Schema Modeling — Edge Classes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g3fbd9b9fdfa_0_167"/>
          <p:cNvSpPr txBox="1"/>
          <p:nvPr/>
        </p:nvSpPr>
        <p:spPr>
          <a:xfrm>
            <a:off x="609595" y="1329105"/>
            <a:ext cx="10728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233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7A2233"/>
                </a:solidFill>
                <a:latin typeface="Calibri"/>
                <a:ea typeface="Calibri"/>
                <a:cs typeface="Calibri"/>
                <a:sym typeface="Calibri"/>
              </a:rPr>
              <a:t>Each edge is classified into one or more of  classes, based on the types of its source and target nodes. </a:t>
            </a:r>
            <a:endParaRPr b="0" i="0" sz="1600" u="none" cap="none" strike="noStrike">
              <a:solidFill>
                <a:srgbClr val="7A22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233"/>
              </a:buClr>
              <a:buSzPts val="1600"/>
              <a:buFont typeface="Calibri"/>
              <a:buNone/>
            </a:pPr>
            <a:r>
              <a:rPr i="1" lang="en-US" sz="1600">
                <a:solidFill>
                  <a:srgbClr val="8B1A1A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i="1" lang="en-US" sz="1600">
                <a:solidFill>
                  <a:srgbClr val="8B1A1A"/>
                </a:solidFill>
                <a:latin typeface="Calibri"/>
                <a:ea typeface="Calibri"/>
                <a:cs typeface="Calibri"/>
                <a:sym typeface="Calibri"/>
              </a:rPr>
              <a:t>Edge classes were determined by analyzing which ConceptNet relations semantically apply between each pair of node types).</a:t>
            </a:r>
            <a:r>
              <a:rPr b="0" i="0" lang="en-US" sz="1600" u="none" cap="none" strike="noStrike">
                <a:solidFill>
                  <a:srgbClr val="7A223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600">
              <a:solidFill>
                <a:srgbClr val="7A22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g3fbd9b9fdfa_0_167"/>
          <p:cNvSpPr/>
          <p:nvPr/>
        </p:nvSpPr>
        <p:spPr>
          <a:xfrm>
            <a:off x="609475" y="1853321"/>
            <a:ext cx="10972800" cy="585300"/>
          </a:xfrm>
          <a:prstGeom prst="roundRect">
            <a:avLst>
              <a:gd fmla="val 12500" name="adj"/>
            </a:avLst>
          </a:prstGeom>
          <a:solidFill>
            <a:srgbClr val="F3EAEB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g3fbd9b9fdfa_0_167"/>
          <p:cNvSpPr/>
          <p:nvPr/>
        </p:nvSpPr>
        <p:spPr>
          <a:xfrm>
            <a:off x="731395" y="1926473"/>
            <a:ext cx="2438400" cy="426900"/>
          </a:xfrm>
          <a:prstGeom prst="roundRect">
            <a:avLst>
              <a:gd fmla="val 22857" name="adj"/>
            </a:avLst>
          </a:prstGeom>
          <a:solidFill>
            <a:srgbClr val="7A2233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g3fbd9b9fdfa_0_167"/>
          <p:cNvSpPr txBox="1"/>
          <p:nvPr/>
        </p:nvSpPr>
        <p:spPr>
          <a:xfrm>
            <a:off x="731395" y="1926473"/>
            <a:ext cx="24384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Entity → Entity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g3fbd9b9fdfa_0_167"/>
          <p:cNvSpPr/>
          <p:nvPr/>
        </p:nvSpPr>
        <p:spPr>
          <a:xfrm>
            <a:off x="3413635" y="1963049"/>
            <a:ext cx="365700" cy="365700"/>
          </a:xfrm>
          <a:prstGeom prst="ellipse">
            <a:avLst/>
          </a:prstGeom>
          <a:solidFill>
            <a:srgbClr val="F8F5F5"/>
          </a:solidFill>
          <a:ln cap="flat" cmpd="sng" w="12700">
            <a:solidFill>
              <a:srgbClr val="E0D5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g3fbd9b9fdfa_0_167"/>
          <p:cNvSpPr txBox="1"/>
          <p:nvPr/>
        </p:nvSpPr>
        <p:spPr>
          <a:xfrm>
            <a:off x="3413635" y="1963049"/>
            <a:ext cx="365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2233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7A2233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lang="en-US" sz="1200">
                <a:solidFill>
                  <a:srgbClr val="7A2233"/>
                </a:solidFill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g3fbd9b9fdfa_0_167"/>
          <p:cNvSpPr txBox="1"/>
          <p:nvPr/>
        </p:nvSpPr>
        <p:spPr>
          <a:xfrm>
            <a:off x="4023235" y="1853321"/>
            <a:ext cx="7559100" cy="58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IsA, PartOf, MadeOf, DefinedAs, InstanceOf, SymbolOf, FormOf, LocatedNear, AtLocation, EtymologicallyRelatedTo, EtymologicallyDerivedFrom, DerivedFrom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g3fbd9b9fdfa_0_167"/>
          <p:cNvSpPr/>
          <p:nvPr/>
        </p:nvSpPr>
        <p:spPr>
          <a:xfrm>
            <a:off x="731395" y="2597033"/>
            <a:ext cx="2438400" cy="426900"/>
          </a:xfrm>
          <a:prstGeom prst="roundRect">
            <a:avLst>
              <a:gd fmla="val 22857" name="adj"/>
            </a:avLst>
          </a:prstGeom>
          <a:solidFill>
            <a:srgbClr val="7A2233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g3fbd9b9fdfa_0_167"/>
          <p:cNvSpPr txBox="1"/>
          <p:nvPr/>
        </p:nvSpPr>
        <p:spPr>
          <a:xfrm>
            <a:off x="731395" y="2597033"/>
            <a:ext cx="24384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Entity → Property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g3fbd9b9fdfa_0_167"/>
          <p:cNvSpPr/>
          <p:nvPr/>
        </p:nvSpPr>
        <p:spPr>
          <a:xfrm>
            <a:off x="3413635" y="2633609"/>
            <a:ext cx="365700" cy="365700"/>
          </a:xfrm>
          <a:prstGeom prst="ellipse">
            <a:avLst/>
          </a:prstGeom>
          <a:solidFill>
            <a:srgbClr val="F8F5F5"/>
          </a:solidFill>
          <a:ln cap="flat" cmpd="sng" w="12700">
            <a:solidFill>
              <a:srgbClr val="E0D5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g3fbd9b9fdfa_0_167"/>
          <p:cNvSpPr txBox="1"/>
          <p:nvPr/>
        </p:nvSpPr>
        <p:spPr>
          <a:xfrm>
            <a:off x="3413635" y="2633609"/>
            <a:ext cx="365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2233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7A2233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g3fbd9b9fdfa_0_167"/>
          <p:cNvSpPr txBox="1"/>
          <p:nvPr/>
        </p:nvSpPr>
        <p:spPr>
          <a:xfrm>
            <a:off x="4023235" y="2523881"/>
            <a:ext cx="7559100" cy="58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HasProperty, NotHasProperty, DefinedAs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g3fbd9b9fdfa_0_167"/>
          <p:cNvSpPr/>
          <p:nvPr/>
        </p:nvSpPr>
        <p:spPr>
          <a:xfrm>
            <a:off x="609475" y="3194441"/>
            <a:ext cx="10972800" cy="585300"/>
          </a:xfrm>
          <a:prstGeom prst="roundRect">
            <a:avLst>
              <a:gd fmla="val 12500" name="adj"/>
            </a:avLst>
          </a:prstGeom>
          <a:solidFill>
            <a:srgbClr val="F3EAEB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g3fbd9b9fdfa_0_167"/>
          <p:cNvSpPr/>
          <p:nvPr/>
        </p:nvSpPr>
        <p:spPr>
          <a:xfrm>
            <a:off x="731395" y="3267593"/>
            <a:ext cx="2438400" cy="426900"/>
          </a:xfrm>
          <a:prstGeom prst="roundRect">
            <a:avLst>
              <a:gd fmla="val 22857" name="adj"/>
            </a:avLst>
          </a:prstGeom>
          <a:solidFill>
            <a:srgbClr val="7A2233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g3fbd9b9fdfa_0_167"/>
          <p:cNvSpPr txBox="1"/>
          <p:nvPr/>
        </p:nvSpPr>
        <p:spPr>
          <a:xfrm>
            <a:off x="731395" y="3267593"/>
            <a:ext cx="24384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Entity → Action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g3fbd9b9fdfa_0_167"/>
          <p:cNvSpPr/>
          <p:nvPr/>
        </p:nvSpPr>
        <p:spPr>
          <a:xfrm>
            <a:off x="3413635" y="3304169"/>
            <a:ext cx="365700" cy="365700"/>
          </a:xfrm>
          <a:prstGeom prst="ellipse">
            <a:avLst/>
          </a:prstGeom>
          <a:solidFill>
            <a:srgbClr val="F8F5F5"/>
          </a:solidFill>
          <a:ln cap="flat" cmpd="sng" w="12700">
            <a:solidFill>
              <a:srgbClr val="E0D5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g3fbd9b9fdfa_0_167"/>
          <p:cNvSpPr txBox="1"/>
          <p:nvPr/>
        </p:nvSpPr>
        <p:spPr>
          <a:xfrm>
            <a:off x="3413635" y="3304169"/>
            <a:ext cx="365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2233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7A2233"/>
                </a:solidFill>
              </a:rPr>
              <a:t>7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g3fbd9b9fdfa_0_167"/>
          <p:cNvSpPr txBox="1"/>
          <p:nvPr/>
        </p:nvSpPr>
        <p:spPr>
          <a:xfrm>
            <a:off x="4023235" y="3194441"/>
            <a:ext cx="7559100" cy="58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CapableOf, UsedFor, ReceivesAction, NotCapableOf, </a:t>
            </a:r>
            <a:r>
              <a:rPr lang="en-US" sz="13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Desires, </a:t>
            </a:r>
            <a:r>
              <a:rPr b="0" i="0" lang="en-US" sz="13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NotDesires, CreatedBy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g3fbd9b9fdfa_0_167"/>
          <p:cNvSpPr/>
          <p:nvPr/>
        </p:nvSpPr>
        <p:spPr>
          <a:xfrm>
            <a:off x="731395" y="3938153"/>
            <a:ext cx="2438400" cy="426900"/>
          </a:xfrm>
          <a:prstGeom prst="roundRect">
            <a:avLst>
              <a:gd fmla="val 22857" name="adj"/>
            </a:avLst>
          </a:prstGeom>
          <a:solidFill>
            <a:srgbClr val="7A2233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g3fbd9b9fdfa_0_167"/>
          <p:cNvSpPr txBox="1"/>
          <p:nvPr/>
        </p:nvSpPr>
        <p:spPr>
          <a:xfrm>
            <a:off x="731395" y="3938153"/>
            <a:ext cx="24384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Action</a:t>
            </a: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 Action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g3fbd9b9fdfa_0_167"/>
          <p:cNvSpPr/>
          <p:nvPr/>
        </p:nvSpPr>
        <p:spPr>
          <a:xfrm>
            <a:off x="3413635" y="3974729"/>
            <a:ext cx="365700" cy="365700"/>
          </a:xfrm>
          <a:prstGeom prst="ellipse">
            <a:avLst/>
          </a:prstGeom>
          <a:solidFill>
            <a:srgbClr val="F8F5F5"/>
          </a:solidFill>
          <a:ln cap="flat" cmpd="sng" w="12700">
            <a:solidFill>
              <a:srgbClr val="E0D5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g3fbd9b9fdfa_0_167"/>
          <p:cNvSpPr txBox="1"/>
          <p:nvPr/>
        </p:nvSpPr>
        <p:spPr>
          <a:xfrm>
            <a:off x="3413635" y="3974729"/>
            <a:ext cx="365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2233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7A2233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g3fbd9b9fdfa_0_167"/>
          <p:cNvSpPr txBox="1"/>
          <p:nvPr/>
        </p:nvSpPr>
        <p:spPr>
          <a:xfrm>
            <a:off x="4023235" y="3865001"/>
            <a:ext cx="7559100" cy="58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HasSubEvent, HasFirstSubevent, HasLastSubevent, HasPrerequisite, Entails, MannerOf, MotivatedByGoal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g3fbd9b9fdfa_0_167"/>
          <p:cNvSpPr/>
          <p:nvPr/>
        </p:nvSpPr>
        <p:spPr>
          <a:xfrm>
            <a:off x="609475" y="4535561"/>
            <a:ext cx="10972800" cy="585300"/>
          </a:xfrm>
          <a:prstGeom prst="roundRect">
            <a:avLst>
              <a:gd fmla="val 12500" name="adj"/>
            </a:avLst>
          </a:prstGeom>
          <a:solidFill>
            <a:srgbClr val="F3EAEB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g3fbd9b9fdfa_0_167"/>
          <p:cNvSpPr/>
          <p:nvPr/>
        </p:nvSpPr>
        <p:spPr>
          <a:xfrm>
            <a:off x="731395" y="4608713"/>
            <a:ext cx="2438400" cy="426900"/>
          </a:xfrm>
          <a:prstGeom prst="roundRect">
            <a:avLst>
              <a:gd fmla="val 22857" name="adj"/>
            </a:avLst>
          </a:prstGeom>
          <a:solidFill>
            <a:srgbClr val="7A2233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g3fbd9b9fdfa_0_167"/>
          <p:cNvSpPr txBox="1"/>
          <p:nvPr/>
        </p:nvSpPr>
        <p:spPr>
          <a:xfrm>
            <a:off x="731395" y="4608713"/>
            <a:ext cx="24384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Action → Property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g3fbd9b9fdfa_0_167"/>
          <p:cNvSpPr/>
          <p:nvPr/>
        </p:nvSpPr>
        <p:spPr>
          <a:xfrm>
            <a:off x="3413635" y="4645289"/>
            <a:ext cx="365700" cy="365700"/>
          </a:xfrm>
          <a:prstGeom prst="ellipse">
            <a:avLst/>
          </a:prstGeom>
          <a:solidFill>
            <a:srgbClr val="F8F5F5"/>
          </a:solidFill>
          <a:ln cap="flat" cmpd="sng" w="12700">
            <a:solidFill>
              <a:srgbClr val="E0D5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g3fbd9b9fdfa_0_167"/>
          <p:cNvSpPr txBox="1"/>
          <p:nvPr/>
        </p:nvSpPr>
        <p:spPr>
          <a:xfrm>
            <a:off x="3413635" y="4645289"/>
            <a:ext cx="365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2233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7A2233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g3fbd9b9fdfa_0_167"/>
          <p:cNvSpPr txBox="1"/>
          <p:nvPr/>
        </p:nvSpPr>
        <p:spPr>
          <a:xfrm>
            <a:off x="4023235" y="4535561"/>
            <a:ext cx="7559100" cy="58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HasProperty, NotHasProperty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g3fbd9b9fdfa_0_167"/>
          <p:cNvSpPr/>
          <p:nvPr/>
        </p:nvSpPr>
        <p:spPr>
          <a:xfrm>
            <a:off x="731395" y="5279273"/>
            <a:ext cx="2438400" cy="426900"/>
          </a:xfrm>
          <a:prstGeom prst="roundRect">
            <a:avLst>
              <a:gd fmla="val 22857" name="adj"/>
            </a:avLst>
          </a:prstGeom>
          <a:solidFill>
            <a:srgbClr val="7A2233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g3fbd9b9fdfa_0_167"/>
          <p:cNvSpPr txBox="1"/>
          <p:nvPr/>
        </p:nvSpPr>
        <p:spPr>
          <a:xfrm>
            <a:off x="731395" y="5279273"/>
            <a:ext cx="24384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ALL (any ↔ any)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g3fbd9b9fdfa_0_167"/>
          <p:cNvSpPr/>
          <p:nvPr/>
        </p:nvSpPr>
        <p:spPr>
          <a:xfrm>
            <a:off x="3413635" y="5315849"/>
            <a:ext cx="365700" cy="365700"/>
          </a:xfrm>
          <a:prstGeom prst="ellipse">
            <a:avLst/>
          </a:prstGeom>
          <a:solidFill>
            <a:srgbClr val="F8F5F5"/>
          </a:solidFill>
          <a:ln cap="flat" cmpd="sng" w="12700">
            <a:solidFill>
              <a:srgbClr val="E0D5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g3fbd9b9fdfa_0_167"/>
          <p:cNvSpPr txBox="1"/>
          <p:nvPr/>
        </p:nvSpPr>
        <p:spPr>
          <a:xfrm>
            <a:off x="3413635" y="5315849"/>
            <a:ext cx="365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2233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7A2233"/>
                </a:solidFill>
              </a:rPr>
              <a:t>9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g3fbd9b9fdfa_0_167"/>
          <p:cNvSpPr txBox="1"/>
          <p:nvPr/>
        </p:nvSpPr>
        <p:spPr>
          <a:xfrm>
            <a:off x="4023235" y="5206121"/>
            <a:ext cx="7559100" cy="58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DBPedia, Causes, CausesDesire, DistinctFrom, RelatedTo, Synonym, Antonym, SimilarTo, HasContext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g3fbd9b9fdfa_0_167"/>
          <p:cNvSpPr/>
          <p:nvPr/>
        </p:nvSpPr>
        <p:spPr>
          <a:xfrm>
            <a:off x="-9525" y="-57220"/>
            <a:ext cx="12211200" cy="297900"/>
          </a:xfrm>
          <a:prstGeom prst="rect">
            <a:avLst/>
          </a:prstGeom>
          <a:solidFill>
            <a:srgbClr val="82243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F1A2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g3fbd9b9fdfa_0_167"/>
          <p:cNvSpPr/>
          <p:nvPr/>
        </p:nvSpPr>
        <p:spPr>
          <a:xfrm>
            <a:off x="-19050" y="6614399"/>
            <a:ext cx="12211200" cy="297900"/>
          </a:xfrm>
          <a:prstGeom prst="rect">
            <a:avLst/>
          </a:prstGeom>
          <a:solidFill>
            <a:srgbClr val="82243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F1A2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g3fbd9b9fdfa_0_167"/>
          <p:cNvSpPr txBox="1"/>
          <p:nvPr/>
        </p:nvSpPr>
        <p:spPr>
          <a:xfrm>
            <a:off x="731425" y="5936363"/>
            <a:ext cx="107289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300">
                <a:solidFill>
                  <a:srgbClr val="8B1A1A"/>
                </a:solidFill>
                <a:latin typeface="Calibri"/>
                <a:ea typeface="Calibri"/>
                <a:cs typeface="Calibri"/>
                <a:sym typeface="Calibri"/>
              </a:rPr>
              <a:t>The edge-class taxonomy also defines Property→Property, Property→Entity, Property→Action and Action→Entity as valid classes. However, these classes are empty in the final subgraph — </a:t>
            </a:r>
            <a:r>
              <a:rPr i="1" lang="en-US" sz="1200">
                <a:solidFill>
                  <a:srgbClr val="8B1A1A"/>
                </a:solidFill>
                <a:latin typeface="Roboto"/>
                <a:ea typeface="Roboto"/>
                <a:cs typeface="Roboto"/>
                <a:sym typeface="Roboto"/>
              </a:rPr>
              <a:t>these classes carry zero edges in this slice</a:t>
            </a:r>
            <a:r>
              <a:rPr i="1" lang="en-US" sz="1300">
                <a:solidFill>
                  <a:srgbClr val="8B1A1A"/>
                </a:solidFill>
                <a:latin typeface="Calibri"/>
                <a:ea typeface="Calibri"/>
                <a:cs typeface="Calibri"/>
                <a:sym typeface="Calibri"/>
              </a:rPr>
              <a:t>. They remain in the schema for completeness but carry zero edges.</a:t>
            </a:r>
            <a:endParaRPr i="1" sz="1300">
              <a:solidFill>
                <a:srgbClr val="8B1A1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fbd9b9fdfa_0_253"/>
          <p:cNvSpPr/>
          <p:nvPr/>
        </p:nvSpPr>
        <p:spPr>
          <a:xfrm>
            <a:off x="6840329" y="1711625"/>
            <a:ext cx="4805700" cy="1160100"/>
          </a:xfrm>
          <a:prstGeom prst="roundRect">
            <a:avLst>
              <a:gd fmla="val 8211" name="adj"/>
            </a:avLst>
          </a:prstGeom>
          <a:solidFill>
            <a:srgbClr val="FAEA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g3fbd9b9fdfa_0_253"/>
          <p:cNvSpPr/>
          <p:nvPr/>
        </p:nvSpPr>
        <p:spPr>
          <a:xfrm>
            <a:off x="6840329" y="3062091"/>
            <a:ext cx="4805700" cy="1160100"/>
          </a:xfrm>
          <a:prstGeom prst="roundRect">
            <a:avLst>
              <a:gd fmla="val 8211" name="adj"/>
            </a:avLst>
          </a:prstGeom>
          <a:solidFill>
            <a:srgbClr val="FAEA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g3fbd9b9fdfa_0_253"/>
          <p:cNvSpPr/>
          <p:nvPr/>
        </p:nvSpPr>
        <p:spPr>
          <a:xfrm>
            <a:off x="6840329" y="4412558"/>
            <a:ext cx="4805700" cy="1160100"/>
          </a:xfrm>
          <a:prstGeom prst="roundRect">
            <a:avLst>
              <a:gd fmla="val 8211" name="adj"/>
            </a:avLst>
          </a:prstGeom>
          <a:solidFill>
            <a:srgbClr val="FAEA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g3fbd9b9fdfa_0_253"/>
          <p:cNvSpPr/>
          <p:nvPr/>
        </p:nvSpPr>
        <p:spPr>
          <a:xfrm>
            <a:off x="6840329" y="1711625"/>
            <a:ext cx="38100" cy="116010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g3fbd9b9fdfa_0_253"/>
          <p:cNvSpPr/>
          <p:nvPr/>
        </p:nvSpPr>
        <p:spPr>
          <a:xfrm>
            <a:off x="6840329" y="3062091"/>
            <a:ext cx="38100" cy="116010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g3fbd9b9fdfa_0_253"/>
          <p:cNvSpPr/>
          <p:nvPr/>
        </p:nvSpPr>
        <p:spPr>
          <a:xfrm>
            <a:off x="6840329" y="4412558"/>
            <a:ext cx="38100" cy="116010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g3fbd9b9fdfa_0_253"/>
          <p:cNvSpPr txBox="1"/>
          <p:nvPr/>
        </p:nvSpPr>
        <p:spPr>
          <a:xfrm>
            <a:off x="609600" y="457200"/>
            <a:ext cx="11582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A1D2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Relational Architecture (SQL)</a:t>
            </a:r>
            <a:endParaRPr/>
          </a:p>
        </p:txBody>
      </p:sp>
      <p:sp>
        <p:nvSpPr>
          <p:cNvPr id="255" name="Google Shape;255;g3fbd9b9fdfa_0_253"/>
          <p:cNvSpPr txBox="1"/>
          <p:nvPr/>
        </p:nvSpPr>
        <p:spPr>
          <a:xfrm>
            <a:off x="609600" y="1000125"/>
            <a:ext cx="11582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8B1A1A"/>
                </a:solidFill>
                <a:latin typeface="Inter"/>
                <a:ea typeface="Inter"/>
                <a:cs typeface="Inter"/>
                <a:sym typeface="Inter"/>
              </a:rPr>
              <a:t>Entity-Relationship modeling for ConceptNet 5.7 structured data.</a:t>
            </a:r>
            <a:endParaRPr/>
          </a:p>
        </p:txBody>
      </p:sp>
      <p:sp>
        <p:nvSpPr>
          <p:cNvPr id="256" name="Google Shape;256;g3fbd9b9fdfa_0_253"/>
          <p:cNvSpPr txBox="1"/>
          <p:nvPr/>
        </p:nvSpPr>
        <p:spPr>
          <a:xfrm>
            <a:off x="7130379" y="1877500"/>
            <a:ext cx="5148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8B1A1A"/>
                </a:solidFill>
                <a:latin typeface="Inter"/>
                <a:ea typeface="Inter"/>
                <a:cs typeface="Inter"/>
                <a:sym typeface="Inter"/>
              </a:rPr>
              <a:t>Normalized Tables</a:t>
            </a:r>
            <a:endParaRPr sz="1600"/>
          </a:p>
        </p:txBody>
      </p:sp>
      <p:sp>
        <p:nvSpPr>
          <p:cNvPr id="257" name="Google Shape;257;g3fbd9b9fdfa_0_253"/>
          <p:cNvSpPr txBox="1"/>
          <p:nvPr/>
        </p:nvSpPr>
        <p:spPr>
          <a:xfrm>
            <a:off x="7130379" y="2184850"/>
            <a:ext cx="44058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Strict separation of nodes, edges, and classification taxonomy to minimize redundancy.</a:t>
            </a:r>
            <a:endParaRPr/>
          </a:p>
        </p:txBody>
      </p:sp>
      <p:sp>
        <p:nvSpPr>
          <p:cNvPr id="258" name="Google Shape;258;g3fbd9b9fdfa_0_253"/>
          <p:cNvSpPr txBox="1"/>
          <p:nvPr/>
        </p:nvSpPr>
        <p:spPr>
          <a:xfrm>
            <a:off x="7130379" y="3227966"/>
            <a:ext cx="5148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8B1A1A"/>
                </a:solidFill>
                <a:latin typeface="Inter"/>
                <a:ea typeface="Inter"/>
                <a:cs typeface="Inter"/>
                <a:sym typeface="Inter"/>
              </a:rPr>
              <a:t>Foreign Key Constraints</a:t>
            </a:r>
            <a:endParaRPr sz="1600"/>
          </a:p>
        </p:txBody>
      </p:sp>
      <p:sp>
        <p:nvSpPr>
          <p:cNvPr id="259" name="Google Shape;259;g3fbd9b9fdfa_0_253"/>
          <p:cNvSpPr txBox="1"/>
          <p:nvPr/>
        </p:nvSpPr>
        <p:spPr>
          <a:xfrm>
            <a:off x="7130379" y="3535316"/>
            <a:ext cx="44058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Referential integrity enforced natively across all relational mapping tables.</a:t>
            </a:r>
            <a:endParaRPr/>
          </a:p>
        </p:txBody>
      </p:sp>
      <p:sp>
        <p:nvSpPr>
          <p:cNvPr id="260" name="Google Shape;260;g3fbd9b9fdfa_0_253"/>
          <p:cNvSpPr txBox="1"/>
          <p:nvPr/>
        </p:nvSpPr>
        <p:spPr>
          <a:xfrm>
            <a:off x="7130379" y="4578433"/>
            <a:ext cx="5148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8B1A1A"/>
                </a:solidFill>
                <a:latin typeface="Inter"/>
                <a:ea typeface="Inter"/>
                <a:cs typeface="Inter"/>
                <a:sym typeface="Inter"/>
              </a:rPr>
              <a:t>JOIN-Dependent Traversals</a:t>
            </a:r>
            <a:endParaRPr sz="1600"/>
          </a:p>
        </p:txBody>
      </p:sp>
      <p:sp>
        <p:nvSpPr>
          <p:cNvPr id="261" name="Google Shape;261;g3fbd9b9fdfa_0_253"/>
          <p:cNvSpPr txBox="1"/>
          <p:nvPr/>
        </p:nvSpPr>
        <p:spPr>
          <a:xfrm>
            <a:off x="7130379" y="4885783"/>
            <a:ext cx="44058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Multi-hop paths require computationally expensive nested JOIN operations.</a:t>
            </a:r>
            <a:endParaRPr/>
          </a:p>
        </p:txBody>
      </p:sp>
      <p:sp>
        <p:nvSpPr>
          <p:cNvPr id="262" name="Google Shape;262;g3fbd9b9fdfa_0_253"/>
          <p:cNvSpPr/>
          <p:nvPr/>
        </p:nvSpPr>
        <p:spPr>
          <a:xfrm>
            <a:off x="-9525" y="-57220"/>
            <a:ext cx="12211200" cy="297900"/>
          </a:xfrm>
          <a:prstGeom prst="rect">
            <a:avLst/>
          </a:prstGeom>
          <a:solidFill>
            <a:srgbClr val="82243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F1A2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g3fbd9b9fdfa_0_253"/>
          <p:cNvSpPr/>
          <p:nvPr/>
        </p:nvSpPr>
        <p:spPr>
          <a:xfrm>
            <a:off x="-19050" y="6614399"/>
            <a:ext cx="12211200" cy="297900"/>
          </a:xfrm>
          <a:prstGeom prst="rect">
            <a:avLst/>
          </a:prstGeom>
          <a:solidFill>
            <a:srgbClr val="82243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F1A2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4" name="Google Shape;264;g3fbd9b9fdfa_0_253" title="Screenshot 2026-09-23 at 18.30.0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600" y="1360425"/>
            <a:ext cx="5289599" cy="510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fbd9b9fdfa_0_349"/>
          <p:cNvSpPr/>
          <p:nvPr/>
        </p:nvSpPr>
        <p:spPr>
          <a:xfrm>
            <a:off x="609600" y="1869500"/>
            <a:ext cx="4805700" cy="1160100"/>
          </a:xfrm>
          <a:prstGeom prst="roundRect">
            <a:avLst>
              <a:gd fmla="val 8211" name="adj"/>
            </a:avLst>
          </a:prstGeom>
          <a:solidFill>
            <a:srgbClr val="FAEA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g3fbd9b9fdfa_0_349"/>
          <p:cNvSpPr/>
          <p:nvPr/>
        </p:nvSpPr>
        <p:spPr>
          <a:xfrm>
            <a:off x="609600" y="3219966"/>
            <a:ext cx="4805700" cy="1160100"/>
          </a:xfrm>
          <a:prstGeom prst="roundRect">
            <a:avLst>
              <a:gd fmla="val 8211" name="adj"/>
            </a:avLst>
          </a:prstGeom>
          <a:solidFill>
            <a:srgbClr val="FAEA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g3fbd9b9fdfa_0_349"/>
          <p:cNvSpPr/>
          <p:nvPr/>
        </p:nvSpPr>
        <p:spPr>
          <a:xfrm>
            <a:off x="609600" y="4570433"/>
            <a:ext cx="4805700" cy="1160100"/>
          </a:xfrm>
          <a:prstGeom prst="roundRect">
            <a:avLst>
              <a:gd fmla="val 8211" name="adj"/>
            </a:avLst>
          </a:prstGeom>
          <a:solidFill>
            <a:srgbClr val="FAEA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g3fbd9b9fdfa_0_349"/>
          <p:cNvSpPr/>
          <p:nvPr/>
        </p:nvSpPr>
        <p:spPr>
          <a:xfrm>
            <a:off x="609600" y="1869500"/>
            <a:ext cx="38100" cy="116010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g3fbd9b9fdfa_0_349"/>
          <p:cNvSpPr/>
          <p:nvPr/>
        </p:nvSpPr>
        <p:spPr>
          <a:xfrm>
            <a:off x="609600" y="3219966"/>
            <a:ext cx="38100" cy="116010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g3fbd9b9fdfa_0_349"/>
          <p:cNvSpPr/>
          <p:nvPr/>
        </p:nvSpPr>
        <p:spPr>
          <a:xfrm>
            <a:off x="609600" y="4570433"/>
            <a:ext cx="38100" cy="116010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g3fbd9b9fdfa_0_349"/>
          <p:cNvSpPr txBox="1"/>
          <p:nvPr/>
        </p:nvSpPr>
        <p:spPr>
          <a:xfrm>
            <a:off x="609600" y="457200"/>
            <a:ext cx="11582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A1D2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Native Graph Architecture (Memgraph)</a:t>
            </a:r>
            <a:endParaRPr/>
          </a:p>
        </p:txBody>
      </p:sp>
      <p:sp>
        <p:nvSpPr>
          <p:cNvPr id="276" name="Google Shape;276;g3fbd9b9fdfa_0_349"/>
          <p:cNvSpPr txBox="1"/>
          <p:nvPr/>
        </p:nvSpPr>
        <p:spPr>
          <a:xfrm>
            <a:off x="609600" y="1141900"/>
            <a:ext cx="115824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8B1A1A"/>
                </a:solidFill>
                <a:latin typeface="Inter"/>
                <a:ea typeface="Inter"/>
                <a:cs typeface="Inter"/>
                <a:sym typeface="Inter"/>
              </a:rPr>
              <a:t>Property graph model optimized for semantic relationship traversals. </a:t>
            </a:r>
            <a:r>
              <a:rPr lang="en-US" sz="1650">
                <a:solidFill>
                  <a:srgbClr val="8B1A1A"/>
                </a:solidFill>
                <a:latin typeface="Inter"/>
                <a:ea typeface="Inter"/>
                <a:cs typeface="Inter"/>
                <a:sym typeface="Inter"/>
              </a:rPr>
              <a:t>Visually, a</a:t>
            </a:r>
            <a:r>
              <a:rPr b="0" i="0" lang="en-US" sz="1650" u="none" cap="none" strike="noStrike">
                <a:solidFill>
                  <a:srgbClr val="8B1A1A"/>
                </a:solidFill>
                <a:latin typeface="Inter"/>
                <a:ea typeface="Inter"/>
                <a:cs typeface="Inter"/>
                <a:sym typeface="Inter"/>
              </a:rPr>
              <a:t> giant mess</a:t>
            </a:r>
            <a:r>
              <a:rPr lang="en-US" sz="1650">
                <a:solidFill>
                  <a:srgbClr val="8B1A1A"/>
                </a:solidFill>
                <a:latin typeface="Inter"/>
                <a:ea typeface="Inter"/>
                <a:cs typeface="Inter"/>
                <a:sym typeface="Inter"/>
              </a:rPr>
              <a:t>…</a:t>
            </a:r>
            <a:endParaRPr sz="1700"/>
          </a:p>
        </p:txBody>
      </p:sp>
      <p:sp>
        <p:nvSpPr>
          <p:cNvPr id="277" name="Google Shape;277;g3fbd9b9fdfa_0_349"/>
          <p:cNvSpPr txBox="1"/>
          <p:nvPr/>
        </p:nvSpPr>
        <p:spPr>
          <a:xfrm>
            <a:off x="876300" y="2098100"/>
            <a:ext cx="5657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8B1A1A"/>
                </a:solidFill>
                <a:latin typeface="Inter"/>
                <a:ea typeface="Inter"/>
                <a:cs typeface="Inter"/>
                <a:sym typeface="Inter"/>
              </a:rPr>
              <a:t>First-Class Relationships</a:t>
            </a:r>
            <a:endParaRPr sz="1600"/>
          </a:p>
        </p:txBody>
      </p:sp>
      <p:sp>
        <p:nvSpPr>
          <p:cNvPr id="278" name="Google Shape;278;g3fbd9b9fdfa_0_349"/>
          <p:cNvSpPr txBox="1"/>
          <p:nvPr/>
        </p:nvSpPr>
        <p:spPr>
          <a:xfrm>
            <a:off x="876300" y="2374325"/>
            <a:ext cx="4405800" cy="5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Edges are stored directly as native entities, not computed at query time.</a:t>
            </a:r>
            <a:endParaRPr sz="1600"/>
          </a:p>
        </p:txBody>
      </p:sp>
      <p:sp>
        <p:nvSpPr>
          <p:cNvPr id="279" name="Google Shape;279;g3fbd9b9fdfa_0_349"/>
          <p:cNvSpPr txBox="1"/>
          <p:nvPr/>
        </p:nvSpPr>
        <p:spPr>
          <a:xfrm>
            <a:off x="876300" y="3448566"/>
            <a:ext cx="56574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8B1A1A"/>
                </a:solidFill>
                <a:latin typeface="Inter"/>
                <a:ea typeface="Inter"/>
                <a:cs typeface="Inter"/>
                <a:sym typeface="Inter"/>
              </a:rPr>
              <a:t>Index-Free Adjacency</a:t>
            </a:r>
            <a:endParaRPr sz="1600"/>
          </a:p>
        </p:txBody>
      </p:sp>
      <p:sp>
        <p:nvSpPr>
          <p:cNvPr id="280" name="Google Shape;280;g3fbd9b9fdfa_0_349"/>
          <p:cNvSpPr txBox="1"/>
          <p:nvPr/>
        </p:nvSpPr>
        <p:spPr>
          <a:xfrm>
            <a:off x="876300" y="3724791"/>
            <a:ext cx="4405800" cy="5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Nodes hold direct memory pointers to connected neighbors for O(1) hops.</a:t>
            </a:r>
            <a:endParaRPr sz="1600"/>
          </a:p>
        </p:txBody>
      </p:sp>
      <p:sp>
        <p:nvSpPr>
          <p:cNvPr id="281" name="Google Shape;281;g3fbd9b9fdfa_0_349"/>
          <p:cNvSpPr txBox="1"/>
          <p:nvPr/>
        </p:nvSpPr>
        <p:spPr>
          <a:xfrm>
            <a:off x="876300" y="4799033"/>
            <a:ext cx="56574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8B1A1A"/>
                </a:solidFill>
                <a:latin typeface="Inter"/>
                <a:ea typeface="Inter"/>
                <a:cs typeface="Inter"/>
                <a:sym typeface="Inter"/>
              </a:rPr>
              <a:t>Schema Flexibility</a:t>
            </a:r>
            <a:endParaRPr sz="1600"/>
          </a:p>
        </p:txBody>
      </p:sp>
      <p:sp>
        <p:nvSpPr>
          <p:cNvPr id="282" name="Google Shape;282;g3fbd9b9fdfa_0_349"/>
          <p:cNvSpPr txBox="1"/>
          <p:nvPr/>
        </p:nvSpPr>
        <p:spPr>
          <a:xfrm>
            <a:off x="876300" y="5075258"/>
            <a:ext cx="4405800" cy="5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Properties attached dynamically to nodes and edges without rigid table definitions.</a:t>
            </a:r>
            <a:endParaRPr sz="1600"/>
          </a:p>
        </p:txBody>
      </p:sp>
      <p:pic>
        <p:nvPicPr>
          <p:cNvPr id="283" name="Google Shape;283;g3fbd9b9fdfa_0_349" title="Screenshot 2026-09-23 alle 12.19.20.png"/>
          <p:cNvPicPr preferRelativeResize="0"/>
          <p:nvPr/>
        </p:nvPicPr>
        <p:blipFill rotWithShape="1">
          <a:blip r:embed="rId3">
            <a:alphaModFix/>
          </a:blip>
          <a:srcRect b="0" l="4587" r="5832" t="0"/>
          <a:stretch/>
        </p:blipFill>
        <p:spPr>
          <a:xfrm>
            <a:off x="5693875" y="1498925"/>
            <a:ext cx="6334502" cy="4602175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g3fbd9b9fdfa_0_349"/>
          <p:cNvSpPr/>
          <p:nvPr/>
        </p:nvSpPr>
        <p:spPr>
          <a:xfrm>
            <a:off x="-19050" y="6614399"/>
            <a:ext cx="12211200" cy="297900"/>
          </a:xfrm>
          <a:prstGeom prst="rect">
            <a:avLst/>
          </a:prstGeom>
          <a:solidFill>
            <a:srgbClr val="82243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F1A2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g3fbd9b9fdfa_0_349"/>
          <p:cNvSpPr/>
          <p:nvPr/>
        </p:nvSpPr>
        <p:spPr>
          <a:xfrm>
            <a:off x="-9525" y="-57220"/>
            <a:ext cx="12211200" cy="297900"/>
          </a:xfrm>
          <a:prstGeom prst="rect">
            <a:avLst/>
          </a:prstGeom>
          <a:solidFill>
            <a:srgbClr val="82243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F1A2D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fbe76f6726_0_204"/>
          <p:cNvSpPr/>
          <p:nvPr/>
        </p:nvSpPr>
        <p:spPr>
          <a:xfrm>
            <a:off x="0" y="0"/>
            <a:ext cx="12192000" cy="97500"/>
          </a:xfrm>
          <a:prstGeom prst="rect">
            <a:avLst/>
          </a:prstGeom>
          <a:solidFill>
            <a:srgbClr val="7A2233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g3fbe76f6726_0_204"/>
          <p:cNvSpPr/>
          <p:nvPr/>
        </p:nvSpPr>
        <p:spPr>
          <a:xfrm>
            <a:off x="0" y="6760464"/>
            <a:ext cx="12192000" cy="97500"/>
          </a:xfrm>
          <a:prstGeom prst="rect">
            <a:avLst/>
          </a:prstGeom>
          <a:solidFill>
            <a:srgbClr val="7A2233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g3fbe76f6726_0_204"/>
          <p:cNvSpPr txBox="1"/>
          <p:nvPr/>
        </p:nvSpPr>
        <p:spPr>
          <a:xfrm>
            <a:off x="609600" y="511767"/>
            <a:ext cx="10972800" cy="6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3700"/>
              <a:buFont typeface="Calibri"/>
              <a:buNone/>
            </a:pPr>
            <a:r>
              <a:rPr b="1" i="0" lang="en-US" sz="37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Memgraph Permission Meta-Graph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g3fbe76f6726_0_204"/>
          <p:cNvSpPr txBox="1"/>
          <p:nvPr/>
        </p:nvSpPr>
        <p:spPr>
          <a:xfrm>
            <a:off x="609600" y="1218902"/>
            <a:ext cx="109728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Since Memgraph has no built-in schema enforcement, the edge-class contract is encoded as a separate graph structure — queryable at validation time.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g3fbe76f6726_0_204"/>
          <p:cNvSpPr txBox="1"/>
          <p:nvPr/>
        </p:nvSpPr>
        <p:spPr>
          <a:xfrm>
            <a:off x="1057925" y="5381013"/>
            <a:ext cx="4627200" cy="95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1371600" marR="0" rtl="0" algn="l">
              <a:spcBef>
                <a:spcPts val="0"/>
              </a:spcBef>
              <a:spcAft>
                <a:spcPts val="0"/>
              </a:spcAft>
              <a:buClr>
                <a:srgbClr val="7A2233"/>
              </a:buClr>
              <a:buSzPts val="900"/>
              <a:buFont typeface="Calibri"/>
              <a:buNone/>
            </a:pPr>
            <a:r>
              <a:rPr b="1" i="1" lang="en-US" sz="1200">
                <a:solidFill>
                  <a:srgbClr val="7A2233"/>
                </a:solidFill>
                <a:latin typeface="Calibri"/>
                <a:ea typeface="Calibri"/>
                <a:cs typeface="Calibri"/>
                <a:sym typeface="Calibri"/>
              </a:rPr>
              <a:t>			 |</a:t>
            </a:r>
            <a:r>
              <a:rPr b="1" i="1" lang="en-US" sz="1200">
                <a:solidFill>
                  <a:srgbClr val="7A2233"/>
                </a:solidFill>
                <a:latin typeface="Calibri"/>
                <a:ea typeface="Calibri"/>
                <a:cs typeface="Calibri"/>
                <a:sym typeface="Calibri"/>
              </a:rPr>
              <a:t>—FROM→ EntityNode </a:t>
            </a:r>
            <a:endParaRPr b="1" i="1" sz="1200">
              <a:solidFill>
                <a:srgbClr val="7A22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371600" marR="0" rtl="0" algn="l">
              <a:spcBef>
                <a:spcPts val="0"/>
              </a:spcBef>
              <a:spcAft>
                <a:spcPts val="0"/>
              </a:spcAft>
              <a:buClr>
                <a:srgbClr val="7A2233"/>
              </a:buClr>
              <a:buSzPts val="900"/>
              <a:buFont typeface="Calibri"/>
              <a:buNone/>
            </a:pPr>
            <a:r>
              <a:rPr b="1" i="1" lang="en-US" sz="1200">
                <a:solidFill>
                  <a:srgbClr val="7A2233"/>
                </a:solidFill>
                <a:latin typeface="Calibri"/>
                <a:ea typeface="Calibri"/>
                <a:cs typeface="Calibri"/>
                <a:sym typeface="Calibri"/>
              </a:rPr>
              <a:t>			|</a:t>
            </a:r>
            <a:endParaRPr b="1" i="1" sz="1200">
              <a:solidFill>
                <a:srgbClr val="7A22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233"/>
              </a:buClr>
              <a:buSzPts val="900"/>
              <a:buFont typeface="Calibri"/>
              <a:buNone/>
            </a:pPr>
            <a:r>
              <a:rPr b="1" i="1" lang="en-US" sz="1900" u="none" cap="none" strike="noStrike">
                <a:solidFill>
                  <a:srgbClr val="7A2233"/>
                </a:solidFill>
                <a:latin typeface="Calibri"/>
                <a:ea typeface="Calibri"/>
                <a:cs typeface="Calibri"/>
                <a:sym typeface="Calibri"/>
              </a:rPr>
              <a:t>Example:</a:t>
            </a:r>
            <a:r>
              <a:rPr b="1" i="1" lang="en-US" sz="1200" u="none" cap="none" strike="noStrike">
                <a:solidFill>
                  <a:srgbClr val="7A2233"/>
                </a:solidFill>
                <a:latin typeface="Calibri"/>
                <a:ea typeface="Calibri"/>
                <a:cs typeface="Calibri"/>
                <a:sym typeface="Calibri"/>
              </a:rPr>
              <a:t>  	IsA  —PERMITS→  E2E  </a:t>
            </a:r>
            <a:r>
              <a:rPr b="1" i="1" lang="en-US" sz="1200">
                <a:solidFill>
                  <a:srgbClr val="7A2233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b="1" i="1" sz="1200">
              <a:solidFill>
                <a:srgbClr val="7A22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233"/>
              </a:buClr>
              <a:buSzPts val="900"/>
              <a:buFont typeface="Calibri"/>
              <a:buNone/>
            </a:pPr>
            <a:r>
              <a:rPr b="1" i="1" lang="en-US" sz="1200">
                <a:solidFill>
                  <a:srgbClr val="7A2233"/>
                </a:solidFill>
                <a:latin typeface="Calibri"/>
                <a:ea typeface="Calibri"/>
                <a:cs typeface="Calibri"/>
                <a:sym typeface="Calibri"/>
              </a:rPr>
              <a:t>			   		           |</a:t>
            </a:r>
            <a:endParaRPr b="1" i="1" sz="1200">
              <a:solidFill>
                <a:srgbClr val="7A22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371600" marR="0" rtl="0" algn="l">
              <a:spcBef>
                <a:spcPts val="0"/>
              </a:spcBef>
              <a:spcAft>
                <a:spcPts val="0"/>
              </a:spcAft>
              <a:buClr>
                <a:srgbClr val="7A2233"/>
              </a:buClr>
              <a:buSzPts val="900"/>
              <a:buFont typeface="Calibri"/>
              <a:buNone/>
            </a:pPr>
            <a:r>
              <a:rPr b="1" i="1" lang="en-US" sz="1200">
                <a:solidFill>
                  <a:srgbClr val="7A2233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|</a:t>
            </a:r>
            <a:r>
              <a:rPr b="1" i="1" lang="en-US" sz="1200">
                <a:solidFill>
                  <a:srgbClr val="7A2233"/>
                </a:solidFill>
                <a:latin typeface="Calibri"/>
                <a:ea typeface="Calibri"/>
                <a:cs typeface="Calibri"/>
                <a:sym typeface="Calibri"/>
              </a:rPr>
              <a:t>—TO→ EntityNode</a:t>
            </a:r>
            <a:endParaRPr b="1" i="1" sz="1200">
              <a:solidFill>
                <a:srgbClr val="7A22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g3fbe76f6726_0_204"/>
          <p:cNvSpPr/>
          <p:nvPr/>
        </p:nvSpPr>
        <p:spPr>
          <a:xfrm>
            <a:off x="6077200" y="1731000"/>
            <a:ext cx="5700000" cy="1421400"/>
          </a:xfrm>
          <a:prstGeom prst="roundRect">
            <a:avLst>
              <a:gd fmla="val 8211" name="adj"/>
            </a:avLst>
          </a:prstGeom>
          <a:solidFill>
            <a:srgbClr val="FAEAEA"/>
          </a:solidFill>
          <a:ln>
            <a:noFill/>
          </a:ln>
        </p:spPr>
        <p:txBody>
          <a:bodyPr anchorCtr="0" anchor="ctr" bIns="51975" lIns="104000" spcFirstLastPara="1" rIns="104000" wrap="square" tIns="519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4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g3fbe76f6726_0_204"/>
          <p:cNvSpPr/>
          <p:nvPr/>
        </p:nvSpPr>
        <p:spPr>
          <a:xfrm flipH="1">
            <a:off x="11777451" y="1731016"/>
            <a:ext cx="43200" cy="142140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51975" lIns="104000" spcFirstLastPara="1" rIns="104000" wrap="square" tIns="519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4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g3fbe76f6726_0_204"/>
          <p:cNvSpPr txBox="1"/>
          <p:nvPr/>
        </p:nvSpPr>
        <p:spPr>
          <a:xfrm>
            <a:off x="6281500" y="2156213"/>
            <a:ext cx="5467200" cy="8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Memgraph accepts any edge between any nodes — there are no CHECK constraints, no foreign keys, no endpoint-type rules on relations. An invalid edge (e.g. HasProperty between two EntityNodes) is silently inserted.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9" name="Google Shape;299;g3fbe76f6726_0_204" title="Screenshot 2026-09-23 at 17.54.2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600" y="1938138"/>
            <a:ext cx="5197800" cy="3388931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g3fbe76f6726_0_204"/>
          <p:cNvSpPr txBox="1"/>
          <p:nvPr/>
        </p:nvSpPr>
        <p:spPr>
          <a:xfrm>
            <a:off x="6196300" y="1815125"/>
            <a:ext cx="5197800" cy="3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8B1A1A"/>
                </a:solidFill>
                <a:latin typeface="Inter"/>
                <a:ea typeface="Inter"/>
                <a:cs typeface="Inter"/>
                <a:sym typeface="Inter"/>
              </a:rPr>
              <a:t>The Need of a Permission Schema</a:t>
            </a:r>
            <a:endParaRPr sz="1700">
              <a:solidFill>
                <a:srgbClr val="7E070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g3fbe76f6726_0_204"/>
          <p:cNvSpPr/>
          <p:nvPr/>
        </p:nvSpPr>
        <p:spPr>
          <a:xfrm>
            <a:off x="6077200" y="3396050"/>
            <a:ext cx="5700000" cy="1421400"/>
          </a:xfrm>
          <a:prstGeom prst="roundRect">
            <a:avLst>
              <a:gd fmla="val 8211" name="adj"/>
            </a:avLst>
          </a:prstGeom>
          <a:solidFill>
            <a:srgbClr val="FAEAEA"/>
          </a:solidFill>
          <a:ln>
            <a:noFill/>
          </a:ln>
        </p:spPr>
        <p:txBody>
          <a:bodyPr anchorCtr="0" anchor="ctr" bIns="51975" lIns="104000" spcFirstLastPara="1" rIns="104000" wrap="square" tIns="519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4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g3fbe76f6726_0_204"/>
          <p:cNvSpPr/>
          <p:nvPr/>
        </p:nvSpPr>
        <p:spPr>
          <a:xfrm flipH="1">
            <a:off x="11777451" y="3396066"/>
            <a:ext cx="43200" cy="142140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51975" lIns="104000" spcFirstLastPara="1" rIns="104000" wrap="square" tIns="519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4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g3fbe76f6726_0_204"/>
          <p:cNvSpPr txBox="1"/>
          <p:nvPr/>
        </p:nvSpPr>
        <p:spPr>
          <a:xfrm>
            <a:off x="6281500" y="3821263"/>
            <a:ext cx="54672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Calibri"/>
              <a:buNone/>
            </a:pPr>
            <a:r>
              <a:rPr lang="en-US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This meta-graph acts as a declarative permission layer that can be queried to detect violations.</a:t>
            </a:r>
            <a:endParaRPr sz="1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g3fbe76f6726_0_204"/>
          <p:cNvSpPr txBox="1"/>
          <p:nvPr/>
        </p:nvSpPr>
        <p:spPr>
          <a:xfrm>
            <a:off x="6196300" y="3480175"/>
            <a:ext cx="5197800" cy="3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8B1A1A"/>
                </a:solidFill>
                <a:latin typeface="Inter"/>
                <a:ea typeface="Inter"/>
                <a:cs typeface="Inter"/>
                <a:sym typeface="Inter"/>
              </a:rPr>
              <a:t>Violation Detection at Query-Time</a:t>
            </a:r>
            <a:endParaRPr sz="1700">
              <a:solidFill>
                <a:srgbClr val="7E070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g3fbe76f6726_0_204"/>
          <p:cNvSpPr/>
          <p:nvPr/>
        </p:nvSpPr>
        <p:spPr>
          <a:xfrm>
            <a:off x="6077200" y="5061125"/>
            <a:ext cx="5700000" cy="1421400"/>
          </a:xfrm>
          <a:prstGeom prst="roundRect">
            <a:avLst>
              <a:gd fmla="val 8211" name="adj"/>
            </a:avLst>
          </a:prstGeom>
          <a:solidFill>
            <a:srgbClr val="FAEAEA"/>
          </a:solidFill>
          <a:ln>
            <a:noFill/>
          </a:ln>
        </p:spPr>
        <p:txBody>
          <a:bodyPr anchorCtr="0" anchor="ctr" bIns="51975" lIns="104000" spcFirstLastPara="1" rIns="104000" wrap="square" tIns="519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4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g3fbe76f6726_0_204"/>
          <p:cNvSpPr/>
          <p:nvPr/>
        </p:nvSpPr>
        <p:spPr>
          <a:xfrm flipH="1">
            <a:off x="11777451" y="5061141"/>
            <a:ext cx="43200" cy="142140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51975" lIns="104000" spcFirstLastPara="1" rIns="104000" wrap="square" tIns="519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4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g3fbe76f6726_0_204"/>
          <p:cNvSpPr txBox="1"/>
          <p:nvPr/>
        </p:nvSpPr>
        <p:spPr>
          <a:xfrm>
            <a:off x="6281500" y="5486350"/>
            <a:ext cx="55392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Calibri"/>
              <a:buNone/>
            </a:pPr>
            <a:r>
              <a:rPr lang="en-US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In MySQL, this contract is intrinsic to the relational schema: CHECK constraints validate edge classes at insertion, composite foreign keys enforce endpoint types, and the v_edges view flags violations automatically. </a:t>
            </a:r>
            <a:endParaRPr sz="1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g3fbe76f6726_0_204"/>
          <p:cNvSpPr txBox="1"/>
          <p:nvPr/>
        </p:nvSpPr>
        <p:spPr>
          <a:xfrm>
            <a:off x="6196300" y="5145250"/>
            <a:ext cx="5197800" cy="3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8B1A1A"/>
                </a:solidFill>
                <a:latin typeface="Inter"/>
                <a:ea typeface="Inter"/>
                <a:cs typeface="Inter"/>
                <a:sym typeface="Inter"/>
              </a:rPr>
              <a:t>Differences from MySQL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7E070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g3fbe76f6726_0_204"/>
          <p:cNvSpPr/>
          <p:nvPr/>
        </p:nvSpPr>
        <p:spPr>
          <a:xfrm>
            <a:off x="-9525" y="-57220"/>
            <a:ext cx="12211200" cy="297900"/>
          </a:xfrm>
          <a:prstGeom prst="rect">
            <a:avLst/>
          </a:prstGeom>
          <a:solidFill>
            <a:srgbClr val="82243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F1A2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g3fbe76f6726_0_204"/>
          <p:cNvSpPr/>
          <p:nvPr/>
        </p:nvSpPr>
        <p:spPr>
          <a:xfrm>
            <a:off x="-19050" y="6614399"/>
            <a:ext cx="12211200" cy="297900"/>
          </a:xfrm>
          <a:prstGeom prst="rect">
            <a:avLst/>
          </a:prstGeom>
          <a:solidFill>
            <a:srgbClr val="82243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F1A2D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5" name="Google Shape;315;g3fbd9b9fdfa_0_450" title="Registrazione schermo 2026-09-23 alle 14.54.54.mov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4100" y="872700"/>
            <a:ext cx="11523948" cy="5624649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316" name="Google Shape;316;g3fbd9b9fdfa_0_450"/>
          <p:cNvSpPr/>
          <p:nvPr/>
        </p:nvSpPr>
        <p:spPr>
          <a:xfrm>
            <a:off x="-9525" y="-57220"/>
            <a:ext cx="12211200" cy="297900"/>
          </a:xfrm>
          <a:prstGeom prst="rect">
            <a:avLst/>
          </a:prstGeom>
          <a:solidFill>
            <a:srgbClr val="82243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F1A2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g3fbd9b9fdfa_0_450"/>
          <p:cNvSpPr/>
          <p:nvPr/>
        </p:nvSpPr>
        <p:spPr>
          <a:xfrm>
            <a:off x="-19050" y="6614399"/>
            <a:ext cx="12211200" cy="297900"/>
          </a:xfrm>
          <a:prstGeom prst="rect">
            <a:avLst/>
          </a:prstGeom>
          <a:solidFill>
            <a:srgbClr val="82243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F1A2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g3fbd9b9fdfa_0_450"/>
          <p:cNvSpPr txBox="1"/>
          <p:nvPr/>
        </p:nvSpPr>
        <p:spPr>
          <a:xfrm>
            <a:off x="609600" y="457200"/>
            <a:ext cx="11582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A1D2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Memgraph</a:t>
            </a:r>
            <a:r>
              <a:rPr b="1" lang="en-US" sz="2700">
                <a:solidFill>
                  <a:srgbClr val="1A1D2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Architecture: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h49a0bcae752c4fa0_2_5"/>
          <p:cNvSpPr/>
          <p:nvPr/>
        </p:nvSpPr>
        <p:spPr>
          <a:xfrm>
            <a:off x="0" y="0"/>
            <a:ext cx="12192000" cy="97500"/>
          </a:xfrm>
          <a:prstGeom prst="rect">
            <a:avLst/>
          </a:prstGeom>
          <a:solidFill>
            <a:srgbClr val="7A2233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h49a0bcae752c4fa0_2_5"/>
          <p:cNvSpPr/>
          <p:nvPr/>
        </p:nvSpPr>
        <p:spPr>
          <a:xfrm>
            <a:off x="0" y="6760464"/>
            <a:ext cx="12192000" cy="97500"/>
          </a:xfrm>
          <a:prstGeom prst="rect">
            <a:avLst/>
          </a:prstGeom>
          <a:solidFill>
            <a:srgbClr val="7A2233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h49a0bcae752c4fa0_2_5"/>
          <p:cNvSpPr txBox="1"/>
          <p:nvPr/>
        </p:nvSpPr>
        <p:spPr>
          <a:xfrm>
            <a:off x="609600" y="341376"/>
            <a:ext cx="6096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23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7A2233"/>
                </a:solidFill>
                <a:latin typeface="Calibri"/>
                <a:ea typeface="Calibri"/>
                <a:cs typeface="Calibri"/>
                <a:sym typeface="Calibri"/>
              </a:rPr>
              <a:t>QUERY SUITE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h49a0bcae752c4fa0_2_5"/>
          <p:cNvSpPr txBox="1"/>
          <p:nvPr/>
        </p:nvSpPr>
        <p:spPr>
          <a:xfrm>
            <a:off x="609600" y="707136"/>
            <a:ext cx="10972800" cy="58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3700"/>
              <a:buFont typeface="Calibri"/>
              <a:buNone/>
            </a:pPr>
            <a:r>
              <a:rPr b="1" i="0" lang="en-US" sz="37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Comparative Query Analysis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h49a0bcae752c4fa0_2_5"/>
          <p:cNvSpPr txBox="1"/>
          <p:nvPr/>
        </p:nvSpPr>
        <p:spPr>
          <a:xfrm>
            <a:off x="609600" y="1402080"/>
            <a:ext cx="10972800" cy="6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We designed four query families to evaluate different categories of inference that can be performed on a knowledge graph, testing both architectures on information retrieval capabilities and schema integrity enforcement.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h49a0bcae752c4fa0_2_5"/>
          <p:cNvSpPr/>
          <p:nvPr/>
        </p:nvSpPr>
        <p:spPr>
          <a:xfrm>
            <a:off x="609600" y="2137675"/>
            <a:ext cx="10972800" cy="1008600"/>
          </a:xfrm>
          <a:prstGeom prst="roundRect">
            <a:avLst>
              <a:gd fmla="val 15385" name="adj"/>
            </a:avLst>
          </a:prstGeom>
          <a:solidFill>
            <a:srgbClr val="E8F5EE"/>
          </a:solidFill>
          <a:ln cap="flat" cmpd="sng" w="12700">
            <a:solidFill>
              <a:srgbClr val="2E7D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h49a0bcae752c4fa0_2_5"/>
          <p:cNvSpPr txBox="1"/>
          <p:nvPr/>
        </p:nvSpPr>
        <p:spPr>
          <a:xfrm>
            <a:off x="716850" y="2274213"/>
            <a:ext cx="10739400" cy="6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100"/>
              <a:buFont typeface="Calibri"/>
              <a:buNone/>
            </a:pPr>
            <a:r>
              <a:rPr b="0" lang="en-US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Every result was verified: result-set hashes were compared across engines to ensure functional equivalence, and isomorphic loads were asserted per run to guarantee both architectures operated on identical data. </a:t>
            </a:r>
            <a:r>
              <a:rPr lang="en-US" sz="1300">
                <a:solidFill>
                  <a:srgbClr val="4A4A4A"/>
                </a:solidFill>
                <a:latin typeface="Roboto"/>
                <a:ea typeface="Roboto"/>
                <a:cs typeface="Roboto"/>
                <a:sym typeface="Roboto"/>
              </a:rPr>
              <a:t>Cross-verification surfaced five classes of silent error (query-text desyncs, grouping ambiguity, pattern-semantics differences, planner access paths, contract drift) — each fixed and viewable..</a:t>
            </a:r>
            <a:endParaRPr b="0" u="none" cap="none" strike="noStrike">
              <a:solidFill>
                <a:srgbClr val="4A4A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h49a0bcae752c4fa0_2_5"/>
          <p:cNvSpPr txBox="1"/>
          <p:nvPr/>
        </p:nvSpPr>
        <p:spPr>
          <a:xfrm>
            <a:off x="941413" y="3146351"/>
            <a:ext cx="5625300" cy="33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846"/>
              <a:buFont typeface="Calibri"/>
              <a:buNone/>
            </a:pPr>
            <a:r>
              <a:rPr b="1" i="0" lang="en-US" sz="1846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Analysis Objectives</a:t>
            </a:r>
            <a:endParaRPr b="0" i="0" sz="1846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h49a0bcae752c4fa0_2_5"/>
          <p:cNvSpPr/>
          <p:nvPr/>
        </p:nvSpPr>
        <p:spPr>
          <a:xfrm>
            <a:off x="1053922" y="3686395"/>
            <a:ext cx="157800" cy="157800"/>
          </a:xfrm>
          <a:prstGeom prst="ellipse">
            <a:avLst/>
          </a:prstGeom>
          <a:solidFill>
            <a:srgbClr val="7A2233"/>
          </a:solidFill>
          <a:ln>
            <a:noFill/>
          </a:ln>
        </p:spPr>
        <p:txBody>
          <a:bodyPr anchorCtr="0" anchor="ctr" bIns="112500" lIns="112500" spcFirstLastPara="1" rIns="112500" wrap="square" tIns="112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h49a0bcae752c4fa0_2_5"/>
          <p:cNvSpPr txBox="1"/>
          <p:nvPr/>
        </p:nvSpPr>
        <p:spPr>
          <a:xfrm>
            <a:off x="1391448" y="3596388"/>
            <a:ext cx="9675900" cy="38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230"/>
              <a:buFont typeface="Calibri"/>
              <a:buNone/>
            </a:pPr>
            <a:r>
              <a:rPr b="0" i="0" lang="en-US" sz="123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Measure the overhead of SQL JOINs vs graph pattern matching on equivalent queries.</a:t>
            </a:r>
            <a:endParaRPr b="0" i="0" sz="123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h49a0bcae752c4fa0_2_5"/>
          <p:cNvSpPr/>
          <p:nvPr/>
        </p:nvSpPr>
        <p:spPr>
          <a:xfrm>
            <a:off x="1053922" y="4113930"/>
            <a:ext cx="157800" cy="157800"/>
          </a:xfrm>
          <a:prstGeom prst="ellipse">
            <a:avLst/>
          </a:prstGeom>
          <a:solidFill>
            <a:srgbClr val="7A2233"/>
          </a:solidFill>
          <a:ln>
            <a:noFill/>
          </a:ln>
        </p:spPr>
        <p:txBody>
          <a:bodyPr anchorCtr="0" anchor="ctr" bIns="112500" lIns="112500" spcFirstLastPara="1" rIns="112500" wrap="square" tIns="112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h49a0bcae752c4fa0_2_5"/>
          <p:cNvSpPr txBox="1"/>
          <p:nvPr/>
        </p:nvSpPr>
        <p:spPr>
          <a:xfrm>
            <a:off x="1391448" y="4023923"/>
            <a:ext cx="9675900" cy="38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230"/>
              <a:buFont typeface="Calibri"/>
              <a:buNone/>
            </a:pPr>
            <a:r>
              <a:rPr b="0" i="0" lang="en-US" sz="123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Compare B-Tree indexed lookups (MySQL) against in-memory adjacency pointers (Memgraph) for local retrieval operations.</a:t>
            </a:r>
            <a:endParaRPr b="0" i="0" sz="123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h49a0bcae752c4fa0_2_5"/>
          <p:cNvSpPr/>
          <p:nvPr/>
        </p:nvSpPr>
        <p:spPr>
          <a:xfrm>
            <a:off x="1053922" y="4541465"/>
            <a:ext cx="157800" cy="157800"/>
          </a:xfrm>
          <a:prstGeom prst="ellipse">
            <a:avLst/>
          </a:prstGeom>
          <a:solidFill>
            <a:srgbClr val="7A2233"/>
          </a:solidFill>
          <a:ln>
            <a:noFill/>
          </a:ln>
        </p:spPr>
        <p:txBody>
          <a:bodyPr anchorCtr="0" anchor="ctr" bIns="112500" lIns="112500" spcFirstLastPara="1" rIns="112500" wrap="square" tIns="112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h49a0bcae752c4fa0_2_5"/>
          <p:cNvSpPr txBox="1"/>
          <p:nvPr/>
        </p:nvSpPr>
        <p:spPr>
          <a:xfrm>
            <a:off x="1391448" y="4451458"/>
            <a:ext cx="9675900" cy="38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230"/>
              <a:buFont typeface="Calibri"/>
              <a:buNone/>
            </a:pPr>
            <a:r>
              <a:rPr b="0" i="0" lang="en-US" sz="123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Evaluate how execution time scales with traversal depth — identifying the crossover point where graph-native traversal outperforms relational joins.</a:t>
            </a:r>
            <a:endParaRPr b="0" i="0" sz="123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h49a0bcae752c4fa0_2_5"/>
          <p:cNvSpPr/>
          <p:nvPr/>
        </p:nvSpPr>
        <p:spPr>
          <a:xfrm>
            <a:off x="1053922" y="4969000"/>
            <a:ext cx="157800" cy="157800"/>
          </a:xfrm>
          <a:prstGeom prst="ellipse">
            <a:avLst/>
          </a:prstGeom>
          <a:solidFill>
            <a:srgbClr val="7A2233"/>
          </a:solidFill>
          <a:ln>
            <a:noFill/>
          </a:ln>
        </p:spPr>
        <p:txBody>
          <a:bodyPr anchorCtr="0" anchor="ctr" bIns="112500" lIns="112500" spcFirstLastPara="1" rIns="112500" wrap="square" tIns="112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h49a0bcae752c4fa0_2_5"/>
          <p:cNvSpPr txBox="1"/>
          <p:nvPr/>
        </p:nvSpPr>
        <p:spPr>
          <a:xfrm>
            <a:off x="1391448" y="4878993"/>
            <a:ext cx="9675900" cy="38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230"/>
              <a:buFont typeface="Calibri"/>
              <a:buNone/>
            </a:pPr>
            <a:r>
              <a:rPr b="0" i="0" lang="en-US" sz="123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Test queries that expose expressiveness gaps — operations native to Cypher with no practical SQL equivalent.</a:t>
            </a:r>
            <a:endParaRPr b="0" i="0" sz="123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h49a0bcae752c4fa0_2_5"/>
          <p:cNvSpPr/>
          <p:nvPr/>
        </p:nvSpPr>
        <p:spPr>
          <a:xfrm>
            <a:off x="1053922" y="5396535"/>
            <a:ext cx="157800" cy="157800"/>
          </a:xfrm>
          <a:prstGeom prst="ellipse">
            <a:avLst/>
          </a:prstGeom>
          <a:solidFill>
            <a:srgbClr val="7A2233"/>
          </a:solidFill>
          <a:ln>
            <a:noFill/>
          </a:ln>
        </p:spPr>
        <p:txBody>
          <a:bodyPr anchorCtr="0" anchor="ctr" bIns="112500" lIns="112500" spcFirstLastPara="1" rIns="112500" wrap="square" tIns="112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h49a0bcae752c4fa0_2_5"/>
          <p:cNvSpPr txBox="1"/>
          <p:nvPr/>
        </p:nvSpPr>
        <p:spPr>
          <a:xfrm>
            <a:off x="1391448" y="5306528"/>
            <a:ext cx="9675900" cy="38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230"/>
              <a:buFont typeface="Calibri"/>
              <a:buNone/>
            </a:pPr>
            <a:r>
              <a:rPr b="0" i="0" lang="en-US" sz="123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Assess full-graph aggregation throughput, where both engines must scan the entire edge set.</a:t>
            </a:r>
            <a:endParaRPr b="0" i="0" sz="123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h49a0bcae752c4fa0_2_5"/>
          <p:cNvSpPr/>
          <p:nvPr/>
        </p:nvSpPr>
        <p:spPr>
          <a:xfrm>
            <a:off x="1053922" y="5824070"/>
            <a:ext cx="157800" cy="157800"/>
          </a:xfrm>
          <a:prstGeom prst="ellipse">
            <a:avLst/>
          </a:prstGeom>
          <a:solidFill>
            <a:srgbClr val="7A2233"/>
          </a:solidFill>
          <a:ln>
            <a:noFill/>
          </a:ln>
        </p:spPr>
        <p:txBody>
          <a:bodyPr anchorCtr="0" anchor="ctr" bIns="112500" lIns="112500" spcFirstLastPara="1" rIns="112500" wrap="square" tIns="112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h49a0bcae752c4fa0_2_5"/>
          <p:cNvSpPr txBox="1"/>
          <p:nvPr/>
        </p:nvSpPr>
        <p:spPr>
          <a:xfrm>
            <a:off x="1391448" y="5734063"/>
            <a:ext cx="9675900" cy="38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230"/>
              <a:buFont typeface="Calibri"/>
              <a:buNone/>
            </a:pPr>
            <a:r>
              <a:rPr b="0" i="0" lang="en-US" sz="123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Verify schema integrity enforcement: preventive (MySQL CHECK + FK at write time) vs detective (Memgraph meta-graph validation at query time).</a:t>
            </a:r>
            <a:endParaRPr b="0" i="0" sz="123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h49a0bcae752c4fa0_2_5"/>
          <p:cNvSpPr/>
          <p:nvPr/>
        </p:nvSpPr>
        <p:spPr>
          <a:xfrm>
            <a:off x="1053922" y="6251605"/>
            <a:ext cx="157800" cy="157800"/>
          </a:xfrm>
          <a:prstGeom prst="ellipse">
            <a:avLst/>
          </a:prstGeom>
          <a:solidFill>
            <a:srgbClr val="7A2233"/>
          </a:solidFill>
          <a:ln>
            <a:noFill/>
          </a:ln>
        </p:spPr>
        <p:txBody>
          <a:bodyPr anchorCtr="0" anchor="ctr" bIns="112500" lIns="112500" spcFirstLastPara="1" rIns="112500" wrap="square" tIns="112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h49a0bcae752c4fa0_2_5"/>
          <p:cNvSpPr txBox="1"/>
          <p:nvPr/>
        </p:nvSpPr>
        <p:spPr>
          <a:xfrm>
            <a:off x="1391448" y="6161598"/>
            <a:ext cx="9675900" cy="38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230"/>
              <a:buFont typeface="Calibri"/>
              <a:buNone/>
            </a:pPr>
            <a:r>
              <a:rPr b="0" i="0" lang="en-US" sz="123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Compare referential integrity handling on write operations — insertion of invalid data and cascading deletions.</a:t>
            </a:r>
            <a:endParaRPr b="0" i="0" sz="123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h49a0bcae752c4fa0_2_5"/>
          <p:cNvSpPr/>
          <p:nvPr/>
        </p:nvSpPr>
        <p:spPr>
          <a:xfrm>
            <a:off x="-9525" y="-57220"/>
            <a:ext cx="12211200" cy="297900"/>
          </a:xfrm>
          <a:prstGeom prst="rect">
            <a:avLst/>
          </a:prstGeom>
          <a:solidFill>
            <a:srgbClr val="82243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F1A2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h49a0bcae752c4fa0_2_5"/>
          <p:cNvSpPr/>
          <p:nvPr/>
        </p:nvSpPr>
        <p:spPr>
          <a:xfrm>
            <a:off x="-19050" y="6614399"/>
            <a:ext cx="12211200" cy="297900"/>
          </a:xfrm>
          <a:prstGeom prst="rect">
            <a:avLst/>
          </a:prstGeom>
          <a:solidFill>
            <a:srgbClr val="82243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F1A2D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4"/>
          <p:cNvSpPr txBox="1"/>
          <p:nvPr/>
        </p:nvSpPr>
        <p:spPr>
          <a:xfrm>
            <a:off x="11620500" y="6304471"/>
            <a:ext cx="255198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353" name="Google Shape;353;p4"/>
          <p:cNvSpPr/>
          <p:nvPr/>
        </p:nvSpPr>
        <p:spPr>
          <a:xfrm>
            <a:off x="0" y="6614400"/>
            <a:ext cx="12192000" cy="243600"/>
          </a:xfrm>
          <a:prstGeom prst="rect">
            <a:avLst/>
          </a:prstGeom>
          <a:solidFill>
            <a:srgbClr val="82243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4"/>
          <p:cNvSpPr/>
          <p:nvPr/>
        </p:nvSpPr>
        <p:spPr>
          <a:xfrm>
            <a:off x="0" y="0"/>
            <a:ext cx="12192000" cy="243600"/>
          </a:xfrm>
          <a:prstGeom prst="rect">
            <a:avLst/>
          </a:prstGeom>
          <a:solidFill>
            <a:srgbClr val="82243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4"/>
          <p:cNvSpPr/>
          <p:nvPr/>
        </p:nvSpPr>
        <p:spPr>
          <a:xfrm>
            <a:off x="-19050" y="6614399"/>
            <a:ext cx="12211050" cy="297857"/>
          </a:xfrm>
          <a:prstGeom prst="rect">
            <a:avLst/>
          </a:prstGeom>
          <a:solidFill>
            <a:srgbClr val="82243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F1A2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4"/>
          <p:cNvSpPr/>
          <p:nvPr/>
        </p:nvSpPr>
        <p:spPr>
          <a:xfrm>
            <a:off x="-9525" y="-57220"/>
            <a:ext cx="12211050" cy="297857"/>
          </a:xfrm>
          <a:prstGeom prst="rect">
            <a:avLst/>
          </a:prstGeom>
          <a:solidFill>
            <a:srgbClr val="82243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F1A2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4"/>
          <p:cNvSpPr txBox="1"/>
          <p:nvPr/>
        </p:nvSpPr>
        <p:spPr>
          <a:xfrm>
            <a:off x="627125" y="439650"/>
            <a:ext cx="6413100" cy="29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7A2233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7A2233"/>
                </a:solidFill>
                <a:latin typeface="Calibri"/>
                <a:ea typeface="Calibri"/>
                <a:cs typeface="Calibri"/>
                <a:sym typeface="Calibri"/>
              </a:rPr>
              <a:t>QUERY SUITE — FAMILY 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1" spc="75" sz="1350">
              <a:solidFill>
                <a:srgbClr val="8B1A1A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4"/>
          <p:cNvSpPr txBox="1"/>
          <p:nvPr/>
        </p:nvSpPr>
        <p:spPr>
          <a:xfrm>
            <a:off x="627125" y="1476800"/>
            <a:ext cx="102768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50">
                <a:solidFill>
                  <a:srgbClr val="475569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Evaluates basic read operations, indexing efficiency, and single-hop adjacency. Designed to test the baseline overhead of SQL JOINs against direct memory pointers.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4"/>
          <p:cNvSpPr txBox="1"/>
          <p:nvPr/>
        </p:nvSpPr>
        <p:spPr>
          <a:xfrm>
            <a:off x="647375" y="2306225"/>
            <a:ext cx="94878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4"/>
          <p:cNvSpPr/>
          <p:nvPr/>
        </p:nvSpPr>
        <p:spPr>
          <a:xfrm>
            <a:off x="1016865" y="2261478"/>
            <a:ext cx="3187800" cy="1267500"/>
          </a:xfrm>
          <a:prstGeom prst="roundRect">
            <a:avLst>
              <a:gd fmla="val 7273" name="adj"/>
            </a:avLst>
          </a:prstGeom>
          <a:solidFill>
            <a:srgbClr val="FFFFFF"/>
          </a:solidFill>
          <a:ln cap="flat" cmpd="sng" w="12000">
            <a:solidFill>
              <a:srgbClr val="E0D5D7"/>
            </a:solidFill>
            <a:prstDash val="solid"/>
            <a:round/>
            <a:headEnd len="sm" w="sm" type="none"/>
            <a:tailEnd len="sm" w="sm" type="none"/>
          </a:ln>
          <a:effectLst>
            <a:outerShdw blurRad="64009" rotWithShape="0" algn="bl" dir="8100000" dist="32005">
              <a:srgbClr val="000000">
                <a:alpha val="7840"/>
              </a:srgbClr>
            </a:outerShdw>
          </a:effectLst>
        </p:spPr>
        <p:txBody>
          <a:bodyPr anchorCtr="0" anchor="ctr" bIns="115200" lIns="115200" spcFirstLastPara="1" rIns="115200" wrap="square" tIns="115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4"/>
          <p:cNvSpPr/>
          <p:nvPr/>
        </p:nvSpPr>
        <p:spPr>
          <a:xfrm>
            <a:off x="1016865" y="2261478"/>
            <a:ext cx="3187800" cy="69300"/>
          </a:xfrm>
          <a:prstGeom prst="roundRect">
            <a:avLst>
              <a:gd fmla="val 50000" name="adj"/>
            </a:avLst>
          </a:prstGeom>
          <a:solidFill>
            <a:srgbClr val="7A2233"/>
          </a:solidFill>
          <a:ln>
            <a:noFill/>
          </a:ln>
        </p:spPr>
        <p:txBody>
          <a:bodyPr anchorCtr="0" anchor="ctr" bIns="115200" lIns="115200" spcFirstLastPara="1" rIns="115200" wrap="square" tIns="115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4"/>
          <p:cNvSpPr txBox="1"/>
          <p:nvPr/>
        </p:nvSpPr>
        <p:spPr>
          <a:xfrm>
            <a:off x="1247299" y="2468866"/>
            <a:ext cx="2727000" cy="34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638"/>
              <a:buFont typeface="Calibri"/>
              <a:buNone/>
            </a:pPr>
            <a:r>
              <a:rPr b="1" i="0" lang="en-US" sz="1638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Node Searching</a:t>
            </a:r>
            <a:endParaRPr b="0" i="0" sz="163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4"/>
          <p:cNvSpPr txBox="1"/>
          <p:nvPr/>
        </p:nvSpPr>
        <p:spPr>
          <a:xfrm>
            <a:off x="1247299" y="2837557"/>
            <a:ext cx="2727000" cy="51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260"/>
              <a:buFont typeface="Calibri"/>
              <a:buNone/>
            </a:pPr>
            <a:r>
              <a:rPr b="0" i="0" lang="en-US" sz="126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Exact URI matches.</a:t>
            </a:r>
            <a:endParaRPr b="0" i="0" sz="126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260"/>
              <a:buFont typeface="Calibri"/>
              <a:buNone/>
            </a:pPr>
            <a:r>
              <a:rPr b="0" i="0" lang="en-US" sz="126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Alphabetical range scans.</a:t>
            </a:r>
            <a:endParaRPr b="0" i="0" sz="126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4"/>
          <p:cNvSpPr/>
          <p:nvPr/>
        </p:nvSpPr>
        <p:spPr>
          <a:xfrm>
            <a:off x="4492571" y="2261478"/>
            <a:ext cx="3187800" cy="1267500"/>
          </a:xfrm>
          <a:prstGeom prst="roundRect">
            <a:avLst>
              <a:gd fmla="val 7273" name="adj"/>
            </a:avLst>
          </a:prstGeom>
          <a:solidFill>
            <a:srgbClr val="FFFFFF"/>
          </a:solidFill>
          <a:ln cap="flat" cmpd="sng" w="12000">
            <a:solidFill>
              <a:srgbClr val="E0D5D7"/>
            </a:solidFill>
            <a:prstDash val="solid"/>
            <a:round/>
            <a:headEnd len="sm" w="sm" type="none"/>
            <a:tailEnd len="sm" w="sm" type="none"/>
          </a:ln>
          <a:effectLst>
            <a:outerShdw blurRad="64009" rotWithShape="0" algn="bl" dir="8100000" dist="32005">
              <a:srgbClr val="000000">
                <a:alpha val="7840"/>
              </a:srgbClr>
            </a:outerShdw>
          </a:effectLst>
        </p:spPr>
        <p:txBody>
          <a:bodyPr anchorCtr="0" anchor="ctr" bIns="115200" lIns="115200" spcFirstLastPara="1" rIns="115200" wrap="square" tIns="115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4"/>
          <p:cNvSpPr/>
          <p:nvPr/>
        </p:nvSpPr>
        <p:spPr>
          <a:xfrm>
            <a:off x="4492571" y="2261478"/>
            <a:ext cx="3187800" cy="69300"/>
          </a:xfrm>
          <a:prstGeom prst="roundRect">
            <a:avLst>
              <a:gd fmla="val 50000" name="adj"/>
            </a:avLst>
          </a:prstGeom>
          <a:solidFill>
            <a:srgbClr val="7A2233"/>
          </a:solidFill>
          <a:ln>
            <a:noFill/>
          </a:ln>
        </p:spPr>
        <p:txBody>
          <a:bodyPr anchorCtr="0" anchor="ctr" bIns="115200" lIns="115200" spcFirstLastPara="1" rIns="115200" wrap="square" tIns="115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4"/>
          <p:cNvSpPr txBox="1"/>
          <p:nvPr/>
        </p:nvSpPr>
        <p:spPr>
          <a:xfrm>
            <a:off x="4723004" y="2468866"/>
            <a:ext cx="2727000" cy="34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638"/>
              <a:buFont typeface="Calibri"/>
              <a:buNone/>
            </a:pPr>
            <a:r>
              <a:rPr b="1" i="0" lang="en-US" sz="1638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1-Hop Expansion</a:t>
            </a:r>
            <a:endParaRPr b="0" i="0" sz="163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4"/>
          <p:cNvSpPr txBox="1"/>
          <p:nvPr/>
        </p:nvSpPr>
        <p:spPr>
          <a:xfrm>
            <a:off x="4723004" y="2837557"/>
            <a:ext cx="2727000" cy="51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260"/>
              <a:buFont typeface="Calibri"/>
              <a:buNone/>
            </a:pPr>
            <a:r>
              <a:rPr b="0" i="0" lang="en-US" sz="126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Targeted relation queries.</a:t>
            </a:r>
            <a:endParaRPr b="0" i="0" sz="126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260"/>
              <a:buFont typeface="Calibri"/>
              <a:buNone/>
            </a:pPr>
            <a:r>
              <a:rPr b="0" i="0" lang="en-US" sz="126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Bidirectional traversal tracking.</a:t>
            </a:r>
            <a:endParaRPr b="0" i="0" sz="126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4"/>
          <p:cNvSpPr/>
          <p:nvPr/>
        </p:nvSpPr>
        <p:spPr>
          <a:xfrm>
            <a:off x="7968276" y="2261478"/>
            <a:ext cx="3187800" cy="1267500"/>
          </a:xfrm>
          <a:prstGeom prst="roundRect">
            <a:avLst>
              <a:gd fmla="val 7273" name="adj"/>
            </a:avLst>
          </a:prstGeom>
          <a:solidFill>
            <a:srgbClr val="FFFFFF"/>
          </a:solidFill>
          <a:ln cap="flat" cmpd="sng" w="12000">
            <a:solidFill>
              <a:srgbClr val="E0D5D7"/>
            </a:solidFill>
            <a:prstDash val="solid"/>
            <a:round/>
            <a:headEnd len="sm" w="sm" type="none"/>
            <a:tailEnd len="sm" w="sm" type="none"/>
          </a:ln>
          <a:effectLst>
            <a:outerShdw blurRad="64009" rotWithShape="0" algn="bl" dir="8100000" dist="32005">
              <a:srgbClr val="000000">
                <a:alpha val="7840"/>
              </a:srgbClr>
            </a:outerShdw>
          </a:effectLst>
        </p:spPr>
        <p:txBody>
          <a:bodyPr anchorCtr="0" anchor="ctr" bIns="115200" lIns="115200" spcFirstLastPara="1" rIns="115200" wrap="square" tIns="115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4"/>
          <p:cNvSpPr/>
          <p:nvPr/>
        </p:nvSpPr>
        <p:spPr>
          <a:xfrm>
            <a:off x="7968276" y="2261478"/>
            <a:ext cx="3187800" cy="69300"/>
          </a:xfrm>
          <a:prstGeom prst="roundRect">
            <a:avLst>
              <a:gd fmla="val 50000" name="adj"/>
            </a:avLst>
          </a:prstGeom>
          <a:solidFill>
            <a:srgbClr val="7A2233"/>
          </a:solidFill>
          <a:ln>
            <a:noFill/>
          </a:ln>
        </p:spPr>
        <p:txBody>
          <a:bodyPr anchorCtr="0" anchor="ctr" bIns="115200" lIns="115200" spcFirstLastPara="1" rIns="115200" wrap="square" tIns="115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4"/>
          <p:cNvSpPr txBox="1"/>
          <p:nvPr/>
        </p:nvSpPr>
        <p:spPr>
          <a:xfrm>
            <a:off x="8198709" y="2468866"/>
            <a:ext cx="2727000" cy="34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638"/>
              <a:buFont typeface="Calibri"/>
              <a:buNone/>
            </a:pPr>
            <a:r>
              <a:rPr b="1" i="0" lang="en-US" sz="1638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Pattern Intersections</a:t>
            </a:r>
            <a:endParaRPr b="0" i="0" sz="163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4"/>
          <p:cNvSpPr txBox="1"/>
          <p:nvPr/>
        </p:nvSpPr>
        <p:spPr>
          <a:xfrm>
            <a:off x="8198709" y="2837557"/>
            <a:ext cx="2727000" cy="51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260"/>
              <a:buFont typeface="Calibri"/>
              <a:buNone/>
            </a:pPr>
            <a:r>
              <a:rPr b="0" i="0" lang="en-US" sz="126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Shared neighbor identification.</a:t>
            </a:r>
            <a:endParaRPr b="0" i="0" sz="126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260"/>
              <a:buFont typeface="Calibri"/>
              <a:buNone/>
            </a:pPr>
            <a:r>
              <a:rPr b="0" i="0" lang="en-US" sz="126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Relational set difference.</a:t>
            </a:r>
            <a:endParaRPr b="0" i="0" sz="126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4"/>
          <p:cNvSpPr/>
          <p:nvPr/>
        </p:nvSpPr>
        <p:spPr>
          <a:xfrm>
            <a:off x="647376" y="3683407"/>
            <a:ext cx="489900" cy="283800"/>
          </a:xfrm>
          <a:prstGeom prst="roundRect">
            <a:avLst>
              <a:gd fmla="val 22727" name="adj"/>
            </a:avLst>
          </a:prstGeom>
          <a:solidFill>
            <a:srgbClr val="7A2233"/>
          </a:solidFill>
          <a:ln>
            <a:noFill/>
          </a:ln>
        </p:spPr>
        <p:txBody>
          <a:bodyPr anchorCtr="0" anchor="ctr" bIns="128900" lIns="128900" spcFirstLastPara="1" rIns="128900" wrap="square" tIns="128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4"/>
          <p:cNvSpPr txBox="1"/>
          <p:nvPr/>
        </p:nvSpPr>
        <p:spPr>
          <a:xfrm>
            <a:off x="647376" y="3683407"/>
            <a:ext cx="489900" cy="28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8"/>
              <a:buFont typeface="Calibri"/>
              <a:buNone/>
            </a:pPr>
            <a:r>
              <a:rPr b="1" i="0" lang="en-US" sz="1128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A1</a:t>
            </a:r>
            <a:endParaRPr b="0" i="0" sz="112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4"/>
          <p:cNvSpPr txBox="1"/>
          <p:nvPr/>
        </p:nvSpPr>
        <p:spPr>
          <a:xfrm>
            <a:off x="1291904" y="3657625"/>
            <a:ext cx="109572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339"/>
              <a:buFont typeface="Calibri"/>
              <a:buNone/>
            </a:pPr>
            <a:r>
              <a:rPr b="1" i="0" lang="en-US" sz="1339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Single Node Search</a:t>
            </a:r>
            <a:r>
              <a:rPr b="0" i="0" lang="en-US" sz="1269" u="none" cap="none" strike="noStrike">
                <a:solidFill>
                  <a:srgbClr val="7A7A7A"/>
                </a:solidFill>
                <a:latin typeface="Calibri"/>
                <a:ea typeface="Calibri"/>
                <a:cs typeface="Calibri"/>
                <a:sym typeface="Calibri"/>
              </a:rPr>
              <a:t>  —  Find a concept by its URI — primary key index lookup.</a:t>
            </a:r>
            <a:endParaRPr b="0" i="0" sz="133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4"/>
          <p:cNvSpPr/>
          <p:nvPr/>
        </p:nvSpPr>
        <p:spPr>
          <a:xfrm>
            <a:off x="647376" y="4070125"/>
            <a:ext cx="489900" cy="283800"/>
          </a:xfrm>
          <a:prstGeom prst="roundRect">
            <a:avLst>
              <a:gd fmla="val 22727" name="adj"/>
            </a:avLst>
          </a:prstGeom>
          <a:solidFill>
            <a:srgbClr val="7A2233"/>
          </a:solidFill>
          <a:ln>
            <a:noFill/>
          </a:ln>
        </p:spPr>
        <p:txBody>
          <a:bodyPr anchorCtr="0" anchor="ctr" bIns="128900" lIns="128900" spcFirstLastPara="1" rIns="128900" wrap="square" tIns="128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4"/>
          <p:cNvSpPr txBox="1"/>
          <p:nvPr/>
        </p:nvSpPr>
        <p:spPr>
          <a:xfrm>
            <a:off x="647376" y="4070125"/>
            <a:ext cx="489900" cy="28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8"/>
              <a:buFont typeface="Calibri"/>
              <a:buNone/>
            </a:pPr>
            <a:r>
              <a:rPr b="1" i="0" lang="en-US" sz="1128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A6</a:t>
            </a:r>
            <a:endParaRPr b="0" i="0" sz="112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4"/>
          <p:cNvSpPr txBox="1"/>
          <p:nvPr/>
        </p:nvSpPr>
        <p:spPr>
          <a:xfrm>
            <a:off x="1291904" y="4044343"/>
            <a:ext cx="109572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339"/>
              <a:buFont typeface="Calibri"/>
              <a:buNone/>
            </a:pPr>
            <a:r>
              <a:rPr b="1" i="0" lang="en-US" sz="1339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Range Selection</a:t>
            </a:r>
            <a:r>
              <a:rPr b="0" i="0" lang="en-US" sz="1269" u="none" cap="none" strike="noStrike">
                <a:solidFill>
                  <a:srgbClr val="7A7A7A"/>
                </a:solidFill>
                <a:latin typeface="Calibri"/>
                <a:ea typeface="Calibri"/>
                <a:cs typeface="Calibri"/>
                <a:sym typeface="Calibri"/>
              </a:rPr>
              <a:t>  —  All concepts whose name falls within a lexicographic range (e.g. 'cell' to 'gene').</a:t>
            </a:r>
            <a:endParaRPr b="0" i="0" sz="133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4"/>
          <p:cNvSpPr/>
          <p:nvPr/>
        </p:nvSpPr>
        <p:spPr>
          <a:xfrm>
            <a:off x="647376" y="4456843"/>
            <a:ext cx="489900" cy="283800"/>
          </a:xfrm>
          <a:prstGeom prst="roundRect">
            <a:avLst>
              <a:gd fmla="val 22727" name="adj"/>
            </a:avLst>
          </a:prstGeom>
          <a:solidFill>
            <a:srgbClr val="7A2233"/>
          </a:solidFill>
          <a:ln>
            <a:noFill/>
          </a:ln>
        </p:spPr>
        <p:txBody>
          <a:bodyPr anchorCtr="0" anchor="ctr" bIns="128900" lIns="128900" spcFirstLastPara="1" rIns="128900" wrap="square" tIns="128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4"/>
          <p:cNvSpPr txBox="1"/>
          <p:nvPr/>
        </p:nvSpPr>
        <p:spPr>
          <a:xfrm>
            <a:off x="647376" y="4456843"/>
            <a:ext cx="489900" cy="28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8"/>
              <a:buFont typeface="Calibri"/>
              <a:buNone/>
            </a:pPr>
            <a:r>
              <a:rPr b="1" i="0" lang="en-US" sz="1128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A2</a:t>
            </a:r>
            <a:endParaRPr b="0" i="0" sz="112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4"/>
          <p:cNvSpPr txBox="1"/>
          <p:nvPr/>
        </p:nvSpPr>
        <p:spPr>
          <a:xfrm>
            <a:off x="1291904" y="4431061"/>
            <a:ext cx="109572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339"/>
              <a:buFont typeface="Calibri"/>
              <a:buNone/>
            </a:pPr>
            <a:r>
              <a:rPr b="1" i="0" lang="en-US" sz="1339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Full Relation Table</a:t>
            </a:r>
            <a:r>
              <a:rPr b="0" i="0" lang="en-US" sz="1269" u="none" cap="none" strike="noStrike">
                <a:solidFill>
                  <a:srgbClr val="7A7A7A"/>
                </a:solidFill>
                <a:latin typeface="Calibri"/>
                <a:ea typeface="Calibri"/>
                <a:cs typeface="Calibri"/>
                <a:sym typeface="Calibri"/>
              </a:rPr>
              <a:t>  —  All outgoing relations of a concept, ranked by weight.</a:t>
            </a:r>
            <a:endParaRPr b="0" i="0" sz="133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4"/>
          <p:cNvSpPr/>
          <p:nvPr/>
        </p:nvSpPr>
        <p:spPr>
          <a:xfrm>
            <a:off x="647376" y="4843561"/>
            <a:ext cx="489900" cy="283800"/>
          </a:xfrm>
          <a:prstGeom prst="roundRect">
            <a:avLst>
              <a:gd fmla="val 22727" name="adj"/>
            </a:avLst>
          </a:prstGeom>
          <a:solidFill>
            <a:srgbClr val="7A2233"/>
          </a:solidFill>
          <a:ln>
            <a:noFill/>
          </a:ln>
        </p:spPr>
        <p:txBody>
          <a:bodyPr anchorCtr="0" anchor="ctr" bIns="128900" lIns="128900" spcFirstLastPara="1" rIns="128900" wrap="square" tIns="128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4"/>
          <p:cNvSpPr txBox="1"/>
          <p:nvPr/>
        </p:nvSpPr>
        <p:spPr>
          <a:xfrm>
            <a:off x="647376" y="4843561"/>
            <a:ext cx="489900" cy="28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8"/>
              <a:buFont typeface="Calibri"/>
              <a:buNone/>
            </a:pPr>
            <a:r>
              <a:rPr b="1" i="0" lang="en-US" sz="1128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A3</a:t>
            </a:r>
            <a:endParaRPr b="0" i="0" sz="112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4"/>
          <p:cNvSpPr txBox="1"/>
          <p:nvPr/>
        </p:nvSpPr>
        <p:spPr>
          <a:xfrm>
            <a:off x="1291904" y="4817779"/>
            <a:ext cx="109572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339"/>
              <a:buFont typeface="Calibri"/>
              <a:buNone/>
            </a:pPr>
            <a:r>
              <a:rPr b="1" i="0" lang="en-US" sz="1339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Relation 1-hop</a:t>
            </a:r>
            <a:r>
              <a:rPr b="0" i="0" lang="en-US" sz="1269" u="none" cap="none" strike="noStrike">
                <a:solidFill>
                  <a:srgbClr val="7A7A7A"/>
                </a:solidFill>
                <a:latin typeface="Calibri"/>
                <a:ea typeface="Calibri"/>
                <a:cs typeface="Calibri"/>
                <a:sym typeface="Calibri"/>
              </a:rPr>
              <a:t>  —  Follow a specific relation to a target node type (e.g. cell→CapableOf→Action).</a:t>
            </a:r>
            <a:endParaRPr b="0" i="0" sz="133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4"/>
          <p:cNvSpPr/>
          <p:nvPr/>
        </p:nvSpPr>
        <p:spPr>
          <a:xfrm>
            <a:off x="647376" y="5230279"/>
            <a:ext cx="489900" cy="283800"/>
          </a:xfrm>
          <a:prstGeom prst="roundRect">
            <a:avLst>
              <a:gd fmla="val 22727" name="adj"/>
            </a:avLst>
          </a:prstGeom>
          <a:solidFill>
            <a:srgbClr val="7A2233"/>
          </a:solidFill>
          <a:ln>
            <a:noFill/>
          </a:ln>
        </p:spPr>
        <p:txBody>
          <a:bodyPr anchorCtr="0" anchor="ctr" bIns="128900" lIns="128900" spcFirstLastPara="1" rIns="128900" wrap="square" tIns="128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4"/>
          <p:cNvSpPr txBox="1"/>
          <p:nvPr/>
        </p:nvSpPr>
        <p:spPr>
          <a:xfrm>
            <a:off x="647376" y="5230279"/>
            <a:ext cx="489900" cy="28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8"/>
              <a:buFont typeface="Calibri"/>
              <a:buNone/>
            </a:pPr>
            <a:r>
              <a:rPr b="1" i="0" lang="en-US" sz="1128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A4</a:t>
            </a:r>
            <a:endParaRPr b="0" i="0" sz="112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4"/>
          <p:cNvSpPr txBox="1"/>
          <p:nvPr/>
        </p:nvSpPr>
        <p:spPr>
          <a:xfrm>
            <a:off x="1291904" y="5204497"/>
            <a:ext cx="109572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339"/>
              <a:buFont typeface="Calibri"/>
              <a:buNone/>
            </a:pPr>
            <a:r>
              <a:rPr b="1" i="0" lang="en-US" sz="1339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Directed vs. Undirected</a:t>
            </a:r>
            <a:r>
              <a:rPr b="0" i="0" lang="en-US" sz="1269" u="none" cap="none" strike="noStrike">
                <a:solidFill>
                  <a:srgbClr val="7A7A7A"/>
                </a:solidFill>
                <a:latin typeface="Calibri"/>
                <a:ea typeface="Calibri"/>
                <a:cs typeface="Calibri"/>
                <a:sym typeface="Calibri"/>
              </a:rPr>
              <a:t>  —  Compare incoming-edge lookup with bidirectional traversal on symmetric relations.</a:t>
            </a:r>
            <a:endParaRPr b="0" i="0" sz="133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4"/>
          <p:cNvSpPr/>
          <p:nvPr/>
        </p:nvSpPr>
        <p:spPr>
          <a:xfrm>
            <a:off x="647376" y="5616996"/>
            <a:ext cx="489900" cy="283800"/>
          </a:xfrm>
          <a:prstGeom prst="roundRect">
            <a:avLst>
              <a:gd fmla="val 22727" name="adj"/>
            </a:avLst>
          </a:prstGeom>
          <a:solidFill>
            <a:srgbClr val="7A2233"/>
          </a:solidFill>
          <a:ln>
            <a:noFill/>
          </a:ln>
        </p:spPr>
        <p:txBody>
          <a:bodyPr anchorCtr="0" anchor="ctr" bIns="128900" lIns="128900" spcFirstLastPara="1" rIns="128900" wrap="square" tIns="128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4"/>
          <p:cNvSpPr txBox="1"/>
          <p:nvPr/>
        </p:nvSpPr>
        <p:spPr>
          <a:xfrm>
            <a:off x="647376" y="5616996"/>
            <a:ext cx="489900" cy="28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8"/>
              <a:buFont typeface="Calibri"/>
              <a:buNone/>
            </a:pPr>
            <a:r>
              <a:rPr b="1" i="0" lang="en-US" sz="1128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A5</a:t>
            </a:r>
            <a:endParaRPr b="0" i="0" sz="112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4"/>
          <p:cNvSpPr txBox="1"/>
          <p:nvPr/>
        </p:nvSpPr>
        <p:spPr>
          <a:xfrm>
            <a:off x="1291904" y="5591215"/>
            <a:ext cx="109572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339"/>
              <a:buFont typeface="Calibri"/>
              <a:buNone/>
            </a:pPr>
            <a:r>
              <a:rPr b="1" i="0" lang="en-US" sz="1339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Relation Pair Intersection</a:t>
            </a:r>
            <a:r>
              <a:rPr b="0" i="0" lang="en-US" sz="1269" u="none" cap="none" strike="noStrike">
                <a:solidFill>
                  <a:srgbClr val="7A7A7A"/>
                </a:solidFill>
                <a:latin typeface="Calibri"/>
                <a:ea typeface="Calibri"/>
                <a:cs typeface="Calibri"/>
                <a:sym typeface="Calibri"/>
              </a:rPr>
              <a:t>  —  Concepts related to both A and B via the same relation type.</a:t>
            </a:r>
            <a:endParaRPr b="0" i="0" sz="133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4"/>
          <p:cNvSpPr/>
          <p:nvPr/>
        </p:nvSpPr>
        <p:spPr>
          <a:xfrm>
            <a:off x="647376" y="6003714"/>
            <a:ext cx="489900" cy="283800"/>
          </a:xfrm>
          <a:prstGeom prst="roundRect">
            <a:avLst>
              <a:gd fmla="val 22727" name="adj"/>
            </a:avLst>
          </a:prstGeom>
          <a:solidFill>
            <a:srgbClr val="7A2233"/>
          </a:solidFill>
          <a:ln>
            <a:noFill/>
          </a:ln>
        </p:spPr>
        <p:txBody>
          <a:bodyPr anchorCtr="0" anchor="ctr" bIns="128900" lIns="128900" spcFirstLastPara="1" rIns="128900" wrap="square" tIns="128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4"/>
          <p:cNvSpPr txBox="1"/>
          <p:nvPr/>
        </p:nvSpPr>
        <p:spPr>
          <a:xfrm>
            <a:off x="647376" y="6003714"/>
            <a:ext cx="489900" cy="28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8"/>
              <a:buFont typeface="Calibri"/>
              <a:buNone/>
            </a:pPr>
            <a:r>
              <a:rPr b="1" i="0" lang="en-US" sz="1128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A7</a:t>
            </a:r>
            <a:endParaRPr b="0" i="0" sz="112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4"/>
          <p:cNvSpPr txBox="1"/>
          <p:nvPr/>
        </p:nvSpPr>
        <p:spPr>
          <a:xfrm>
            <a:off x="1291904" y="5977933"/>
            <a:ext cx="109572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339"/>
              <a:buFont typeface="Calibri"/>
              <a:buNone/>
            </a:pPr>
            <a:r>
              <a:rPr b="1" i="0" lang="en-US" sz="1339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Neighborhood Difference</a:t>
            </a:r>
            <a:r>
              <a:rPr b="0" i="0" lang="en-US" sz="1269" u="none" cap="none" strike="noStrike">
                <a:solidFill>
                  <a:srgbClr val="7A7A7A"/>
                </a:solidFill>
                <a:latin typeface="Calibri"/>
                <a:ea typeface="Calibri"/>
                <a:cs typeface="Calibri"/>
                <a:sym typeface="Calibri"/>
              </a:rPr>
              <a:t>  —  Concepts related to A but not to B — tests anti-join / NOT EXISTS.</a:t>
            </a:r>
            <a:endParaRPr b="0" i="0" sz="133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4"/>
          <p:cNvSpPr txBox="1"/>
          <p:nvPr/>
        </p:nvSpPr>
        <p:spPr>
          <a:xfrm>
            <a:off x="731520" y="810667"/>
            <a:ext cx="10728900" cy="6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4000"/>
              <a:buFont typeface="Calibri"/>
              <a:buNone/>
            </a:pPr>
            <a:r>
              <a:rPr b="1" i="0" lang="en-US" sz="30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Family </a:t>
            </a:r>
            <a:r>
              <a:rPr b="1" lang="en-US" sz="30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A: Local Retrieval</a:t>
            </a:r>
            <a:endParaRPr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4"/>
          <p:cNvSpPr/>
          <p:nvPr/>
        </p:nvSpPr>
        <p:spPr>
          <a:xfrm>
            <a:off x="571475" y="1400150"/>
            <a:ext cx="11049000" cy="28500"/>
          </a:xfrm>
          <a:prstGeom prst="rect">
            <a:avLst/>
          </a:prstGeom>
          <a:solidFill>
            <a:srgbClr val="8224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fbe76f6726_0_240"/>
          <p:cNvSpPr/>
          <p:nvPr/>
        </p:nvSpPr>
        <p:spPr>
          <a:xfrm>
            <a:off x="0" y="0"/>
            <a:ext cx="12192000" cy="97500"/>
          </a:xfrm>
          <a:prstGeom prst="rect">
            <a:avLst/>
          </a:prstGeom>
          <a:solidFill>
            <a:srgbClr val="7A2233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g3fbe76f6726_0_240"/>
          <p:cNvSpPr/>
          <p:nvPr/>
        </p:nvSpPr>
        <p:spPr>
          <a:xfrm>
            <a:off x="0" y="6760464"/>
            <a:ext cx="12192000" cy="97500"/>
          </a:xfrm>
          <a:prstGeom prst="rect">
            <a:avLst/>
          </a:prstGeom>
          <a:solidFill>
            <a:srgbClr val="7A2233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g3fbe76f6726_0_240"/>
          <p:cNvSpPr txBox="1"/>
          <p:nvPr/>
        </p:nvSpPr>
        <p:spPr>
          <a:xfrm>
            <a:off x="609600" y="341376"/>
            <a:ext cx="6096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23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7A2233"/>
                </a:solidFill>
                <a:latin typeface="Calibri"/>
                <a:ea typeface="Calibri"/>
                <a:cs typeface="Calibri"/>
                <a:sym typeface="Calibri"/>
              </a:rPr>
              <a:t>BENCHMARK — FAMILY 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g3fbe76f6726_0_240"/>
          <p:cNvSpPr txBox="1"/>
          <p:nvPr/>
        </p:nvSpPr>
        <p:spPr>
          <a:xfrm>
            <a:off x="609600" y="707136"/>
            <a:ext cx="10972800" cy="58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3500"/>
              <a:buFont typeface="Calibri"/>
              <a:buNone/>
            </a:pPr>
            <a:r>
              <a:rPr b="1" i="0" lang="en-US" sz="35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Local Retrieval — Results</a:t>
            </a:r>
            <a:endParaRPr b="0" i="0" sz="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g3fbe76f6726_0_240"/>
          <p:cNvSpPr txBox="1"/>
          <p:nvPr/>
        </p:nvSpPr>
        <p:spPr>
          <a:xfrm>
            <a:off x="731475" y="4349433"/>
            <a:ext cx="109728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500"/>
              <a:buFont typeface="Calibri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g3fbe76f6726_0_240"/>
          <p:cNvSpPr/>
          <p:nvPr/>
        </p:nvSpPr>
        <p:spPr>
          <a:xfrm>
            <a:off x="487655" y="2536110"/>
            <a:ext cx="11216700" cy="341100"/>
          </a:xfrm>
          <a:prstGeom prst="roundRect">
            <a:avLst>
              <a:gd fmla="val 14286" name="adj"/>
            </a:avLst>
          </a:prstGeom>
          <a:solidFill>
            <a:srgbClr val="7A2233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g3fbe76f6726_0_240"/>
          <p:cNvSpPr txBox="1"/>
          <p:nvPr/>
        </p:nvSpPr>
        <p:spPr>
          <a:xfrm>
            <a:off x="609575" y="2536110"/>
            <a:ext cx="512100" cy="34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Query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g3fbe76f6726_0_240"/>
          <p:cNvSpPr txBox="1"/>
          <p:nvPr/>
        </p:nvSpPr>
        <p:spPr>
          <a:xfrm>
            <a:off x="1280135" y="2536110"/>
            <a:ext cx="1219200" cy="34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SQL (ms)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g3fbe76f6726_0_240"/>
          <p:cNvSpPr txBox="1"/>
          <p:nvPr/>
        </p:nvSpPr>
        <p:spPr>
          <a:xfrm>
            <a:off x="2560295" y="2536110"/>
            <a:ext cx="1219200" cy="34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Cypher (ms)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g3fbe76f6726_0_240"/>
          <p:cNvSpPr txBox="1"/>
          <p:nvPr/>
        </p:nvSpPr>
        <p:spPr>
          <a:xfrm>
            <a:off x="3901415" y="2536110"/>
            <a:ext cx="853500" cy="34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Winner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g3fbe76f6726_0_240"/>
          <p:cNvSpPr txBox="1"/>
          <p:nvPr/>
        </p:nvSpPr>
        <p:spPr>
          <a:xfrm>
            <a:off x="4937735" y="2536110"/>
            <a:ext cx="6705600" cy="34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Analysis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g3fbe76f6726_0_240"/>
          <p:cNvSpPr/>
          <p:nvPr/>
        </p:nvSpPr>
        <p:spPr>
          <a:xfrm>
            <a:off x="487655" y="2938446"/>
            <a:ext cx="11216700" cy="390000"/>
          </a:xfrm>
          <a:prstGeom prst="roundRect">
            <a:avLst>
              <a:gd fmla="val 12500" name="adj"/>
            </a:avLst>
          </a:prstGeom>
          <a:solidFill>
            <a:srgbClr val="F3EAEB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g3fbe76f6726_0_240"/>
          <p:cNvSpPr/>
          <p:nvPr/>
        </p:nvSpPr>
        <p:spPr>
          <a:xfrm>
            <a:off x="609575" y="2987214"/>
            <a:ext cx="512100" cy="292800"/>
          </a:xfrm>
          <a:prstGeom prst="roundRect">
            <a:avLst>
              <a:gd fmla="val 20833" name="adj"/>
            </a:avLst>
          </a:prstGeom>
          <a:solidFill>
            <a:srgbClr val="7A2233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g3fbe76f6726_0_240"/>
          <p:cNvSpPr txBox="1"/>
          <p:nvPr/>
        </p:nvSpPr>
        <p:spPr>
          <a:xfrm>
            <a:off x="609575" y="2987214"/>
            <a:ext cx="512100" cy="29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g3fbe76f6726_0_240"/>
          <p:cNvSpPr txBox="1"/>
          <p:nvPr/>
        </p:nvSpPr>
        <p:spPr>
          <a:xfrm>
            <a:off x="1280135" y="2938446"/>
            <a:ext cx="12192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0.</a:t>
            </a:r>
            <a:r>
              <a:rPr b="1" lang="en-US" sz="13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g3fbe76f6726_0_240"/>
          <p:cNvSpPr txBox="1"/>
          <p:nvPr/>
        </p:nvSpPr>
        <p:spPr>
          <a:xfrm>
            <a:off x="2560295" y="2938446"/>
            <a:ext cx="12192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1" lang="en-US" sz="13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2.34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g3fbe76f6726_0_240"/>
          <p:cNvSpPr/>
          <p:nvPr/>
        </p:nvSpPr>
        <p:spPr>
          <a:xfrm>
            <a:off x="3901415" y="2987214"/>
            <a:ext cx="853500" cy="292800"/>
          </a:xfrm>
          <a:prstGeom prst="roundRect">
            <a:avLst>
              <a:gd fmla="val 50000" name="adj"/>
            </a:avLst>
          </a:prstGeom>
          <a:solidFill>
            <a:srgbClr val="E8F5EE"/>
          </a:solidFill>
          <a:ln cap="flat" cmpd="sng" w="12700">
            <a:solidFill>
              <a:srgbClr val="2E7D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g3fbe76f6726_0_240"/>
          <p:cNvSpPr txBox="1"/>
          <p:nvPr/>
        </p:nvSpPr>
        <p:spPr>
          <a:xfrm>
            <a:off x="3901415" y="2987214"/>
            <a:ext cx="853500" cy="29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5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E7D52"/>
                </a:solidFill>
                <a:latin typeface="Calibri"/>
                <a:ea typeface="Calibri"/>
                <a:cs typeface="Calibri"/>
                <a:sym typeface="Calibri"/>
              </a:rPr>
              <a:t>SQL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g3fbe76f6726_0_240"/>
          <p:cNvSpPr txBox="1"/>
          <p:nvPr/>
        </p:nvSpPr>
        <p:spPr>
          <a:xfrm>
            <a:off x="4937735" y="2938446"/>
            <a:ext cx="67056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URI lookup: </a:t>
            </a:r>
            <a:r>
              <a:rPr lang="en-US" sz="11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SQL 94x faster - Memgraph’s property index wasn’t used for this lookup.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g3fbe76f6726_0_240"/>
          <p:cNvSpPr/>
          <p:nvPr/>
        </p:nvSpPr>
        <p:spPr>
          <a:xfrm>
            <a:off x="487655" y="3365166"/>
            <a:ext cx="11216700" cy="390000"/>
          </a:xfrm>
          <a:prstGeom prst="roundRect">
            <a:avLst>
              <a:gd fmla="val 12500" name="adj"/>
            </a:avLst>
          </a:prstGeom>
          <a:solidFill>
            <a:srgbClr val="F3EAEB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g3fbe76f6726_0_240"/>
          <p:cNvSpPr/>
          <p:nvPr/>
        </p:nvSpPr>
        <p:spPr>
          <a:xfrm>
            <a:off x="609575" y="3413934"/>
            <a:ext cx="512100" cy="292800"/>
          </a:xfrm>
          <a:prstGeom prst="roundRect">
            <a:avLst>
              <a:gd fmla="val 20833" name="adj"/>
            </a:avLst>
          </a:prstGeom>
          <a:solidFill>
            <a:srgbClr val="7A2233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g3fbe76f6726_0_240"/>
          <p:cNvSpPr txBox="1"/>
          <p:nvPr/>
        </p:nvSpPr>
        <p:spPr>
          <a:xfrm>
            <a:off x="609575" y="3413934"/>
            <a:ext cx="512100" cy="29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g3fbe76f6726_0_240"/>
          <p:cNvSpPr txBox="1"/>
          <p:nvPr/>
        </p:nvSpPr>
        <p:spPr>
          <a:xfrm>
            <a:off x="1280135" y="3365166"/>
            <a:ext cx="12192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0.</a:t>
            </a:r>
            <a:r>
              <a:rPr b="1" lang="en-US" sz="13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51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g3fbe76f6726_0_240"/>
          <p:cNvSpPr txBox="1"/>
          <p:nvPr/>
        </p:nvSpPr>
        <p:spPr>
          <a:xfrm>
            <a:off x="2560295" y="3365166"/>
            <a:ext cx="12192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1.</a:t>
            </a:r>
            <a:r>
              <a:rPr b="1" lang="en-US" sz="13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64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g3fbe76f6726_0_240"/>
          <p:cNvSpPr/>
          <p:nvPr/>
        </p:nvSpPr>
        <p:spPr>
          <a:xfrm>
            <a:off x="3901415" y="3413934"/>
            <a:ext cx="853500" cy="292800"/>
          </a:xfrm>
          <a:prstGeom prst="roundRect">
            <a:avLst>
              <a:gd fmla="val 50000" name="adj"/>
            </a:avLst>
          </a:prstGeom>
          <a:solidFill>
            <a:srgbClr val="E8F5EE"/>
          </a:solidFill>
          <a:ln cap="flat" cmpd="sng" w="12700">
            <a:solidFill>
              <a:srgbClr val="2E7D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g3fbe76f6726_0_240"/>
          <p:cNvSpPr txBox="1"/>
          <p:nvPr/>
        </p:nvSpPr>
        <p:spPr>
          <a:xfrm>
            <a:off x="3901415" y="3413934"/>
            <a:ext cx="853500" cy="29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5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E7D52"/>
                </a:solidFill>
                <a:latin typeface="Calibri"/>
                <a:ea typeface="Calibri"/>
                <a:cs typeface="Calibri"/>
                <a:sym typeface="Calibri"/>
              </a:rPr>
              <a:t>SQL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g3fbe76f6726_0_240"/>
          <p:cNvSpPr txBox="1"/>
          <p:nvPr/>
        </p:nvSpPr>
        <p:spPr>
          <a:xfrm>
            <a:off x="4937735" y="3365166"/>
            <a:ext cx="67056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Relation table: SQL 2.8× faster — JOIN chain well-optimized by MySQL planner.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g3fbe76f6726_0_240"/>
          <p:cNvSpPr/>
          <p:nvPr/>
        </p:nvSpPr>
        <p:spPr>
          <a:xfrm>
            <a:off x="487655" y="3791886"/>
            <a:ext cx="11216700" cy="390000"/>
          </a:xfrm>
          <a:prstGeom prst="roundRect">
            <a:avLst>
              <a:gd fmla="val 12500" name="adj"/>
            </a:avLst>
          </a:prstGeom>
          <a:solidFill>
            <a:srgbClr val="F3EAEB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g3fbe76f6726_0_240"/>
          <p:cNvSpPr/>
          <p:nvPr/>
        </p:nvSpPr>
        <p:spPr>
          <a:xfrm>
            <a:off x="609575" y="3840654"/>
            <a:ext cx="512100" cy="292800"/>
          </a:xfrm>
          <a:prstGeom prst="roundRect">
            <a:avLst>
              <a:gd fmla="val 20833" name="adj"/>
            </a:avLst>
          </a:prstGeom>
          <a:solidFill>
            <a:srgbClr val="7A2233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g3fbe76f6726_0_240"/>
          <p:cNvSpPr txBox="1"/>
          <p:nvPr/>
        </p:nvSpPr>
        <p:spPr>
          <a:xfrm>
            <a:off x="609575" y="3840654"/>
            <a:ext cx="512100" cy="29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g3fbe76f6726_0_240"/>
          <p:cNvSpPr txBox="1"/>
          <p:nvPr/>
        </p:nvSpPr>
        <p:spPr>
          <a:xfrm>
            <a:off x="1280135" y="3791886"/>
            <a:ext cx="12192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0.3</a:t>
            </a:r>
            <a:r>
              <a:rPr b="1" lang="en-US" sz="13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g3fbe76f6726_0_240"/>
          <p:cNvSpPr txBox="1"/>
          <p:nvPr/>
        </p:nvSpPr>
        <p:spPr>
          <a:xfrm>
            <a:off x="2560295" y="3791886"/>
            <a:ext cx="12192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0.95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g3fbe76f6726_0_240"/>
          <p:cNvSpPr txBox="1"/>
          <p:nvPr/>
        </p:nvSpPr>
        <p:spPr>
          <a:xfrm>
            <a:off x="3901415" y="4242992"/>
            <a:ext cx="853500" cy="29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5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E7D52"/>
                </a:solidFill>
                <a:latin typeface="Calibri"/>
                <a:ea typeface="Calibri"/>
                <a:cs typeface="Calibri"/>
                <a:sym typeface="Calibri"/>
              </a:rPr>
              <a:t>SQL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g3fbe76f6726_0_240"/>
          <p:cNvSpPr txBox="1"/>
          <p:nvPr/>
        </p:nvSpPr>
        <p:spPr>
          <a:xfrm>
            <a:off x="4937735" y="3791886"/>
            <a:ext cx="67056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1-hop typed: near tie — both engines handle single-hop efficiently.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g3fbe76f6726_0_240"/>
          <p:cNvSpPr/>
          <p:nvPr/>
        </p:nvSpPr>
        <p:spPr>
          <a:xfrm>
            <a:off x="487655" y="4218606"/>
            <a:ext cx="11216700" cy="390000"/>
          </a:xfrm>
          <a:prstGeom prst="roundRect">
            <a:avLst>
              <a:gd fmla="val 12500" name="adj"/>
            </a:avLst>
          </a:prstGeom>
          <a:solidFill>
            <a:srgbClr val="F3EAEB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g3fbe76f6726_0_240"/>
          <p:cNvSpPr/>
          <p:nvPr/>
        </p:nvSpPr>
        <p:spPr>
          <a:xfrm>
            <a:off x="609575" y="4267374"/>
            <a:ext cx="512100" cy="292800"/>
          </a:xfrm>
          <a:prstGeom prst="roundRect">
            <a:avLst>
              <a:gd fmla="val 20833" name="adj"/>
            </a:avLst>
          </a:prstGeom>
          <a:solidFill>
            <a:srgbClr val="7A2233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g3fbe76f6726_0_240"/>
          <p:cNvSpPr txBox="1"/>
          <p:nvPr/>
        </p:nvSpPr>
        <p:spPr>
          <a:xfrm>
            <a:off x="609575" y="4267374"/>
            <a:ext cx="512100" cy="29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A4a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g3fbe76f6726_0_240"/>
          <p:cNvSpPr txBox="1"/>
          <p:nvPr/>
        </p:nvSpPr>
        <p:spPr>
          <a:xfrm>
            <a:off x="1280135" y="4218606"/>
            <a:ext cx="12192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0.</a:t>
            </a:r>
            <a:r>
              <a:rPr b="1" lang="en-US" sz="13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47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g3fbe76f6726_0_240"/>
          <p:cNvSpPr txBox="1"/>
          <p:nvPr/>
        </p:nvSpPr>
        <p:spPr>
          <a:xfrm>
            <a:off x="2560295" y="4218606"/>
            <a:ext cx="12192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0.</a:t>
            </a:r>
            <a:r>
              <a:rPr b="1" lang="en-US" sz="13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93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g3fbe76f6726_0_240"/>
          <p:cNvSpPr txBox="1"/>
          <p:nvPr/>
        </p:nvSpPr>
        <p:spPr>
          <a:xfrm>
            <a:off x="4937735" y="4218606"/>
            <a:ext cx="67056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Directed (reverse): SQL slightly faster on incoming-edge indexed lookup.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g3fbe76f6726_0_240"/>
          <p:cNvSpPr/>
          <p:nvPr/>
        </p:nvSpPr>
        <p:spPr>
          <a:xfrm>
            <a:off x="487655" y="4645326"/>
            <a:ext cx="11216700" cy="390000"/>
          </a:xfrm>
          <a:prstGeom prst="roundRect">
            <a:avLst>
              <a:gd fmla="val 12500" name="adj"/>
            </a:avLst>
          </a:prstGeom>
          <a:solidFill>
            <a:srgbClr val="F3EAEB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g3fbe76f6726_0_240"/>
          <p:cNvSpPr/>
          <p:nvPr/>
        </p:nvSpPr>
        <p:spPr>
          <a:xfrm>
            <a:off x="609575" y="4694094"/>
            <a:ext cx="512100" cy="292800"/>
          </a:xfrm>
          <a:prstGeom prst="roundRect">
            <a:avLst>
              <a:gd fmla="val 20833" name="adj"/>
            </a:avLst>
          </a:prstGeom>
          <a:solidFill>
            <a:srgbClr val="7A2233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g3fbe76f6726_0_240"/>
          <p:cNvSpPr txBox="1"/>
          <p:nvPr/>
        </p:nvSpPr>
        <p:spPr>
          <a:xfrm>
            <a:off x="609575" y="4694094"/>
            <a:ext cx="512100" cy="29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A4b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g3fbe76f6726_0_240"/>
          <p:cNvSpPr txBox="1"/>
          <p:nvPr/>
        </p:nvSpPr>
        <p:spPr>
          <a:xfrm>
            <a:off x="1280135" y="4645326"/>
            <a:ext cx="12192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5.54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g3fbe76f6726_0_240"/>
          <p:cNvSpPr txBox="1"/>
          <p:nvPr/>
        </p:nvSpPr>
        <p:spPr>
          <a:xfrm>
            <a:off x="2560295" y="4645326"/>
            <a:ext cx="12192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1.08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g3fbe76f6726_0_240"/>
          <p:cNvSpPr/>
          <p:nvPr/>
        </p:nvSpPr>
        <p:spPr>
          <a:xfrm>
            <a:off x="3901415" y="4694094"/>
            <a:ext cx="853500" cy="292800"/>
          </a:xfrm>
          <a:prstGeom prst="roundRect">
            <a:avLst>
              <a:gd fmla="val 50000" name="adj"/>
            </a:avLst>
          </a:prstGeom>
          <a:solidFill>
            <a:srgbClr val="F3EAEB"/>
          </a:solidFill>
          <a:ln cap="flat" cmpd="sng" w="12700">
            <a:solidFill>
              <a:srgbClr val="7A22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g3fbe76f6726_0_240"/>
          <p:cNvSpPr txBox="1"/>
          <p:nvPr/>
        </p:nvSpPr>
        <p:spPr>
          <a:xfrm>
            <a:off x="4937735" y="4645326"/>
            <a:ext cx="67056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Undirected: Memgraph 3.4× faster — bidirectional pattern matching is native.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g3fbe76f6726_0_240"/>
          <p:cNvSpPr/>
          <p:nvPr/>
        </p:nvSpPr>
        <p:spPr>
          <a:xfrm>
            <a:off x="487655" y="5072046"/>
            <a:ext cx="11216700" cy="390000"/>
          </a:xfrm>
          <a:prstGeom prst="roundRect">
            <a:avLst>
              <a:gd fmla="val 12500" name="adj"/>
            </a:avLst>
          </a:prstGeom>
          <a:solidFill>
            <a:srgbClr val="F3EAEB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g3fbe76f6726_0_240"/>
          <p:cNvSpPr/>
          <p:nvPr/>
        </p:nvSpPr>
        <p:spPr>
          <a:xfrm>
            <a:off x="609575" y="5120814"/>
            <a:ext cx="512100" cy="292800"/>
          </a:xfrm>
          <a:prstGeom prst="roundRect">
            <a:avLst>
              <a:gd fmla="val 20833" name="adj"/>
            </a:avLst>
          </a:prstGeom>
          <a:solidFill>
            <a:srgbClr val="7A2233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g3fbe76f6726_0_240"/>
          <p:cNvSpPr txBox="1"/>
          <p:nvPr/>
        </p:nvSpPr>
        <p:spPr>
          <a:xfrm>
            <a:off x="609575" y="5120814"/>
            <a:ext cx="512100" cy="29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g3fbe76f6726_0_240"/>
          <p:cNvSpPr txBox="1"/>
          <p:nvPr/>
        </p:nvSpPr>
        <p:spPr>
          <a:xfrm>
            <a:off x="1280135" y="5072046"/>
            <a:ext cx="12192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3.70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g3fbe76f6726_0_240"/>
          <p:cNvSpPr txBox="1"/>
          <p:nvPr/>
        </p:nvSpPr>
        <p:spPr>
          <a:xfrm>
            <a:off x="2560295" y="5072046"/>
            <a:ext cx="12192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1.19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g3fbe76f6726_0_240"/>
          <p:cNvSpPr txBox="1"/>
          <p:nvPr/>
        </p:nvSpPr>
        <p:spPr>
          <a:xfrm>
            <a:off x="4937735" y="5072046"/>
            <a:ext cx="67056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Pair intersection: Memgraph 3.1x faster - the pattern expresses the join topology directly; SQL pays the two-branch self-join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g3fbe76f6726_0_240"/>
          <p:cNvSpPr/>
          <p:nvPr/>
        </p:nvSpPr>
        <p:spPr>
          <a:xfrm>
            <a:off x="487655" y="5498766"/>
            <a:ext cx="11216700" cy="390000"/>
          </a:xfrm>
          <a:prstGeom prst="roundRect">
            <a:avLst>
              <a:gd fmla="val 12500" name="adj"/>
            </a:avLst>
          </a:prstGeom>
          <a:solidFill>
            <a:srgbClr val="F3EAEB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g3fbe76f6726_0_240"/>
          <p:cNvSpPr/>
          <p:nvPr/>
        </p:nvSpPr>
        <p:spPr>
          <a:xfrm>
            <a:off x="609575" y="5547534"/>
            <a:ext cx="512100" cy="292800"/>
          </a:xfrm>
          <a:prstGeom prst="roundRect">
            <a:avLst>
              <a:gd fmla="val 20833" name="adj"/>
            </a:avLst>
          </a:prstGeom>
          <a:solidFill>
            <a:srgbClr val="7A2233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g3fbe76f6726_0_240"/>
          <p:cNvSpPr txBox="1"/>
          <p:nvPr/>
        </p:nvSpPr>
        <p:spPr>
          <a:xfrm>
            <a:off x="609575" y="5547534"/>
            <a:ext cx="512100" cy="29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g3fbe76f6726_0_240"/>
          <p:cNvSpPr txBox="1"/>
          <p:nvPr/>
        </p:nvSpPr>
        <p:spPr>
          <a:xfrm>
            <a:off x="1280135" y="5498766"/>
            <a:ext cx="12192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lang="en-US" sz="13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33.80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g3fbe76f6726_0_240"/>
          <p:cNvSpPr txBox="1"/>
          <p:nvPr/>
        </p:nvSpPr>
        <p:spPr>
          <a:xfrm>
            <a:off x="2560295" y="5498766"/>
            <a:ext cx="12192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r>
              <a:rPr b="1" lang="en-US" sz="13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28.32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g3fbe76f6726_0_240"/>
          <p:cNvSpPr/>
          <p:nvPr/>
        </p:nvSpPr>
        <p:spPr>
          <a:xfrm>
            <a:off x="3901415" y="5547534"/>
            <a:ext cx="853500" cy="292800"/>
          </a:xfrm>
          <a:prstGeom prst="roundRect">
            <a:avLst>
              <a:gd fmla="val 50000" name="adj"/>
            </a:avLst>
          </a:prstGeom>
          <a:solidFill>
            <a:srgbClr val="E8F5EE"/>
          </a:solidFill>
          <a:ln cap="flat" cmpd="sng" w="12700">
            <a:solidFill>
              <a:srgbClr val="2E7D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g3fbe76f6726_0_240"/>
          <p:cNvSpPr txBox="1"/>
          <p:nvPr/>
        </p:nvSpPr>
        <p:spPr>
          <a:xfrm>
            <a:off x="3901415" y="5547534"/>
            <a:ext cx="853500" cy="29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5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E7D52"/>
                </a:solidFill>
                <a:latin typeface="Calibri"/>
                <a:ea typeface="Calibri"/>
                <a:cs typeface="Calibri"/>
                <a:sym typeface="Calibri"/>
              </a:rPr>
              <a:t>SQL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g3fbe76f6726_0_240"/>
          <p:cNvSpPr txBox="1"/>
          <p:nvPr/>
        </p:nvSpPr>
        <p:spPr>
          <a:xfrm>
            <a:off x="4937735" y="5498766"/>
            <a:ext cx="67056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Range scan (60k rows): SQL faster — B-Tree range scans are SQL's sweet spot.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g3fbe76f6726_0_240"/>
          <p:cNvSpPr/>
          <p:nvPr/>
        </p:nvSpPr>
        <p:spPr>
          <a:xfrm>
            <a:off x="487655" y="5925486"/>
            <a:ext cx="11216700" cy="390000"/>
          </a:xfrm>
          <a:prstGeom prst="roundRect">
            <a:avLst>
              <a:gd fmla="val 12500" name="adj"/>
            </a:avLst>
          </a:prstGeom>
          <a:solidFill>
            <a:srgbClr val="F3EAEB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g3fbe76f6726_0_240"/>
          <p:cNvSpPr/>
          <p:nvPr/>
        </p:nvSpPr>
        <p:spPr>
          <a:xfrm>
            <a:off x="609575" y="5974254"/>
            <a:ext cx="512100" cy="292800"/>
          </a:xfrm>
          <a:prstGeom prst="roundRect">
            <a:avLst>
              <a:gd fmla="val 20833" name="adj"/>
            </a:avLst>
          </a:prstGeom>
          <a:solidFill>
            <a:srgbClr val="7A2233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g3fbe76f6726_0_240"/>
          <p:cNvSpPr txBox="1"/>
          <p:nvPr/>
        </p:nvSpPr>
        <p:spPr>
          <a:xfrm>
            <a:off x="609575" y="5974254"/>
            <a:ext cx="512100" cy="29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g3fbe76f6726_0_240"/>
          <p:cNvSpPr txBox="1"/>
          <p:nvPr/>
        </p:nvSpPr>
        <p:spPr>
          <a:xfrm>
            <a:off x="1280135" y="5925486"/>
            <a:ext cx="12192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1.23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g3fbe76f6726_0_240"/>
          <p:cNvSpPr txBox="1"/>
          <p:nvPr/>
        </p:nvSpPr>
        <p:spPr>
          <a:xfrm>
            <a:off x="2560295" y="5925486"/>
            <a:ext cx="12192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0.</a:t>
            </a:r>
            <a:r>
              <a:rPr b="1" lang="en-US" sz="13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46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g3fbe76f6726_0_240"/>
          <p:cNvSpPr/>
          <p:nvPr/>
        </p:nvSpPr>
        <p:spPr>
          <a:xfrm>
            <a:off x="3901415" y="5974254"/>
            <a:ext cx="853500" cy="292800"/>
          </a:xfrm>
          <a:prstGeom prst="roundRect">
            <a:avLst>
              <a:gd fmla="val 50000" name="adj"/>
            </a:avLst>
          </a:prstGeom>
          <a:solidFill>
            <a:srgbClr val="F3EAEB"/>
          </a:solidFill>
          <a:ln cap="flat" cmpd="sng" w="12700">
            <a:solidFill>
              <a:srgbClr val="7A22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g3fbe76f6726_0_240"/>
          <p:cNvSpPr txBox="1"/>
          <p:nvPr/>
        </p:nvSpPr>
        <p:spPr>
          <a:xfrm>
            <a:off x="3901415" y="5974254"/>
            <a:ext cx="853500" cy="29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2233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7A2233"/>
                </a:solidFill>
                <a:latin typeface="Calibri"/>
                <a:ea typeface="Calibri"/>
                <a:cs typeface="Calibri"/>
                <a:sym typeface="Calibri"/>
              </a:rPr>
              <a:t>Graph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g3fbe76f6726_0_240"/>
          <p:cNvSpPr txBox="1"/>
          <p:nvPr/>
        </p:nvSpPr>
        <p:spPr>
          <a:xfrm>
            <a:off x="4937735" y="5925486"/>
            <a:ext cx="67056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Set difference: Memgraph wins — NOT EXISTS is more natural in Cypher.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g3fbe76f6726_0_240"/>
          <p:cNvSpPr/>
          <p:nvPr/>
        </p:nvSpPr>
        <p:spPr>
          <a:xfrm>
            <a:off x="552880" y="1255890"/>
            <a:ext cx="11216700" cy="670500"/>
          </a:xfrm>
          <a:prstGeom prst="roundRect">
            <a:avLst>
              <a:gd fmla="val 14545" name="adj"/>
            </a:avLst>
          </a:prstGeom>
          <a:solidFill>
            <a:srgbClr val="F8F5F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g3fbe76f6726_0_240"/>
          <p:cNvSpPr txBox="1"/>
          <p:nvPr/>
        </p:nvSpPr>
        <p:spPr>
          <a:xfrm>
            <a:off x="853420" y="1731379"/>
            <a:ext cx="2438400" cy="24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233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g3fbe76f6726_0_240"/>
          <p:cNvSpPr txBox="1"/>
          <p:nvPr/>
        </p:nvSpPr>
        <p:spPr>
          <a:xfrm>
            <a:off x="796775" y="1350375"/>
            <a:ext cx="10728900" cy="4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100"/>
              <a:buFont typeface="Calibri"/>
              <a:buNone/>
            </a:pPr>
            <a:r>
              <a:rPr b="0" i="1" lang="en-US" sz="1300" u="none" cap="none" strike="noStrike">
                <a:solidFill>
                  <a:srgbClr val="7E0705"/>
                </a:solidFill>
                <a:latin typeface="Calibri"/>
                <a:ea typeface="Calibri"/>
                <a:cs typeface="Calibri"/>
                <a:sym typeface="Calibri"/>
              </a:rPr>
              <a:t>SQL wins on most local queries thanks to B-Tree indexing and optimized JOINs. </a:t>
            </a:r>
            <a:endParaRPr b="0" i="1" sz="1300" u="none" cap="none" strike="noStrike">
              <a:solidFill>
                <a:srgbClr val="7E070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100"/>
              <a:buFont typeface="Calibri"/>
              <a:buNone/>
            </a:pPr>
            <a:r>
              <a:rPr b="0" i="1" lang="en-US" sz="1300" u="none" cap="none" strike="noStrike">
                <a:solidFill>
                  <a:srgbClr val="7E0705"/>
                </a:solidFill>
                <a:latin typeface="Calibri"/>
                <a:ea typeface="Calibri"/>
                <a:cs typeface="Calibri"/>
                <a:sym typeface="Calibri"/>
              </a:rPr>
              <a:t>Memgraph advantage appears on undirected traversals (A4b) and set-difference patterns (A7) where Cypher's syntax maps directly to the operation.</a:t>
            </a:r>
            <a:endParaRPr b="0" i="0" sz="1300" u="none" cap="none" strike="noStrike">
              <a:solidFill>
                <a:srgbClr val="7E070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g3fbe76f6726_0_240"/>
          <p:cNvSpPr txBox="1"/>
          <p:nvPr/>
        </p:nvSpPr>
        <p:spPr>
          <a:xfrm>
            <a:off x="609600" y="1976238"/>
            <a:ext cx="9418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Di</a:t>
            </a:r>
            <a:r>
              <a:rPr lang="en-US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fferences under ~1–2 ms reported as ties; medians over N runs; all result sets hash-verified.</a:t>
            </a:r>
            <a:endParaRPr sz="17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g3fbe76f6726_0_240"/>
          <p:cNvSpPr/>
          <p:nvPr/>
        </p:nvSpPr>
        <p:spPr>
          <a:xfrm>
            <a:off x="-19050" y="6614399"/>
            <a:ext cx="12211200" cy="297900"/>
          </a:xfrm>
          <a:prstGeom prst="rect">
            <a:avLst/>
          </a:prstGeom>
          <a:solidFill>
            <a:srgbClr val="82243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F1A2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g3fbe76f6726_0_240"/>
          <p:cNvSpPr/>
          <p:nvPr/>
        </p:nvSpPr>
        <p:spPr>
          <a:xfrm>
            <a:off x="-9525" y="-57220"/>
            <a:ext cx="12211200" cy="297900"/>
          </a:xfrm>
          <a:prstGeom prst="rect">
            <a:avLst/>
          </a:prstGeom>
          <a:solidFill>
            <a:srgbClr val="82243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F1A2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g3fbe76f6726_0_240"/>
          <p:cNvSpPr txBox="1"/>
          <p:nvPr/>
        </p:nvSpPr>
        <p:spPr>
          <a:xfrm>
            <a:off x="3901428" y="4693919"/>
            <a:ext cx="853500" cy="29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2233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7A2233"/>
                </a:solidFill>
                <a:latin typeface="Calibri"/>
                <a:ea typeface="Calibri"/>
                <a:cs typeface="Calibri"/>
                <a:sym typeface="Calibri"/>
              </a:rPr>
              <a:t>Graph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g3fbe76f6726_0_240"/>
          <p:cNvSpPr/>
          <p:nvPr/>
        </p:nvSpPr>
        <p:spPr>
          <a:xfrm>
            <a:off x="3901415" y="5120644"/>
            <a:ext cx="853500" cy="292800"/>
          </a:xfrm>
          <a:prstGeom prst="roundRect">
            <a:avLst>
              <a:gd fmla="val 50000" name="adj"/>
            </a:avLst>
          </a:prstGeom>
          <a:solidFill>
            <a:srgbClr val="F3EAEB"/>
          </a:solidFill>
          <a:ln cap="flat" cmpd="sng" w="12700">
            <a:solidFill>
              <a:srgbClr val="7A22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7A2233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7A2233"/>
                </a:solidFill>
                <a:latin typeface="Calibri"/>
                <a:ea typeface="Calibri"/>
                <a:cs typeface="Calibri"/>
                <a:sym typeface="Calibri"/>
              </a:rPr>
              <a:t>Graph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g3fbe76f6726_0_240"/>
          <p:cNvSpPr/>
          <p:nvPr/>
        </p:nvSpPr>
        <p:spPr>
          <a:xfrm>
            <a:off x="3901415" y="3840482"/>
            <a:ext cx="853500" cy="292800"/>
          </a:xfrm>
          <a:prstGeom prst="roundRect">
            <a:avLst>
              <a:gd fmla="val 50000" name="adj"/>
            </a:avLst>
          </a:prstGeom>
          <a:solidFill>
            <a:srgbClr val="FFF2CC"/>
          </a:solidFill>
          <a:ln cap="flat" cmpd="sng" w="9525">
            <a:solidFill>
              <a:srgbClr val="F6B2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7F6000"/>
                </a:solidFill>
                <a:latin typeface="Calibri"/>
                <a:ea typeface="Calibri"/>
                <a:cs typeface="Calibri"/>
                <a:sym typeface="Calibri"/>
              </a:rPr>
              <a:t>     Tie</a:t>
            </a:r>
            <a:endParaRPr b="1" sz="1200">
              <a:solidFill>
                <a:srgbClr val="7F6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g3fbe76f6726_0_240"/>
          <p:cNvSpPr/>
          <p:nvPr/>
        </p:nvSpPr>
        <p:spPr>
          <a:xfrm>
            <a:off x="3901428" y="4267207"/>
            <a:ext cx="853500" cy="292800"/>
          </a:xfrm>
          <a:prstGeom prst="roundRect">
            <a:avLst>
              <a:gd fmla="val 50000" name="adj"/>
            </a:avLst>
          </a:prstGeom>
          <a:solidFill>
            <a:srgbClr val="FFF2CC"/>
          </a:solidFill>
          <a:ln cap="flat" cmpd="sng" w="9525">
            <a:solidFill>
              <a:srgbClr val="F6B2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7F6000"/>
                </a:solidFill>
                <a:latin typeface="Calibri"/>
                <a:ea typeface="Calibri"/>
                <a:cs typeface="Calibri"/>
                <a:sym typeface="Calibri"/>
              </a:rPr>
              <a:t>     Tie</a:t>
            </a:r>
            <a:endParaRPr b="1" sz="1200">
              <a:solidFill>
                <a:srgbClr val="7F6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3fbe76f6726_0_41"/>
          <p:cNvSpPr txBox="1"/>
          <p:nvPr/>
        </p:nvSpPr>
        <p:spPr>
          <a:xfrm>
            <a:off x="731520" y="426720"/>
            <a:ext cx="4876800" cy="34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23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7A2233"/>
                </a:solidFill>
                <a:latin typeface="Calibri"/>
                <a:ea typeface="Calibri"/>
                <a:cs typeface="Calibri"/>
                <a:sym typeface="Calibri"/>
              </a:rPr>
              <a:t>QUERY SUITE — </a:t>
            </a:r>
            <a:r>
              <a:rPr b="1" lang="en-US" sz="1300">
                <a:solidFill>
                  <a:srgbClr val="7A2233"/>
                </a:solidFill>
                <a:latin typeface="Calibri"/>
                <a:ea typeface="Calibri"/>
                <a:cs typeface="Calibri"/>
                <a:sym typeface="Calibri"/>
              </a:rPr>
              <a:t>FAMILY B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g3fbe76f6726_0_41"/>
          <p:cNvSpPr txBox="1"/>
          <p:nvPr/>
        </p:nvSpPr>
        <p:spPr>
          <a:xfrm>
            <a:off x="731520" y="810667"/>
            <a:ext cx="10728900" cy="6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4000"/>
              <a:buFont typeface="Calibri"/>
              <a:buNone/>
            </a:pPr>
            <a:r>
              <a:rPr b="1" i="0" lang="en-US" sz="30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Family B: Traversal Paths</a:t>
            </a:r>
            <a:endParaRPr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g3fbe76f6726_0_41"/>
          <p:cNvSpPr txBox="1"/>
          <p:nvPr/>
        </p:nvSpPr>
        <p:spPr>
          <a:xfrm>
            <a:off x="731520" y="1524000"/>
            <a:ext cx="10363200" cy="6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600"/>
              <a:buFont typeface="Calibri"/>
              <a:buNone/>
            </a:pPr>
            <a:r>
              <a:rPr lang="en-US" sz="17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Multi-hop explorations, shortest paths, and recursive traversals. Tests the core trade-off: SQL recursive CTEs with manual cycle detection versus Cypher's native variable-length patterns.</a:t>
            </a:r>
            <a:endParaRPr sz="1700">
              <a:solidFill>
                <a:srgbClr val="4A4A4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600"/>
              <a:buFont typeface="Calibri"/>
              <a:buNone/>
            </a:pPr>
            <a:r>
              <a:t/>
            </a:r>
            <a:endParaRPr sz="1600">
              <a:solidFill>
                <a:srgbClr val="4A4A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g3fbe76f6726_0_41"/>
          <p:cNvSpPr/>
          <p:nvPr/>
        </p:nvSpPr>
        <p:spPr>
          <a:xfrm>
            <a:off x="731483" y="2255515"/>
            <a:ext cx="3373200" cy="1341300"/>
          </a:xfrm>
          <a:prstGeom prst="roundRect">
            <a:avLst>
              <a:gd fmla="val 7273" name="adj"/>
            </a:avLst>
          </a:prstGeom>
          <a:solidFill>
            <a:srgbClr val="FFFFFF"/>
          </a:solidFill>
          <a:ln cap="flat" cmpd="sng" w="12700">
            <a:solidFill>
              <a:srgbClr val="E0D5D7"/>
            </a:solidFill>
            <a:prstDash val="solid"/>
            <a:round/>
            <a:headEnd len="sm" w="sm" type="none"/>
            <a:tailEnd len="sm" w="sm" type="none"/>
          </a:ln>
          <a:effectLst>
            <a:outerShdw blurRad="67733" rotWithShape="0" algn="bl" dir="8100000" dist="33867">
              <a:srgbClr val="000000">
                <a:alpha val="7840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g3fbe76f6726_0_41"/>
          <p:cNvSpPr/>
          <p:nvPr/>
        </p:nvSpPr>
        <p:spPr>
          <a:xfrm>
            <a:off x="731483" y="2255515"/>
            <a:ext cx="3373200" cy="73200"/>
          </a:xfrm>
          <a:prstGeom prst="roundRect">
            <a:avLst>
              <a:gd fmla="val 50000" name="adj"/>
            </a:avLst>
          </a:prstGeom>
          <a:solidFill>
            <a:srgbClr val="7A2233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g3fbe76f6726_0_41"/>
          <p:cNvSpPr txBox="1"/>
          <p:nvPr/>
        </p:nvSpPr>
        <p:spPr>
          <a:xfrm>
            <a:off x="975322" y="2474971"/>
            <a:ext cx="2885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Multi-Hop Exploration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g3fbe76f6726_0_41"/>
          <p:cNvSpPr txBox="1"/>
          <p:nvPr/>
        </p:nvSpPr>
        <p:spPr>
          <a:xfrm>
            <a:off x="975322" y="2865115"/>
            <a:ext cx="2885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Weight-filtered neighborhood.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Hierarchical IsA chains.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g3fbe76f6726_0_41"/>
          <p:cNvSpPr/>
          <p:nvPr/>
        </p:nvSpPr>
        <p:spPr>
          <a:xfrm>
            <a:off x="4409403" y="2255515"/>
            <a:ext cx="3373200" cy="1341300"/>
          </a:xfrm>
          <a:prstGeom prst="roundRect">
            <a:avLst>
              <a:gd fmla="val 7273" name="adj"/>
            </a:avLst>
          </a:prstGeom>
          <a:solidFill>
            <a:srgbClr val="FFFFFF"/>
          </a:solidFill>
          <a:ln cap="flat" cmpd="sng" w="12700">
            <a:solidFill>
              <a:srgbClr val="E0D5D7"/>
            </a:solidFill>
            <a:prstDash val="solid"/>
            <a:round/>
            <a:headEnd len="sm" w="sm" type="none"/>
            <a:tailEnd len="sm" w="sm" type="none"/>
          </a:ln>
          <a:effectLst>
            <a:outerShdw blurRad="67733" rotWithShape="0" algn="bl" dir="8100000" dist="33867">
              <a:srgbClr val="000000">
                <a:alpha val="7840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g3fbe76f6726_0_41"/>
          <p:cNvSpPr/>
          <p:nvPr/>
        </p:nvSpPr>
        <p:spPr>
          <a:xfrm>
            <a:off x="4409403" y="2255515"/>
            <a:ext cx="3373200" cy="73200"/>
          </a:xfrm>
          <a:prstGeom prst="roundRect">
            <a:avLst>
              <a:gd fmla="val 50000" name="adj"/>
            </a:avLst>
          </a:prstGeom>
          <a:solidFill>
            <a:srgbClr val="7A2233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g3fbe76f6726_0_41"/>
          <p:cNvSpPr txBox="1"/>
          <p:nvPr/>
        </p:nvSpPr>
        <p:spPr>
          <a:xfrm>
            <a:off x="4653243" y="2474971"/>
            <a:ext cx="2885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Path Finding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g3fbe76f6726_0_41"/>
          <p:cNvSpPr txBox="1"/>
          <p:nvPr/>
        </p:nvSpPr>
        <p:spPr>
          <a:xfrm>
            <a:off x="4653243" y="2865115"/>
            <a:ext cx="2885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BFS shortest path.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Weight-product path scoring.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g3fbe76f6726_0_41"/>
          <p:cNvSpPr/>
          <p:nvPr/>
        </p:nvSpPr>
        <p:spPr>
          <a:xfrm>
            <a:off x="8087323" y="2255515"/>
            <a:ext cx="3373200" cy="1341300"/>
          </a:xfrm>
          <a:prstGeom prst="roundRect">
            <a:avLst>
              <a:gd fmla="val 7273" name="adj"/>
            </a:avLst>
          </a:prstGeom>
          <a:solidFill>
            <a:srgbClr val="FFFFFF"/>
          </a:solidFill>
          <a:ln cap="flat" cmpd="sng" w="12700">
            <a:solidFill>
              <a:srgbClr val="E0D5D7"/>
            </a:solidFill>
            <a:prstDash val="solid"/>
            <a:round/>
            <a:headEnd len="sm" w="sm" type="none"/>
            <a:tailEnd len="sm" w="sm" type="none"/>
          </a:ln>
          <a:effectLst>
            <a:outerShdw blurRad="67733" rotWithShape="0" algn="bl" dir="8100000" dist="33867">
              <a:srgbClr val="000000">
                <a:alpha val="7840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g3fbe76f6726_0_41"/>
          <p:cNvSpPr/>
          <p:nvPr/>
        </p:nvSpPr>
        <p:spPr>
          <a:xfrm>
            <a:off x="8087323" y="2255515"/>
            <a:ext cx="3373200" cy="73200"/>
          </a:xfrm>
          <a:prstGeom prst="roundRect">
            <a:avLst>
              <a:gd fmla="val 50000" name="adj"/>
            </a:avLst>
          </a:prstGeom>
          <a:solidFill>
            <a:srgbClr val="7A2233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g3fbe76f6726_0_41"/>
          <p:cNvSpPr txBox="1"/>
          <p:nvPr/>
        </p:nvSpPr>
        <p:spPr>
          <a:xfrm>
            <a:off x="8331163" y="2474971"/>
            <a:ext cx="2885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Structural Patterns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g3fbe76f6726_0_41"/>
          <p:cNvSpPr txBox="1"/>
          <p:nvPr/>
        </p:nvSpPr>
        <p:spPr>
          <a:xfrm>
            <a:off x="8331163" y="2865115"/>
            <a:ext cx="2885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Cycle / triangle detection.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Neighbor degree profiling.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g3fbe76f6726_0_41"/>
          <p:cNvSpPr/>
          <p:nvPr/>
        </p:nvSpPr>
        <p:spPr>
          <a:xfrm>
            <a:off x="571475" y="3826006"/>
            <a:ext cx="480000" cy="278100"/>
          </a:xfrm>
          <a:prstGeom prst="roundRect">
            <a:avLst>
              <a:gd fmla="val 22727" name="adj"/>
            </a:avLst>
          </a:prstGeom>
          <a:solidFill>
            <a:srgbClr val="7A2233"/>
          </a:solidFill>
          <a:ln>
            <a:noFill/>
          </a:ln>
        </p:spPr>
        <p:txBody>
          <a:bodyPr anchorCtr="0" anchor="ctr" bIns="126300" lIns="126300" spcFirstLastPara="1" rIns="126300" wrap="square" tIns="126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g3fbe76f6726_0_41"/>
          <p:cNvSpPr txBox="1"/>
          <p:nvPr/>
        </p:nvSpPr>
        <p:spPr>
          <a:xfrm>
            <a:off x="571475" y="3826006"/>
            <a:ext cx="4800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40"/>
              <a:buFont typeface="Calibri"/>
              <a:buNone/>
            </a:pPr>
            <a:r>
              <a:rPr b="1" i="0" lang="en-US" sz="114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B1</a:t>
            </a:r>
            <a:endParaRPr b="0" i="0" sz="1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g3fbe76f6726_0_41"/>
          <p:cNvSpPr txBox="1"/>
          <p:nvPr/>
        </p:nvSpPr>
        <p:spPr>
          <a:xfrm>
            <a:off x="1203186" y="3800737"/>
            <a:ext cx="10739100" cy="32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347"/>
              <a:buFont typeface="Calibri"/>
              <a:buNone/>
            </a:pPr>
            <a:r>
              <a:rPr b="1" i="0" lang="en-US" sz="1347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K-Hop Neighborhood</a:t>
            </a:r>
            <a:r>
              <a:rPr b="0" i="0" lang="en-US" sz="1244" u="none" cap="none" strike="noStrike">
                <a:solidFill>
                  <a:srgbClr val="7A7A7A"/>
                </a:solidFill>
                <a:latin typeface="Calibri"/>
                <a:ea typeface="Calibri"/>
                <a:cs typeface="Calibri"/>
                <a:sym typeface="Calibri"/>
              </a:rPr>
              <a:t>  —  All concepts reachable in K hops, filtered by minimum edge weight.</a:t>
            </a:r>
            <a:endParaRPr b="0" i="0" sz="134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g3fbe76f6726_0_41"/>
          <p:cNvSpPr/>
          <p:nvPr/>
        </p:nvSpPr>
        <p:spPr>
          <a:xfrm>
            <a:off x="571475" y="4205032"/>
            <a:ext cx="480000" cy="278100"/>
          </a:xfrm>
          <a:prstGeom prst="roundRect">
            <a:avLst>
              <a:gd fmla="val 22727" name="adj"/>
            </a:avLst>
          </a:prstGeom>
          <a:solidFill>
            <a:srgbClr val="7A2233"/>
          </a:solidFill>
          <a:ln>
            <a:noFill/>
          </a:ln>
        </p:spPr>
        <p:txBody>
          <a:bodyPr anchorCtr="0" anchor="ctr" bIns="126300" lIns="126300" spcFirstLastPara="1" rIns="126300" wrap="square" tIns="126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g3fbe76f6726_0_41"/>
          <p:cNvSpPr txBox="1"/>
          <p:nvPr/>
        </p:nvSpPr>
        <p:spPr>
          <a:xfrm>
            <a:off x="571475" y="4205032"/>
            <a:ext cx="4800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40"/>
              <a:buFont typeface="Calibri"/>
              <a:buNone/>
            </a:pPr>
            <a:r>
              <a:rPr b="1" i="0" lang="en-US" sz="114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B2</a:t>
            </a:r>
            <a:endParaRPr b="0" i="0" sz="1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g3fbe76f6726_0_41"/>
          <p:cNvSpPr txBox="1"/>
          <p:nvPr/>
        </p:nvSpPr>
        <p:spPr>
          <a:xfrm>
            <a:off x="1203186" y="4179764"/>
            <a:ext cx="10739100" cy="32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347"/>
              <a:buFont typeface="Calibri"/>
              <a:buNone/>
            </a:pPr>
            <a:r>
              <a:rPr b="1" i="0" lang="en-US" sz="1347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Transitive Closure</a:t>
            </a:r>
            <a:r>
              <a:rPr b="0" i="0" lang="en-US" sz="1244" u="none" cap="none" strike="noStrike">
                <a:solidFill>
                  <a:srgbClr val="7A7A7A"/>
                </a:solidFill>
                <a:latin typeface="Calibri"/>
                <a:ea typeface="Calibri"/>
                <a:cs typeface="Calibri"/>
                <a:sym typeface="Calibri"/>
              </a:rPr>
              <a:t>  —  Follow IsA chains up to depth 5 — find all superclasses of a concept.</a:t>
            </a:r>
            <a:endParaRPr b="0" i="0" sz="134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g3fbe76f6726_0_41"/>
          <p:cNvSpPr/>
          <p:nvPr/>
        </p:nvSpPr>
        <p:spPr>
          <a:xfrm>
            <a:off x="571475" y="4584058"/>
            <a:ext cx="480000" cy="278100"/>
          </a:xfrm>
          <a:prstGeom prst="roundRect">
            <a:avLst>
              <a:gd fmla="val 22727" name="adj"/>
            </a:avLst>
          </a:prstGeom>
          <a:solidFill>
            <a:srgbClr val="7A2233"/>
          </a:solidFill>
          <a:ln>
            <a:noFill/>
          </a:ln>
        </p:spPr>
        <p:txBody>
          <a:bodyPr anchorCtr="0" anchor="ctr" bIns="126300" lIns="126300" spcFirstLastPara="1" rIns="126300" wrap="square" tIns="126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g3fbe76f6726_0_41"/>
          <p:cNvSpPr txBox="1"/>
          <p:nvPr/>
        </p:nvSpPr>
        <p:spPr>
          <a:xfrm>
            <a:off x="571475" y="4584058"/>
            <a:ext cx="4800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40"/>
              <a:buFont typeface="Calibri"/>
              <a:buNone/>
            </a:pPr>
            <a:r>
              <a:rPr b="1" i="0" lang="en-US" sz="114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B3</a:t>
            </a:r>
            <a:endParaRPr b="0" i="0" sz="1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g3fbe76f6726_0_41"/>
          <p:cNvSpPr txBox="1"/>
          <p:nvPr/>
        </p:nvSpPr>
        <p:spPr>
          <a:xfrm>
            <a:off x="1203186" y="4558790"/>
            <a:ext cx="10739100" cy="32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347"/>
              <a:buFont typeface="Calibri"/>
              <a:buNone/>
            </a:pPr>
            <a:r>
              <a:rPr b="1" i="0" lang="en-US" sz="1347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Shortest Chain</a:t>
            </a:r>
            <a:r>
              <a:rPr b="0" i="0" lang="en-US" sz="1244" u="none" cap="none" strike="noStrike">
                <a:solidFill>
                  <a:srgbClr val="7A7A7A"/>
                </a:solidFill>
                <a:latin typeface="Calibri"/>
                <a:ea typeface="Calibri"/>
                <a:cs typeface="Calibri"/>
                <a:sym typeface="Calibri"/>
              </a:rPr>
              <a:t>  —  Shortest undirected path between two concepts via BFS (any relation).</a:t>
            </a:r>
            <a:endParaRPr b="0" i="0" sz="134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g3fbe76f6726_0_41"/>
          <p:cNvSpPr/>
          <p:nvPr/>
        </p:nvSpPr>
        <p:spPr>
          <a:xfrm>
            <a:off x="571475" y="4963085"/>
            <a:ext cx="480000" cy="278100"/>
          </a:xfrm>
          <a:prstGeom prst="roundRect">
            <a:avLst>
              <a:gd fmla="val 22727" name="adj"/>
            </a:avLst>
          </a:prstGeom>
          <a:solidFill>
            <a:srgbClr val="7A2233"/>
          </a:solidFill>
          <a:ln>
            <a:noFill/>
          </a:ln>
        </p:spPr>
        <p:txBody>
          <a:bodyPr anchorCtr="0" anchor="ctr" bIns="126300" lIns="126300" spcFirstLastPara="1" rIns="126300" wrap="square" tIns="126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g3fbe76f6726_0_41"/>
          <p:cNvSpPr txBox="1"/>
          <p:nvPr/>
        </p:nvSpPr>
        <p:spPr>
          <a:xfrm>
            <a:off x="571475" y="4963085"/>
            <a:ext cx="4800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40"/>
              <a:buFont typeface="Calibri"/>
              <a:buNone/>
            </a:pPr>
            <a:r>
              <a:rPr b="1" i="0" lang="en-US" sz="114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B4</a:t>
            </a:r>
            <a:endParaRPr b="0" i="0" sz="1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g3fbe76f6726_0_41"/>
          <p:cNvSpPr txBox="1"/>
          <p:nvPr/>
        </p:nvSpPr>
        <p:spPr>
          <a:xfrm>
            <a:off x="1203186" y="4937816"/>
            <a:ext cx="10739100" cy="32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347"/>
              <a:buFont typeface="Calibri"/>
              <a:buNone/>
            </a:pPr>
            <a:r>
              <a:rPr b="1" i="0" lang="en-US" sz="1347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Weighted Path Scoring</a:t>
            </a:r>
            <a:r>
              <a:rPr b="0" i="0" lang="en-US" sz="1244" u="none" cap="none" strike="noStrike">
                <a:solidFill>
                  <a:srgbClr val="7A7A7A"/>
                </a:solidFill>
                <a:latin typeface="Calibri"/>
                <a:ea typeface="Calibri"/>
                <a:cs typeface="Calibri"/>
                <a:sym typeface="Calibri"/>
              </a:rPr>
              <a:t>  —  Rank paths by product of edge weights. No SQL equivalent exists.</a:t>
            </a:r>
            <a:endParaRPr b="0" i="0" sz="134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g3fbe76f6726_0_41"/>
          <p:cNvSpPr/>
          <p:nvPr/>
        </p:nvSpPr>
        <p:spPr>
          <a:xfrm>
            <a:off x="571475" y="5342111"/>
            <a:ext cx="480000" cy="278100"/>
          </a:xfrm>
          <a:prstGeom prst="roundRect">
            <a:avLst>
              <a:gd fmla="val 22727" name="adj"/>
            </a:avLst>
          </a:prstGeom>
          <a:solidFill>
            <a:srgbClr val="7A2233"/>
          </a:solidFill>
          <a:ln>
            <a:noFill/>
          </a:ln>
        </p:spPr>
        <p:txBody>
          <a:bodyPr anchorCtr="0" anchor="ctr" bIns="126300" lIns="126300" spcFirstLastPara="1" rIns="126300" wrap="square" tIns="126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g3fbe76f6726_0_41"/>
          <p:cNvSpPr txBox="1"/>
          <p:nvPr/>
        </p:nvSpPr>
        <p:spPr>
          <a:xfrm>
            <a:off x="571475" y="5342111"/>
            <a:ext cx="4800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40"/>
              <a:buFont typeface="Calibri"/>
              <a:buNone/>
            </a:pPr>
            <a:r>
              <a:rPr b="1" i="0" lang="en-US" sz="114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B5</a:t>
            </a:r>
            <a:endParaRPr b="0" i="0" sz="1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g3fbe76f6726_0_41"/>
          <p:cNvSpPr txBox="1"/>
          <p:nvPr/>
        </p:nvSpPr>
        <p:spPr>
          <a:xfrm>
            <a:off x="1203186" y="5316842"/>
            <a:ext cx="10739100" cy="32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347"/>
              <a:buFont typeface="Calibri"/>
              <a:buNone/>
            </a:pPr>
            <a:r>
              <a:rPr b="1" i="0" lang="en-US" sz="1347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Anchored Triangle</a:t>
            </a:r>
            <a:r>
              <a:rPr b="0" i="0" lang="en-US" sz="1244" u="none" cap="none" strike="noStrike">
                <a:solidFill>
                  <a:srgbClr val="7A7A7A"/>
                </a:solidFill>
                <a:latin typeface="Calibri"/>
                <a:ea typeface="Calibri"/>
                <a:cs typeface="Calibri"/>
                <a:sym typeface="Calibri"/>
              </a:rPr>
              <a:t>  —  3-hop cycles starting and ending at the same concept (structural motif).</a:t>
            </a:r>
            <a:endParaRPr b="0" i="0" sz="134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g3fbe76f6726_0_41"/>
          <p:cNvSpPr/>
          <p:nvPr/>
        </p:nvSpPr>
        <p:spPr>
          <a:xfrm>
            <a:off x="571475" y="5721137"/>
            <a:ext cx="480000" cy="278100"/>
          </a:xfrm>
          <a:prstGeom prst="roundRect">
            <a:avLst>
              <a:gd fmla="val 22727" name="adj"/>
            </a:avLst>
          </a:prstGeom>
          <a:solidFill>
            <a:srgbClr val="7A2233"/>
          </a:solidFill>
          <a:ln>
            <a:noFill/>
          </a:ln>
        </p:spPr>
        <p:txBody>
          <a:bodyPr anchorCtr="0" anchor="ctr" bIns="126300" lIns="126300" spcFirstLastPara="1" rIns="126300" wrap="square" tIns="126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g3fbe76f6726_0_41"/>
          <p:cNvSpPr txBox="1"/>
          <p:nvPr/>
        </p:nvSpPr>
        <p:spPr>
          <a:xfrm>
            <a:off x="571475" y="5721137"/>
            <a:ext cx="4800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40"/>
              <a:buFont typeface="Calibri"/>
              <a:buNone/>
            </a:pPr>
            <a:r>
              <a:rPr b="1" i="0" lang="en-US" sz="114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B6</a:t>
            </a:r>
            <a:endParaRPr b="0" i="0" sz="1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g3fbe76f6726_0_41"/>
          <p:cNvSpPr txBox="1"/>
          <p:nvPr/>
        </p:nvSpPr>
        <p:spPr>
          <a:xfrm>
            <a:off x="1203186" y="5695869"/>
            <a:ext cx="10739100" cy="32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347"/>
              <a:buFont typeface="Calibri"/>
              <a:buNone/>
            </a:pPr>
            <a:r>
              <a:rPr b="1" i="0" lang="en-US" sz="1347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Degree Profile</a:t>
            </a:r>
            <a:r>
              <a:rPr b="0" i="0" lang="en-US" sz="1244" u="none" cap="none" strike="noStrike">
                <a:solidFill>
                  <a:srgbClr val="7A7A7A"/>
                </a:solidFill>
                <a:latin typeface="Calibri"/>
                <a:ea typeface="Calibri"/>
                <a:cs typeface="Calibri"/>
                <a:sym typeface="Calibri"/>
              </a:rPr>
              <a:t>  —  For each neighbor, count its outgoing degree — local centrality analysis.</a:t>
            </a:r>
            <a:endParaRPr b="0" i="0" sz="134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g3fbe76f6726_0_41"/>
          <p:cNvSpPr/>
          <p:nvPr/>
        </p:nvSpPr>
        <p:spPr>
          <a:xfrm>
            <a:off x="571475" y="1400150"/>
            <a:ext cx="11049000" cy="28500"/>
          </a:xfrm>
          <a:prstGeom prst="rect">
            <a:avLst/>
          </a:prstGeom>
          <a:solidFill>
            <a:srgbClr val="8224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g3fbe76f6726_0_41"/>
          <p:cNvSpPr/>
          <p:nvPr/>
        </p:nvSpPr>
        <p:spPr>
          <a:xfrm>
            <a:off x="-9525" y="-57220"/>
            <a:ext cx="12211200" cy="297900"/>
          </a:xfrm>
          <a:prstGeom prst="rect">
            <a:avLst/>
          </a:prstGeom>
          <a:solidFill>
            <a:srgbClr val="82243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F1A2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g3fbe76f6726_0_41"/>
          <p:cNvSpPr/>
          <p:nvPr/>
        </p:nvSpPr>
        <p:spPr>
          <a:xfrm>
            <a:off x="-19050" y="6614399"/>
            <a:ext cx="12211200" cy="297900"/>
          </a:xfrm>
          <a:prstGeom prst="rect">
            <a:avLst/>
          </a:prstGeom>
          <a:solidFill>
            <a:srgbClr val="82243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F1A2D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g3fbe76f6726_0_327"/>
          <p:cNvSpPr/>
          <p:nvPr/>
        </p:nvSpPr>
        <p:spPr>
          <a:xfrm>
            <a:off x="0" y="0"/>
            <a:ext cx="12192000" cy="97500"/>
          </a:xfrm>
          <a:prstGeom prst="rect">
            <a:avLst/>
          </a:prstGeom>
          <a:solidFill>
            <a:srgbClr val="7A2233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g3fbe76f6726_0_327"/>
          <p:cNvSpPr/>
          <p:nvPr/>
        </p:nvSpPr>
        <p:spPr>
          <a:xfrm>
            <a:off x="0" y="6760464"/>
            <a:ext cx="12192000" cy="97500"/>
          </a:xfrm>
          <a:prstGeom prst="rect">
            <a:avLst/>
          </a:prstGeom>
          <a:solidFill>
            <a:srgbClr val="7A2233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g3fbe76f6726_0_327"/>
          <p:cNvSpPr txBox="1"/>
          <p:nvPr/>
        </p:nvSpPr>
        <p:spPr>
          <a:xfrm>
            <a:off x="609575" y="233276"/>
            <a:ext cx="6096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23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7A2233"/>
                </a:solidFill>
                <a:latin typeface="Calibri"/>
                <a:ea typeface="Calibri"/>
                <a:cs typeface="Calibri"/>
                <a:sym typeface="Calibri"/>
              </a:rPr>
              <a:t>BENCHMARK — FAMILY B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g3fbe76f6726_0_327"/>
          <p:cNvSpPr txBox="1"/>
          <p:nvPr/>
        </p:nvSpPr>
        <p:spPr>
          <a:xfrm>
            <a:off x="609575" y="453761"/>
            <a:ext cx="10972800" cy="58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3500"/>
              <a:buFont typeface="Calibri"/>
              <a:buNone/>
            </a:pPr>
            <a:r>
              <a:rPr b="1" i="0" lang="en-US" sz="35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Traversal Paths — Results</a:t>
            </a:r>
            <a:endParaRPr b="0" i="0" sz="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g3fbe76f6726_0_327"/>
          <p:cNvSpPr txBox="1"/>
          <p:nvPr/>
        </p:nvSpPr>
        <p:spPr>
          <a:xfrm>
            <a:off x="609563" y="1830533"/>
            <a:ext cx="109728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Median execution time (ms). B</a:t>
            </a:r>
            <a:r>
              <a:rPr lang="en-US" sz="15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b="0" i="0" lang="en-US" sz="15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 excluded (</a:t>
            </a:r>
            <a:r>
              <a:rPr lang="en-US" sz="15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no SQL counterpart</a:t>
            </a:r>
            <a:r>
              <a:rPr b="0" i="0" lang="en-US" sz="15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 —</a:t>
            </a:r>
            <a:r>
              <a:rPr lang="en-US" sz="15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Memgraph executes in 3.55 ms since path queries are natively efficient</a:t>
            </a:r>
            <a:r>
              <a:rPr b="0" i="0" lang="en-US" sz="15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).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g3fbe76f6726_0_327"/>
          <p:cNvSpPr/>
          <p:nvPr/>
        </p:nvSpPr>
        <p:spPr>
          <a:xfrm>
            <a:off x="487643" y="2379173"/>
            <a:ext cx="11216700" cy="341100"/>
          </a:xfrm>
          <a:prstGeom prst="roundRect">
            <a:avLst>
              <a:gd fmla="val 14286" name="adj"/>
            </a:avLst>
          </a:prstGeom>
          <a:solidFill>
            <a:srgbClr val="7A2233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g3fbe76f6726_0_327"/>
          <p:cNvSpPr txBox="1"/>
          <p:nvPr/>
        </p:nvSpPr>
        <p:spPr>
          <a:xfrm>
            <a:off x="609563" y="2379173"/>
            <a:ext cx="512100" cy="34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Query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g3fbe76f6726_0_327"/>
          <p:cNvSpPr txBox="1"/>
          <p:nvPr/>
        </p:nvSpPr>
        <p:spPr>
          <a:xfrm>
            <a:off x="1280122" y="2379173"/>
            <a:ext cx="1219200" cy="34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SQL (ms)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g3fbe76f6726_0_327"/>
          <p:cNvSpPr txBox="1"/>
          <p:nvPr/>
        </p:nvSpPr>
        <p:spPr>
          <a:xfrm>
            <a:off x="2560283" y="2379173"/>
            <a:ext cx="1219200" cy="34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Cypher (ms)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g3fbe76f6726_0_327"/>
          <p:cNvSpPr txBox="1"/>
          <p:nvPr/>
        </p:nvSpPr>
        <p:spPr>
          <a:xfrm>
            <a:off x="3901403" y="2379173"/>
            <a:ext cx="853500" cy="34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Winner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g3fbe76f6726_0_327"/>
          <p:cNvSpPr txBox="1"/>
          <p:nvPr/>
        </p:nvSpPr>
        <p:spPr>
          <a:xfrm>
            <a:off x="4937723" y="2379173"/>
            <a:ext cx="6705600" cy="34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Analysis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g3fbe76f6726_0_327"/>
          <p:cNvSpPr/>
          <p:nvPr/>
        </p:nvSpPr>
        <p:spPr>
          <a:xfrm>
            <a:off x="487643" y="2781509"/>
            <a:ext cx="11216700" cy="390000"/>
          </a:xfrm>
          <a:prstGeom prst="roundRect">
            <a:avLst>
              <a:gd fmla="val 12500" name="adj"/>
            </a:avLst>
          </a:prstGeom>
          <a:solidFill>
            <a:srgbClr val="F3EAEB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g3fbe76f6726_0_327"/>
          <p:cNvSpPr/>
          <p:nvPr/>
        </p:nvSpPr>
        <p:spPr>
          <a:xfrm>
            <a:off x="609563" y="2830277"/>
            <a:ext cx="512100" cy="292800"/>
          </a:xfrm>
          <a:prstGeom prst="roundRect">
            <a:avLst>
              <a:gd fmla="val 20833" name="adj"/>
            </a:avLst>
          </a:prstGeom>
          <a:solidFill>
            <a:srgbClr val="7A2233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g3fbe76f6726_0_327"/>
          <p:cNvSpPr txBox="1"/>
          <p:nvPr/>
        </p:nvSpPr>
        <p:spPr>
          <a:xfrm>
            <a:off x="609563" y="2830277"/>
            <a:ext cx="512100" cy="29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B1k1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g3fbe76f6726_0_327"/>
          <p:cNvSpPr txBox="1"/>
          <p:nvPr/>
        </p:nvSpPr>
        <p:spPr>
          <a:xfrm>
            <a:off x="1280122" y="2781509"/>
            <a:ext cx="12192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0.</a:t>
            </a:r>
            <a:r>
              <a:rPr b="1" lang="en-US" sz="13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37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g3fbe76f6726_0_327"/>
          <p:cNvSpPr txBox="1"/>
          <p:nvPr/>
        </p:nvSpPr>
        <p:spPr>
          <a:xfrm>
            <a:off x="2560283" y="2781509"/>
            <a:ext cx="12192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0.4</a:t>
            </a:r>
            <a:r>
              <a:rPr b="1" lang="en-US" sz="13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g3fbe76f6726_0_327"/>
          <p:cNvSpPr txBox="1"/>
          <p:nvPr/>
        </p:nvSpPr>
        <p:spPr>
          <a:xfrm>
            <a:off x="4937723" y="2781509"/>
            <a:ext cx="67056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1-hop weighted: near tie </a:t>
            </a:r>
            <a:r>
              <a:rPr lang="en-US" sz="11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0" i="0" lang="en-US" sz="11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 minimal traversal, both fast.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g3fbe76f6726_0_327"/>
          <p:cNvSpPr/>
          <p:nvPr/>
        </p:nvSpPr>
        <p:spPr>
          <a:xfrm>
            <a:off x="487643" y="3208229"/>
            <a:ext cx="11216700" cy="390000"/>
          </a:xfrm>
          <a:prstGeom prst="roundRect">
            <a:avLst>
              <a:gd fmla="val 12500" name="adj"/>
            </a:avLst>
          </a:prstGeom>
          <a:solidFill>
            <a:srgbClr val="F3EAEB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g3fbe76f6726_0_327"/>
          <p:cNvSpPr/>
          <p:nvPr/>
        </p:nvSpPr>
        <p:spPr>
          <a:xfrm>
            <a:off x="609563" y="3256996"/>
            <a:ext cx="512100" cy="292800"/>
          </a:xfrm>
          <a:prstGeom prst="roundRect">
            <a:avLst>
              <a:gd fmla="val 20833" name="adj"/>
            </a:avLst>
          </a:prstGeom>
          <a:solidFill>
            <a:srgbClr val="7A2233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g3fbe76f6726_0_327"/>
          <p:cNvSpPr txBox="1"/>
          <p:nvPr/>
        </p:nvSpPr>
        <p:spPr>
          <a:xfrm>
            <a:off x="609563" y="3256996"/>
            <a:ext cx="512100" cy="29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B1k2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g3fbe76f6726_0_327"/>
          <p:cNvSpPr txBox="1"/>
          <p:nvPr/>
        </p:nvSpPr>
        <p:spPr>
          <a:xfrm>
            <a:off x="1280122" y="3208229"/>
            <a:ext cx="12192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0.</a:t>
            </a:r>
            <a:r>
              <a:rPr b="1" lang="en-US" sz="13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38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g3fbe76f6726_0_327"/>
          <p:cNvSpPr txBox="1"/>
          <p:nvPr/>
        </p:nvSpPr>
        <p:spPr>
          <a:xfrm>
            <a:off x="2560283" y="3208229"/>
            <a:ext cx="12192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0.</a:t>
            </a:r>
            <a:r>
              <a:rPr b="1" lang="en-US" sz="13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51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g3fbe76f6726_0_327"/>
          <p:cNvSpPr txBox="1"/>
          <p:nvPr/>
        </p:nvSpPr>
        <p:spPr>
          <a:xfrm>
            <a:off x="4937723" y="3208229"/>
            <a:ext cx="67056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2-hop: SQL still ahead </a:t>
            </a:r>
            <a:r>
              <a:rPr lang="en-US" sz="11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b="0" i="0" lang="en-US" sz="11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 JOINs competitive at shallow depth.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g3fbe76f6726_0_327"/>
          <p:cNvSpPr/>
          <p:nvPr/>
        </p:nvSpPr>
        <p:spPr>
          <a:xfrm>
            <a:off x="487643" y="3634949"/>
            <a:ext cx="11216700" cy="390000"/>
          </a:xfrm>
          <a:prstGeom prst="roundRect">
            <a:avLst>
              <a:gd fmla="val 12500" name="adj"/>
            </a:avLst>
          </a:prstGeom>
          <a:solidFill>
            <a:srgbClr val="F3EAEB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g3fbe76f6726_0_327"/>
          <p:cNvSpPr/>
          <p:nvPr/>
        </p:nvSpPr>
        <p:spPr>
          <a:xfrm>
            <a:off x="609563" y="3683717"/>
            <a:ext cx="512100" cy="292800"/>
          </a:xfrm>
          <a:prstGeom prst="roundRect">
            <a:avLst>
              <a:gd fmla="val 20833" name="adj"/>
            </a:avLst>
          </a:prstGeom>
          <a:solidFill>
            <a:srgbClr val="7A2233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g3fbe76f6726_0_327"/>
          <p:cNvSpPr txBox="1"/>
          <p:nvPr/>
        </p:nvSpPr>
        <p:spPr>
          <a:xfrm>
            <a:off x="609563" y="3683717"/>
            <a:ext cx="512100" cy="29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B1k3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g3fbe76f6726_0_327"/>
          <p:cNvSpPr txBox="1"/>
          <p:nvPr/>
        </p:nvSpPr>
        <p:spPr>
          <a:xfrm>
            <a:off x="1280122" y="3634949"/>
            <a:ext cx="12192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0.</a:t>
            </a:r>
            <a:r>
              <a:rPr b="1" lang="en-US" sz="13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54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g3fbe76f6726_0_327"/>
          <p:cNvSpPr txBox="1"/>
          <p:nvPr/>
        </p:nvSpPr>
        <p:spPr>
          <a:xfrm>
            <a:off x="2560283" y="3634949"/>
            <a:ext cx="12192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0.93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g3fbe76f6726_0_327"/>
          <p:cNvSpPr/>
          <p:nvPr/>
        </p:nvSpPr>
        <p:spPr>
          <a:xfrm>
            <a:off x="3901403" y="3683717"/>
            <a:ext cx="853500" cy="292800"/>
          </a:xfrm>
          <a:prstGeom prst="roundRect">
            <a:avLst>
              <a:gd fmla="val 50000" name="adj"/>
            </a:avLst>
          </a:prstGeom>
          <a:solidFill>
            <a:srgbClr val="E8F5EE"/>
          </a:solidFill>
          <a:ln cap="flat" cmpd="sng" w="12700">
            <a:solidFill>
              <a:srgbClr val="2E7D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g3fbe76f6726_0_327"/>
          <p:cNvSpPr txBox="1"/>
          <p:nvPr/>
        </p:nvSpPr>
        <p:spPr>
          <a:xfrm>
            <a:off x="3901403" y="3683717"/>
            <a:ext cx="853500" cy="29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5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E7D52"/>
                </a:solidFill>
                <a:latin typeface="Calibri"/>
                <a:ea typeface="Calibri"/>
                <a:cs typeface="Calibri"/>
                <a:sym typeface="Calibri"/>
              </a:rPr>
              <a:t>SQL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g3fbe76f6726_0_327"/>
          <p:cNvSpPr txBox="1"/>
          <p:nvPr/>
        </p:nvSpPr>
        <p:spPr>
          <a:xfrm>
            <a:off x="4937723" y="3634949"/>
            <a:ext cx="67056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3-hop: gap narrowing</a:t>
            </a:r>
            <a:r>
              <a:rPr lang="en-US" sz="11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 - </a:t>
            </a:r>
            <a:r>
              <a:rPr b="0" i="0" lang="en-US" sz="11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SQL's JOIN cost growing with depth.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g3fbe76f6726_0_327"/>
          <p:cNvSpPr/>
          <p:nvPr/>
        </p:nvSpPr>
        <p:spPr>
          <a:xfrm>
            <a:off x="487643" y="4061669"/>
            <a:ext cx="11216700" cy="390000"/>
          </a:xfrm>
          <a:prstGeom prst="roundRect">
            <a:avLst>
              <a:gd fmla="val 12500" name="adj"/>
            </a:avLst>
          </a:prstGeom>
          <a:solidFill>
            <a:srgbClr val="F3EAEB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g3fbe76f6726_0_327"/>
          <p:cNvSpPr/>
          <p:nvPr/>
        </p:nvSpPr>
        <p:spPr>
          <a:xfrm>
            <a:off x="609563" y="4110437"/>
            <a:ext cx="512100" cy="292800"/>
          </a:xfrm>
          <a:prstGeom prst="roundRect">
            <a:avLst>
              <a:gd fmla="val 20833" name="adj"/>
            </a:avLst>
          </a:prstGeom>
          <a:solidFill>
            <a:srgbClr val="7A2233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g3fbe76f6726_0_327"/>
          <p:cNvSpPr txBox="1"/>
          <p:nvPr/>
        </p:nvSpPr>
        <p:spPr>
          <a:xfrm>
            <a:off x="609563" y="4110437"/>
            <a:ext cx="512100" cy="29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B1k4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g3fbe76f6726_0_327"/>
          <p:cNvSpPr txBox="1"/>
          <p:nvPr/>
        </p:nvSpPr>
        <p:spPr>
          <a:xfrm>
            <a:off x="1280122" y="4061669"/>
            <a:ext cx="12192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3.</a:t>
            </a:r>
            <a:r>
              <a:rPr b="1" lang="en-US" sz="13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78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g3fbe76f6726_0_327"/>
          <p:cNvSpPr txBox="1"/>
          <p:nvPr/>
        </p:nvSpPr>
        <p:spPr>
          <a:xfrm>
            <a:off x="2560283" y="4061669"/>
            <a:ext cx="12192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2.</a:t>
            </a:r>
            <a:r>
              <a:rPr b="1" lang="en-US" sz="13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32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g3fbe76f6726_0_327"/>
          <p:cNvSpPr/>
          <p:nvPr/>
        </p:nvSpPr>
        <p:spPr>
          <a:xfrm>
            <a:off x="3901403" y="4110437"/>
            <a:ext cx="853500" cy="292800"/>
          </a:xfrm>
          <a:prstGeom prst="roundRect">
            <a:avLst>
              <a:gd fmla="val 50000" name="adj"/>
            </a:avLst>
          </a:prstGeom>
          <a:solidFill>
            <a:srgbClr val="F3EAEB"/>
          </a:solidFill>
          <a:ln cap="flat" cmpd="sng" w="12700">
            <a:solidFill>
              <a:srgbClr val="7A22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g3fbe76f6726_0_327"/>
          <p:cNvSpPr txBox="1"/>
          <p:nvPr/>
        </p:nvSpPr>
        <p:spPr>
          <a:xfrm>
            <a:off x="3901400" y="4110425"/>
            <a:ext cx="853500" cy="29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2233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7A2233"/>
                </a:solidFill>
                <a:latin typeface="Calibri"/>
                <a:ea typeface="Calibri"/>
                <a:cs typeface="Calibri"/>
                <a:sym typeface="Calibri"/>
              </a:rPr>
              <a:t>Graph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g3fbe76f6726_0_327"/>
          <p:cNvSpPr txBox="1"/>
          <p:nvPr/>
        </p:nvSpPr>
        <p:spPr>
          <a:xfrm>
            <a:off x="4937723" y="4061669"/>
            <a:ext cx="67056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4-hop: crossover </a:t>
            </a:r>
            <a:r>
              <a:rPr lang="en-US" sz="11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b="0" i="0" lang="en-US" sz="11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Memgraph overtakes as index-free adjacency pays off.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g3fbe76f6726_0_327"/>
          <p:cNvSpPr/>
          <p:nvPr/>
        </p:nvSpPr>
        <p:spPr>
          <a:xfrm>
            <a:off x="487643" y="4488389"/>
            <a:ext cx="11216700" cy="390000"/>
          </a:xfrm>
          <a:prstGeom prst="roundRect">
            <a:avLst>
              <a:gd fmla="val 12500" name="adj"/>
            </a:avLst>
          </a:prstGeom>
          <a:solidFill>
            <a:srgbClr val="F3EAEB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g3fbe76f6726_0_327"/>
          <p:cNvSpPr/>
          <p:nvPr/>
        </p:nvSpPr>
        <p:spPr>
          <a:xfrm>
            <a:off x="609563" y="4537157"/>
            <a:ext cx="512100" cy="292800"/>
          </a:xfrm>
          <a:prstGeom prst="roundRect">
            <a:avLst>
              <a:gd fmla="val 20833" name="adj"/>
            </a:avLst>
          </a:prstGeom>
          <a:solidFill>
            <a:srgbClr val="7A2233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g3fbe76f6726_0_327"/>
          <p:cNvSpPr txBox="1"/>
          <p:nvPr/>
        </p:nvSpPr>
        <p:spPr>
          <a:xfrm>
            <a:off x="609563" y="4537157"/>
            <a:ext cx="512100" cy="29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g3fbe76f6726_0_327"/>
          <p:cNvSpPr txBox="1"/>
          <p:nvPr/>
        </p:nvSpPr>
        <p:spPr>
          <a:xfrm>
            <a:off x="1280122" y="4488389"/>
            <a:ext cx="12192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0.</a:t>
            </a:r>
            <a:r>
              <a:rPr b="1" lang="en-US" sz="13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33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g3fbe76f6726_0_327"/>
          <p:cNvSpPr txBox="1"/>
          <p:nvPr/>
        </p:nvSpPr>
        <p:spPr>
          <a:xfrm>
            <a:off x="2560283" y="4488389"/>
            <a:ext cx="12192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0.</a:t>
            </a:r>
            <a:r>
              <a:rPr b="1" lang="en-US" sz="13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g3fbe76f6726_0_327"/>
          <p:cNvSpPr txBox="1"/>
          <p:nvPr/>
        </p:nvSpPr>
        <p:spPr>
          <a:xfrm>
            <a:off x="4937723" y="4488389"/>
            <a:ext cx="67056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Transitive closure (IsA, depth 5): near tie </a:t>
            </a:r>
            <a:r>
              <a:rPr lang="en-US" sz="11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b="0" i="0" lang="en-US" sz="11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recursion frontier stays small, so recursive CTE is cheap.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g3fbe76f6726_0_327"/>
          <p:cNvSpPr/>
          <p:nvPr/>
        </p:nvSpPr>
        <p:spPr>
          <a:xfrm>
            <a:off x="487643" y="4915109"/>
            <a:ext cx="11216700" cy="390000"/>
          </a:xfrm>
          <a:prstGeom prst="roundRect">
            <a:avLst>
              <a:gd fmla="val 12500" name="adj"/>
            </a:avLst>
          </a:prstGeom>
          <a:solidFill>
            <a:srgbClr val="F3EAEB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g3fbe76f6726_0_327"/>
          <p:cNvSpPr/>
          <p:nvPr/>
        </p:nvSpPr>
        <p:spPr>
          <a:xfrm>
            <a:off x="609563" y="4963877"/>
            <a:ext cx="512100" cy="292800"/>
          </a:xfrm>
          <a:prstGeom prst="roundRect">
            <a:avLst>
              <a:gd fmla="val 20833" name="adj"/>
            </a:avLst>
          </a:prstGeom>
          <a:solidFill>
            <a:srgbClr val="7A2233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g3fbe76f6726_0_327"/>
          <p:cNvSpPr txBox="1"/>
          <p:nvPr/>
        </p:nvSpPr>
        <p:spPr>
          <a:xfrm>
            <a:off x="609563" y="4963877"/>
            <a:ext cx="512100" cy="29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g3fbe76f6726_0_327"/>
          <p:cNvSpPr txBox="1"/>
          <p:nvPr/>
        </p:nvSpPr>
        <p:spPr>
          <a:xfrm>
            <a:off x="1280122" y="4915109"/>
            <a:ext cx="12192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lang="en-US" sz="13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638</a:t>
            </a:r>
            <a:r>
              <a:rPr b="1" i="0" lang="en-US" sz="13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b="1" lang="en-US" sz="13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g3fbe76f6726_0_327"/>
          <p:cNvSpPr txBox="1"/>
          <p:nvPr/>
        </p:nvSpPr>
        <p:spPr>
          <a:xfrm>
            <a:off x="2560283" y="4915109"/>
            <a:ext cx="12192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89.96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g3fbe76f6726_0_327"/>
          <p:cNvSpPr/>
          <p:nvPr/>
        </p:nvSpPr>
        <p:spPr>
          <a:xfrm>
            <a:off x="3901403" y="4963877"/>
            <a:ext cx="853500" cy="292800"/>
          </a:xfrm>
          <a:prstGeom prst="roundRect">
            <a:avLst>
              <a:gd fmla="val 50000" name="adj"/>
            </a:avLst>
          </a:prstGeom>
          <a:solidFill>
            <a:srgbClr val="F3EAEB"/>
          </a:solidFill>
          <a:ln cap="flat" cmpd="sng" w="12700">
            <a:solidFill>
              <a:srgbClr val="7A22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g3fbe76f6726_0_327"/>
          <p:cNvSpPr txBox="1"/>
          <p:nvPr/>
        </p:nvSpPr>
        <p:spPr>
          <a:xfrm>
            <a:off x="3901403" y="4963877"/>
            <a:ext cx="853500" cy="29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2233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7A2233"/>
                </a:solidFill>
                <a:latin typeface="Calibri"/>
                <a:ea typeface="Calibri"/>
                <a:cs typeface="Calibri"/>
                <a:sym typeface="Calibri"/>
              </a:rPr>
              <a:t>Graph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g3fbe76f6726_0_327"/>
          <p:cNvSpPr txBox="1"/>
          <p:nvPr/>
        </p:nvSpPr>
        <p:spPr>
          <a:xfrm>
            <a:off x="4937723" y="4915109"/>
            <a:ext cx="67056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Shortest path BFS: Memgraph 16.6× faster </a:t>
            </a:r>
            <a:r>
              <a:rPr lang="en-US" sz="11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b="0" i="0" lang="en-US" sz="11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native BFS vs. recursive CTE.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g3fbe76f6726_0_327"/>
          <p:cNvSpPr/>
          <p:nvPr/>
        </p:nvSpPr>
        <p:spPr>
          <a:xfrm>
            <a:off x="487643" y="5341829"/>
            <a:ext cx="11216700" cy="390000"/>
          </a:xfrm>
          <a:prstGeom prst="roundRect">
            <a:avLst>
              <a:gd fmla="val 12500" name="adj"/>
            </a:avLst>
          </a:prstGeom>
          <a:solidFill>
            <a:srgbClr val="F3EAEB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g3fbe76f6726_0_327"/>
          <p:cNvSpPr/>
          <p:nvPr/>
        </p:nvSpPr>
        <p:spPr>
          <a:xfrm>
            <a:off x="609563" y="5390597"/>
            <a:ext cx="512100" cy="292800"/>
          </a:xfrm>
          <a:prstGeom prst="roundRect">
            <a:avLst>
              <a:gd fmla="val 20833" name="adj"/>
            </a:avLst>
          </a:prstGeom>
          <a:solidFill>
            <a:srgbClr val="7A2233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g3fbe76f6726_0_327"/>
          <p:cNvSpPr txBox="1"/>
          <p:nvPr/>
        </p:nvSpPr>
        <p:spPr>
          <a:xfrm>
            <a:off x="609563" y="5390597"/>
            <a:ext cx="512100" cy="29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g3fbe76f6726_0_327"/>
          <p:cNvSpPr txBox="1"/>
          <p:nvPr/>
        </p:nvSpPr>
        <p:spPr>
          <a:xfrm>
            <a:off x="1280122" y="5341829"/>
            <a:ext cx="12192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18.81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g3fbe76f6726_0_327"/>
          <p:cNvSpPr txBox="1"/>
          <p:nvPr/>
        </p:nvSpPr>
        <p:spPr>
          <a:xfrm>
            <a:off x="2560283" y="5341829"/>
            <a:ext cx="12192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19.64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g3fbe76f6726_0_327"/>
          <p:cNvSpPr txBox="1"/>
          <p:nvPr/>
        </p:nvSpPr>
        <p:spPr>
          <a:xfrm>
            <a:off x="4937723" y="5341829"/>
            <a:ext cx="67056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850"/>
              <a:buFont typeface="Calibri"/>
              <a:buNone/>
            </a:pPr>
            <a:r>
              <a:rPr lang="en-US" sz="115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Anchored triangle (3-hop cycle) — near tie, both handle triple-JOIN well.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g3fbe76f6726_0_327"/>
          <p:cNvSpPr/>
          <p:nvPr/>
        </p:nvSpPr>
        <p:spPr>
          <a:xfrm>
            <a:off x="487643" y="5768549"/>
            <a:ext cx="11216700" cy="390000"/>
          </a:xfrm>
          <a:prstGeom prst="roundRect">
            <a:avLst>
              <a:gd fmla="val 12500" name="adj"/>
            </a:avLst>
          </a:prstGeom>
          <a:solidFill>
            <a:srgbClr val="F3EAEB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g3fbe76f6726_0_327"/>
          <p:cNvSpPr/>
          <p:nvPr/>
        </p:nvSpPr>
        <p:spPr>
          <a:xfrm>
            <a:off x="609563" y="5817317"/>
            <a:ext cx="512100" cy="292800"/>
          </a:xfrm>
          <a:prstGeom prst="roundRect">
            <a:avLst>
              <a:gd fmla="val 20833" name="adj"/>
            </a:avLst>
          </a:prstGeom>
          <a:solidFill>
            <a:srgbClr val="7A2233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g3fbe76f6726_0_327"/>
          <p:cNvSpPr txBox="1"/>
          <p:nvPr/>
        </p:nvSpPr>
        <p:spPr>
          <a:xfrm>
            <a:off x="609563" y="5817317"/>
            <a:ext cx="512100" cy="29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g3fbe76f6726_0_327"/>
          <p:cNvSpPr txBox="1"/>
          <p:nvPr/>
        </p:nvSpPr>
        <p:spPr>
          <a:xfrm>
            <a:off x="1280122" y="5768549"/>
            <a:ext cx="12192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15.05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g3fbe76f6726_0_327"/>
          <p:cNvSpPr txBox="1"/>
          <p:nvPr/>
        </p:nvSpPr>
        <p:spPr>
          <a:xfrm>
            <a:off x="2560283" y="5768549"/>
            <a:ext cx="12192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6.01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g3fbe76f6726_0_327"/>
          <p:cNvSpPr txBox="1"/>
          <p:nvPr/>
        </p:nvSpPr>
        <p:spPr>
          <a:xfrm>
            <a:off x="4937723" y="5768549"/>
            <a:ext cx="67056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Degree profile: </a:t>
            </a:r>
            <a:r>
              <a:rPr lang="en-US" sz="11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Cypher</a:t>
            </a:r>
            <a:r>
              <a:rPr b="0" i="0" lang="en-US" sz="11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 slightly faster — </a:t>
            </a:r>
            <a:r>
              <a:rPr lang="en-US" sz="11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traversal feeds aggregation without JOINs.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g3fbe76f6726_0_327"/>
          <p:cNvSpPr/>
          <p:nvPr/>
        </p:nvSpPr>
        <p:spPr>
          <a:xfrm>
            <a:off x="487618" y="1057140"/>
            <a:ext cx="11216700" cy="670500"/>
          </a:xfrm>
          <a:prstGeom prst="roundRect">
            <a:avLst>
              <a:gd fmla="val 14545" name="adj"/>
            </a:avLst>
          </a:prstGeom>
          <a:solidFill>
            <a:srgbClr val="F8F5F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g3fbe76f6726_0_327"/>
          <p:cNvSpPr txBox="1"/>
          <p:nvPr/>
        </p:nvSpPr>
        <p:spPr>
          <a:xfrm>
            <a:off x="731507" y="1209552"/>
            <a:ext cx="10728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100"/>
              <a:buFont typeface="Calibri"/>
              <a:buNone/>
            </a:pPr>
            <a:r>
              <a:rPr b="0" i="1" lang="en-US" sz="1300" u="none" cap="none" strike="noStrike">
                <a:solidFill>
                  <a:srgbClr val="8B1A1A"/>
                </a:solidFill>
                <a:latin typeface="Calibri"/>
                <a:ea typeface="Calibri"/>
                <a:cs typeface="Calibri"/>
                <a:sym typeface="Calibri"/>
              </a:rPr>
              <a:t>The K-hop crossover at k=4 is the headline result: SQL wins at shallow depth, but Memgraph's O(1) pointer traversal scales better. For path-finding (B3), Memgraph is 16× faster and B4 has no SQL equivalent — the strongest argument for a graph engine on this workload.</a:t>
            </a:r>
            <a:endParaRPr b="0" i="0" sz="1300" u="none" cap="none" strike="noStrike">
              <a:solidFill>
                <a:srgbClr val="8B1A1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g3fbe76f6726_0_327"/>
          <p:cNvSpPr txBox="1"/>
          <p:nvPr/>
        </p:nvSpPr>
        <p:spPr>
          <a:xfrm>
            <a:off x="731520" y="6228263"/>
            <a:ext cx="10728900" cy="2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100"/>
              <a:buFont typeface="Calibri"/>
              <a:buNone/>
            </a:pPr>
            <a:r>
              <a:rPr b="0" i="1" lang="en-US" u="none" cap="none" strike="noStrike">
                <a:solidFill>
                  <a:srgbClr val="8B1A1A"/>
                </a:solidFill>
                <a:latin typeface="Calibri"/>
                <a:ea typeface="Calibri"/>
                <a:cs typeface="Calibri"/>
                <a:sym typeface="Calibri"/>
              </a:rPr>
              <a:t>Cypher advantage: path queries (B3, B4) are native 1-liners — SQL requires recursive CTEs, JSON path tracking, and UNION ALL.</a:t>
            </a:r>
            <a:endParaRPr b="0" i="0" u="none" cap="none" strike="noStrike">
              <a:solidFill>
                <a:srgbClr val="8B1A1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g3fbe76f6726_0_327"/>
          <p:cNvSpPr txBox="1"/>
          <p:nvPr/>
        </p:nvSpPr>
        <p:spPr>
          <a:xfrm>
            <a:off x="3901403" y="5390432"/>
            <a:ext cx="853500" cy="29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5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E7D52"/>
                </a:solidFill>
                <a:latin typeface="Calibri"/>
                <a:ea typeface="Calibri"/>
                <a:cs typeface="Calibri"/>
                <a:sym typeface="Calibri"/>
              </a:rPr>
              <a:t>SQL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g3fbe76f6726_0_327"/>
          <p:cNvSpPr/>
          <p:nvPr/>
        </p:nvSpPr>
        <p:spPr>
          <a:xfrm>
            <a:off x="3901403" y="5390432"/>
            <a:ext cx="853500" cy="292800"/>
          </a:xfrm>
          <a:prstGeom prst="roundRect">
            <a:avLst>
              <a:gd fmla="val 50000" name="adj"/>
            </a:avLst>
          </a:prstGeom>
          <a:solidFill>
            <a:srgbClr val="FFF2CC"/>
          </a:solidFill>
          <a:ln cap="flat" cmpd="sng" w="9525">
            <a:solidFill>
              <a:srgbClr val="F6B2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7F6000"/>
                </a:solidFill>
                <a:latin typeface="Calibri"/>
                <a:ea typeface="Calibri"/>
                <a:cs typeface="Calibri"/>
                <a:sym typeface="Calibri"/>
              </a:rPr>
              <a:t>     Tie</a:t>
            </a:r>
            <a:endParaRPr b="1" sz="1200">
              <a:solidFill>
                <a:srgbClr val="7F6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g3fbe76f6726_0_327"/>
          <p:cNvSpPr/>
          <p:nvPr/>
        </p:nvSpPr>
        <p:spPr>
          <a:xfrm>
            <a:off x="3901403" y="5809362"/>
            <a:ext cx="853500" cy="292800"/>
          </a:xfrm>
          <a:prstGeom prst="roundRect">
            <a:avLst>
              <a:gd fmla="val 50000" name="adj"/>
            </a:avLst>
          </a:prstGeom>
          <a:solidFill>
            <a:srgbClr val="F3EAEB"/>
          </a:solidFill>
          <a:ln cap="flat" cmpd="sng" w="12700">
            <a:solidFill>
              <a:srgbClr val="7A22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g3fbe76f6726_0_327"/>
          <p:cNvSpPr txBox="1"/>
          <p:nvPr/>
        </p:nvSpPr>
        <p:spPr>
          <a:xfrm>
            <a:off x="3901400" y="5809350"/>
            <a:ext cx="853500" cy="29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2233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7A2233"/>
                </a:solidFill>
                <a:latin typeface="Calibri"/>
                <a:ea typeface="Calibri"/>
                <a:cs typeface="Calibri"/>
                <a:sym typeface="Calibri"/>
              </a:rPr>
              <a:t>Graph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g3fbe76f6726_0_327"/>
          <p:cNvSpPr/>
          <p:nvPr/>
        </p:nvSpPr>
        <p:spPr>
          <a:xfrm>
            <a:off x="3901403" y="2817857"/>
            <a:ext cx="853500" cy="292800"/>
          </a:xfrm>
          <a:prstGeom prst="roundRect">
            <a:avLst>
              <a:gd fmla="val 50000" name="adj"/>
            </a:avLst>
          </a:prstGeom>
          <a:solidFill>
            <a:srgbClr val="FFF2CC"/>
          </a:solidFill>
          <a:ln cap="flat" cmpd="sng" w="9525">
            <a:solidFill>
              <a:srgbClr val="F6B2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7F6000"/>
                </a:solidFill>
                <a:latin typeface="Calibri"/>
                <a:ea typeface="Calibri"/>
                <a:cs typeface="Calibri"/>
                <a:sym typeface="Calibri"/>
              </a:rPr>
              <a:t>     Tie</a:t>
            </a:r>
            <a:endParaRPr b="1" sz="1200">
              <a:solidFill>
                <a:srgbClr val="7F6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g3fbe76f6726_0_327"/>
          <p:cNvSpPr/>
          <p:nvPr/>
        </p:nvSpPr>
        <p:spPr>
          <a:xfrm>
            <a:off x="3901403" y="4536994"/>
            <a:ext cx="853500" cy="292800"/>
          </a:xfrm>
          <a:prstGeom prst="roundRect">
            <a:avLst>
              <a:gd fmla="val 50000" name="adj"/>
            </a:avLst>
          </a:prstGeom>
          <a:solidFill>
            <a:srgbClr val="FFF2CC"/>
          </a:solidFill>
          <a:ln cap="flat" cmpd="sng" w="9525">
            <a:solidFill>
              <a:srgbClr val="F6B2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7F6000"/>
                </a:solidFill>
                <a:latin typeface="Calibri"/>
                <a:ea typeface="Calibri"/>
                <a:cs typeface="Calibri"/>
                <a:sym typeface="Calibri"/>
              </a:rPr>
              <a:t>     Tie</a:t>
            </a:r>
            <a:endParaRPr b="1" sz="1200">
              <a:solidFill>
                <a:srgbClr val="7F6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g3fbe76f6726_0_327"/>
          <p:cNvSpPr/>
          <p:nvPr/>
        </p:nvSpPr>
        <p:spPr>
          <a:xfrm>
            <a:off x="3901403" y="3256832"/>
            <a:ext cx="853500" cy="292800"/>
          </a:xfrm>
          <a:prstGeom prst="roundRect">
            <a:avLst>
              <a:gd fmla="val 50000" name="adj"/>
            </a:avLst>
          </a:prstGeom>
          <a:solidFill>
            <a:srgbClr val="FFF2CC"/>
          </a:solidFill>
          <a:ln cap="flat" cmpd="sng" w="9525">
            <a:solidFill>
              <a:srgbClr val="F6B2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7F6000"/>
                </a:solidFill>
                <a:latin typeface="Calibri"/>
                <a:ea typeface="Calibri"/>
                <a:cs typeface="Calibri"/>
                <a:sym typeface="Calibri"/>
              </a:rPr>
              <a:t>     Tie</a:t>
            </a:r>
            <a:endParaRPr b="1" sz="1200">
              <a:solidFill>
                <a:srgbClr val="7F6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g3fbe76f6726_0_327"/>
          <p:cNvSpPr/>
          <p:nvPr/>
        </p:nvSpPr>
        <p:spPr>
          <a:xfrm>
            <a:off x="-9525" y="-57220"/>
            <a:ext cx="12211200" cy="297900"/>
          </a:xfrm>
          <a:prstGeom prst="rect">
            <a:avLst/>
          </a:prstGeom>
          <a:solidFill>
            <a:srgbClr val="82243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F1A2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g3fbe76f6726_0_327"/>
          <p:cNvSpPr/>
          <p:nvPr/>
        </p:nvSpPr>
        <p:spPr>
          <a:xfrm>
            <a:off x="-19050" y="6614399"/>
            <a:ext cx="12211200" cy="297900"/>
          </a:xfrm>
          <a:prstGeom prst="rect">
            <a:avLst/>
          </a:prstGeom>
          <a:solidFill>
            <a:srgbClr val="82243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F1A2D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g3fbe76f6726_0_128"/>
          <p:cNvSpPr/>
          <p:nvPr/>
        </p:nvSpPr>
        <p:spPr>
          <a:xfrm>
            <a:off x="0" y="0"/>
            <a:ext cx="12192000" cy="97500"/>
          </a:xfrm>
          <a:prstGeom prst="rect">
            <a:avLst/>
          </a:prstGeom>
          <a:solidFill>
            <a:srgbClr val="7A2233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g3fbe76f6726_0_128"/>
          <p:cNvSpPr/>
          <p:nvPr/>
        </p:nvSpPr>
        <p:spPr>
          <a:xfrm>
            <a:off x="0" y="6760464"/>
            <a:ext cx="12192000" cy="97500"/>
          </a:xfrm>
          <a:prstGeom prst="rect">
            <a:avLst/>
          </a:prstGeom>
          <a:solidFill>
            <a:srgbClr val="7A2233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g3fbe76f6726_0_128"/>
          <p:cNvSpPr txBox="1"/>
          <p:nvPr/>
        </p:nvSpPr>
        <p:spPr>
          <a:xfrm>
            <a:off x="731520" y="426720"/>
            <a:ext cx="4876800" cy="34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23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7A2233"/>
                </a:solidFill>
                <a:latin typeface="Calibri"/>
                <a:ea typeface="Calibri"/>
                <a:cs typeface="Calibri"/>
                <a:sym typeface="Calibri"/>
              </a:rPr>
              <a:t>QUERY SUITE — </a:t>
            </a:r>
            <a:r>
              <a:rPr b="1" lang="en-US" sz="1300">
                <a:solidFill>
                  <a:srgbClr val="7A2233"/>
                </a:solidFill>
                <a:latin typeface="Calibri"/>
                <a:ea typeface="Calibri"/>
                <a:cs typeface="Calibri"/>
                <a:sym typeface="Calibri"/>
              </a:rPr>
              <a:t>FAMILY C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g3fbe76f6726_0_128"/>
          <p:cNvSpPr txBox="1"/>
          <p:nvPr/>
        </p:nvSpPr>
        <p:spPr>
          <a:xfrm>
            <a:off x="731620" y="810667"/>
            <a:ext cx="10728900" cy="6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4000"/>
              <a:buFont typeface="Calibri"/>
              <a:buNone/>
            </a:pPr>
            <a:r>
              <a:rPr b="1" i="0" lang="en-US" sz="29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Family C: Global Retrieval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g3fbe76f6726_0_128"/>
          <p:cNvSpPr txBox="1"/>
          <p:nvPr/>
        </p:nvSpPr>
        <p:spPr>
          <a:xfrm>
            <a:off x="731520" y="1524000"/>
            <a:ext cx="10363200" cy="6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600"/>
              <a:buFont typeface="Calibri"/>
              <a:buNone/>
            </a:pPr>
            <a:r>
              <a:rPr b="0" i="0" lang="en-US" sz="17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Full-graph aggregations scanning the entire dataset. Measures raw throughput on large GROUP BY operations — where both engines need to touch every edge and the performance gap narrows.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g3fbe76f6726_0_128"/>
          <p:cNvSpPr/>
          <p:nvPr/>
        </p:nvSpPr>
        <p:spPr>
          <a:xfrm>
            <a:off x="731595" y="4662322"/>
            <a:ext cx="463200" cy="268500"/>
          </a:xfrm>
          <a:prstGeom prst="roundRect">
            <a:avLst>
              <a:gd fmla="val 22727" name="adj"/>
            </a:avLst>
          </a:prstGeom>
          <a:solidFill>
            <a:srgbClr val="7A2233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g3fbe76f6726_0_128"/>
          <p:cNvSpPr txBox="1"/>
          <p:nvPr/>
        </p:nvSpPr>
        <p:spPr>
          <a:xfrm>
            <a:off x="731595" y="4662322"/>
            <a:ext cx="463200" cy="2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g3fbe76f6726_0_128"/>
          <p:cNvSpPr txBox="1"/>
          <p:nvPr/>
        </p:nvSpPr>
        <p:spPr>
          <a:xfrm>
            <a:off x="1341195" y="4637938"/>
            <a:ext cx="103632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Concept Hubs Ranking</a:t>
            </a:r>
            <a:r>
              <a:rPr b="0" i="0" lang="en-US" sz="1200" u="none" cap="none" strike="noStrike">
                <a:solidFill>
                  <a:srgbClr val="7A7A7A"/>
                </a:solidFill>
                <a:latin typeface="Calibri"/>
                <a:ea typeface="Calibri"/>
                <a:cs typeface="Calibri"/>
                <a:sym typeface="Calibri"/>
              </a:rPr>
              <a:t>  —  Top-10 concepts by outgoing edge count — full GROUP BY on all edges.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g3fbe76f6726_0_128"/>
          <p:cNvSpPr/>
          <p:nvPr/>
        </p:nvSpPr>
        <p:spPr>
          <a:xfrm>
            <a:off x="731595" y="5028082"/>
            <a:ext cx="463200" cy="268500"/>
          </a:xfrm>
          <a:prstGeom prst="roundRect">
            <a:avLst>
              <a:gd fmla="val 22727" name="adj"/>
            </a:avLst>
          </a:prstGeom>
          <a:solidFill>
            <a:srgbClr val="7A2233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g3fbe76f6726_0_128"/>
          <p:cNvSpPr txBox="1"/>
          <p:nvPr/>
        </p:nvSpPr>
        <p:spPr>
          <a:xfrm>
            <a:off x="731595" y="5028082"/>
            <a:ext cx="463200" cy="2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g3fbe76f6726_0_128"/>
          <p:cNvSpPr txBox="1"/>
          <p:nvPr/>
        </p:nvSpPr>
        <p:spPr>
          <a:xfrm>
            <a:off x="1341195" y="5003698"/>
            <a:ext cx="103632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Relation-Class Matrix</a:t>
            </a:r>
            <a:r>
              <a:rPr b="0" i="0" lang="en-US" sz="1200" u="none" cap="none" strike="noStrike">
                <a:solidFill>
                  <a:srgbClr val="7A7A7A"/>
                </a:solidFill>
                <a:latin typeface="Calibri"/>
                <a:ea typeface="Calibri"/>
                <a:cs typeface="Calibri"/>
                <a:sym typeface="Calibri"/>
              </a:rPr>
              <a:t>  —  Group all edges by (relation, edge_class) — cross-tab of the entire schema.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g3fbe76f6726_0_128"/>
          <p:cNvSpPr/>
          <p:nvPr/>
        </p:nvSpPr>
        <p:spPr>
          <a:xfrm>
            <a:off x="731607" y="2330980"/>
            <a:ext cx="5211900" cy="1584900"/>
          </a:xfrm>
          <a:prstGeom prst="roundRect">
            <a:avLst>
              <a:gd fmla="val 6154" name="adj"/>
            </a:avLst>
          </a:prstGeom>
          <a:solidFill>
            <a:srgbClr val="FFFFFF"/>
          </a:solidFill>
          <a:ln cap="flat" cmpd="sng" w="12700">
            <a:solidFill>
              <a:srgbClr val="E0D5D7"/>
            </a:solidFill>
            <a:prstDash val="solid"/>
            <a:round/>
            <a:headEnd len="sm" w="sm" type="none"/>
            <a:tailEnd len="sm" w="sm" type="none"/>
          </a:ln>
          <a:effectLst>
            <a:outerShdw blurRad="67733" rotWithShape="0" algn="bl" dir="8100000" dist="33867">
              <a:srgbClr val="000000">
                <a:alpha val="7840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g3fbe76f6726_0_128"/>
          <p:cNvSpPr/>
          <p:nvPr/>
        </p:nvSpPr>
        <p:spPr>
          <a:xfrm>
            <a:off x="731607" y="2330980"/>
            <a:ext cx="5211900" cy="73200"/>
          </a:xfrm>
          <a:prstGeom prst="roundRect">
            <a:avLst>
              <a:gd fmla="val 50000" name="adj"/>
            </a:avLst>
          </a:prstGeom>
          <a:solidFill>
            <a:srgbClr val="7A2233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g3fbe76f6726_0_128"/>
          <p:cNvSpPr txBox="1"/>
          <p:nvPr/>
        </p:nvSpPr>
        <p:spPr>
          <a:xfrm>
            <a:off x="975447" y="2550436"/>
            <a:ext cx="4724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Degree Analytics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g3fbe76f6726_0_128"/>
          <p:cNvSpPr txBox="1"/>
          <p:nvPr/>
        </p:nvSpPr>
        <p:spPr>
          <a:xfrm>
            <a:off x="975447" y="2940580"/>
            <a:ext cx="4724400" cy="7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Full edge-set scan.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Top-K ranking by out-degree.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g3fbe76f6726_0_128"/>
          <p:cNvSpPr/>
          <p:nvPr/>
        </p:nvSpPr>
        <p:spPr>
          <a:xfrm>
            <a:off x="6248488" y="2330980"/>
            <a:ext cx="5211900" cy="1584900"/>
          </a:xfrm>
          <a:prstGeom prst="roundRect">
            <a:avLst>
              <a:gd fmla="val 6154" name="adj"/>
            </a:avLst>
          </a:prstGeom>
          <a:solidFill>
            <a:srgbClr val="FFFFFF"/>
          </a:solidFill>
          <a:ln cap="flat" cmpd="sng" w="12700">
            <a:solidFill>
              <a:srgbClr val="E0D5D7"/>
            </a:solidFill>
            <a:prstDash val="solid"/>
            <a:round/>
            <a:headEnd len="sm" w="sm" type="none"/>
            <a:tailEnd len="sm" w="sm" type="none"/>
          </a:ln>
          <a:effectLst>
            <a:outerShdw blurRad="67733" rotWithShape="0" algn="bl" dir="8100000" dist="33867">
              <a:srgbClr val="000000">
                <a:alpha val="7840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g3fbe76f6726_0_128"/>
          <p:cNvSpPr/>
          <p:nvPr/>
        </p:nvSpPr>
        <p:spPr>
          <a:xfrm>
            <a:off x="6248488" y="2330980"/>
            <a:ext cx="5211900" cy="73200"/>
          </a:xfrm>
          <a:prstGeom prst="roundRect">
            <a:avLst>
              <a:gd fmla="val 50000" name="adj"/>
            </a:avLst>
          </a:prstGeom>
          <a:solidFill>
            <a:srgbClr val="7A2233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g3fbe76f6726_0_128"/>
          <p:cNvSpPr txBox="1"/>
          <p:nvPr/>
        </p:nvSpPr>
        <p:spPr>
          <a:xfrm>
            <a:off x="6492327" y="2550436"/>
            <a:ext cx="4724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Schema Cross-Tabulation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g3fbe76f6726_0_128"/>
          <p:cNvSpPr txBox="1"/>
          <p:nvPr/>
        </p:nvSpPr>
        <p:spPr>
          <a:xfrm>
            <a:off x="6492327" y="2940580"/>
            <a:ext cx="4724400" cy="7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Per-relation, per-class aggregation.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Edge count + average weight matrix.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g3fbe76f6726_0_128"/>
          <p:cNvSpPr/>
          <p:nvPr/>
        </p:nvSpPr>
        <p:spPr>
          <a:xfrm>
            <a:off x="571475" y="1400150"/>
            <a:ext cx="11049000" cy="28500"/>
          </a:xfrm>
          <a:prstGeom prst="rect">
            <a:avLst/>
          </a:prstGeom>
          <a:solidFill>
            <a:srgbClr val="8224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g3fbe76f6726_0_128"/>
          <p:cNvSpPr/>
          <p:nvPr/>
        </p:nvSpPr>
        <p:spPr>
          <a:xfrm>
            <a:off x="-9525" y="-57220"/>
            <a:ext cx="12211200" cy="297900"/>
          </a:xfrm>
          <a:prstGeom prst="rect">
            <a:avLst/>
          </a:prstGeom>
          <a:solidFill>
            <a:srgbClr val="82243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F1A2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8" name="Google Shape;628;g3fbe76f6726_0_128"/>
          <p:cNvSpPr/>
          <p:nvPr/>
        </p:nvSpPr>
        <p:spPr>
          <a:xfrm>
            <a:off x="-19050" y="6614399"/>
            <a:ext cx="12211200" cy="297900"/>
          </a:xfrm>
          <a:prstGeom prst="rect">
            <a:avLst/>
          </a:prstGeom>
          <a:solidFill>
            <a:srgbClr val="82243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F1A2D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g3fbe76f6726_0_162"/>
          <p:cNvSpPr/>
          <p:nvPr/>
        </p:nvSpPr>
        <p:spPr>
          <a:xfrm>
            <a:off x="0" y="0"/>
            <a:ext cx="12192000" cy="97500"/>
          </a:xfrm>
          <a:prstGeom prst="rect">
            <a:avLst/>
          </a:prstGeom>
          <a:solidFill>
            <a:srgbClr val="7A2233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g3fbe76f6726_0_162"/>
          <p:cNvSpPr/>
          <p:nvPr/>
        </p:nvSpPr>
        <p:spPr>
          <a:xfrm>
            <a:off x="0" y="6760464"/>
            <a:ext cx="12192000" cy="97500"/>
          </a:xfrm>
          <a:prstGeom prst="rect">
            <a:avLst/>
          </a:prstGeom>
          <a:solidFill>
            <a:srgbClr val="7A2233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g3fbe76f6726_0_162"/>
          <p:cNvSpPr txBox="1"/>
          <p:nvPr/>
        </p:nvSpPr>
        <p:spPr>
          <a:xfrm>
            <a:off x="731520" y="426720"/>
            <a:ext cx="4876800" cy="34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23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7A2233"/>
                </a:solidFill>
                <a:latin typeface="Calibri"/>
                <a:ea typeface="Calibri"/>
                <a:cs typeface="Calibri"/>
                <a:sym typeface="Calibri"/>
              </a:rPr>
              <a:t>QUERY SUITE — </a:t>
            </a:r>
            <a:r>
              <a:rPr b="1" lang="en-US" sz="1300">
                <a:solidFill>
                  <a:srgbClr val="7A2233"/>
                </a:solidFill>
                <a:latin typeface="Calibri"/>
                <a:ea typeface="Calibri"/>
                <a:cs typeface="Calibri"/>
                <a:sym typeface="Calibri"/>
              </a:rPr>
              <a:t>FAMILY 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g3fbe76f6726_0_162"/>
          <p:cNvSpPr txBox="1"/>
          <p:nvPr/>
        </p:nvSpPr>
        <p:spPr>
          <a:xfrm>
            <a:off x="731520" y="792480"/>
            <a:ext cx="10728900" cy="6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4000"/>
              <a:buFont typeface="Calibri"/>
              <a:buNone/>
            </a:pPr>
            <a:r>
              <a:rPr b="1" i="0" lang="en-US" sz="30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Family D: Schema &amp; Integrity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g3fbe76f6726_0_162"/>
          <p:cNvSpPr txBox="1"/>
          <p:nvPr/>
        </p:nvSpPr>
        <p:spPr>
          <a:xfrm>
            <a:off x="731520" y="1524000"/>
            <a:ext cx="10363200" cy="6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600"/>
              <a:buFont typeface="Calibri"/>
              <a:buNone/>
            </a:pPr>
            <a:r>
              <a:rPr b="0" i="0" lang="en-US" sz="17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Constraint enforcement, violation detection, and data mutation. Evaluates how each architecture handles schema validation at write time and referential integrity during deletions.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g3fbe76f6726_0_162"/>
          <p:cNvSpPr/>
          <p:nvPr/>
        </p:nvSpPr>
        <p:spPr>
          <a:xfrm>
            <a:off x="731520" y="4736722"/>
            <a:ext cx="463200" cy="268500"/>
          </a:xfrm>
          <a:prstGeom prst="roundRect">
            <a:avLst>
              <a:gd fmla="val 22727" name="adj"/>
            </a:avLst>
          </a:prstGeom>
          <a:solidFill>
            <a:srgbClr val="7A2233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g3fbe76f6726_0_162"/>
          <p:cNvSpPr txBox="1"/>
          <p:nvPr/>
        </p:nvSpPr>
        <p:spPr>
          <a:xfrm>
            <a:off x="731520" y="4736722"/>
            <a:ext cx="463200" cy="2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g3fbe76f6726_0_162"/>
          <p:cNvSpPr txBox="1"/>
          <p:nvPr/>
        </p:nvSpPr>
        <p:spPr>
          <a:xfrm>
            <a:off x="1341120" y="4712338"/>
            <a:ext cx="103632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Violation Check</a:t>
            </a:r>
            <a:r>
              <a:rPr b="0" i="0" lang="en-US" sz="1200" u="none" cap="none" strike="noStrike">
                <a:solidFill>
                  <a:srgbClr val="7A7A7A"/>
                </a:solidFill>
                <a:latin typeface="Calibri"/>
                <a:ea typeface="Calibri"/>
                <a:cs typeface="Calibri"/>
                <a:sym typeface="Calibri"/>
              </a:rPr>
              <a:t>  —  Count edges violating the type contract. MySQL uses v_edges view; Memgraph queries :Schema meta-graph.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g3fbe76f6726_0_162"/>
          <p:cNvSpPr/>
          <p:nvPr/>
        </p:nvSpPr>
        <p:spPr>
          <a:xfrm>
            <a:off x="731520" y="5102482"/>
            <a:ext cx="463200" cy="268500"/>
          </a:xfrm>
          <a:prstGeom prst="roundRect">
            <a:avLst>
              <a:gd fmla="val 22727" name="adj"/>
            </a:avLst>
          </a:prstGeom>
          <a:solidFill>
            <a:srgbClr val="7A2233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g3fbe76f6726_0_162"/>
          <p:cNvSpPr txBox="1"/>
          <p:nvPr/>
        </p:nvSpPr>
        <p:spPr>
          <a:xfrm>
            <a:off x="731520" y="5102482"/>
            <a:ext cx="463200" cy="2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g3fbe76f6726_0_162"/>
          <p:cNvSpPr txBox="1"/>
          <p:nvPr/>
        </p:nvSpPr>
        <p:spPr>
          <a:xfrm>
            <a:off x="1341120" y="5078098"/>
            <a:ext cx="103632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Invalid Insert</a:t>
            </a:r>
            <a:r>
              <a:rPr b="0" i="0" lang="en-US" sz="1200" u="none" cap="none" strike="noStrike">
                <a:solidFill>
                  <a:srgbClr val="7A7A7A"/>
                </a:solidFill>
                <a:latin typeface="Calibri"/>
                <a:ea typeface="Calibri"/>
                <a:cs typeface="Calibri"/>
                <a:sym typeface="Calibri"/>
              </a:rPr>
              <a:t>  —  Insert a contract-violating edge. MySQL rejects (CHECK + FK); Memgraph accepts silently.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g3fbe76f6726_0_162"/>
          <p:cNvSpPr/>
          <p:nvPr/>
        </p:nvSpPr>
        <p:spPr>
          <a:xfrm>
            <a:off x="731520" y="5468242"/>
            <a:ext cx="463200" cy="268500"/>
          </a:xfrm>
          <a:prstGeom prst="roundRect">
            <a:avLst>
              <a:gd fmla="val 22727" name="adj"/>
            </a:avLst>
          </a:prstGeom>
          <a:solidFill>
            <a:srgbClr val="7A2233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g3fbe76f6726_0_162"/>
          <p:cNvSpPr txBox="1"/>
          <p:nvPr/>
        </p:nvSpPr>
        <p:spPr>
          <a:xfrm>
            <a:off x="731520" y="5468242"/>
            <a:ext cx="463200" cy="2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g3fbe76f6726_0_162"/>
          <p:cNvSpPr txBox="1"/>
          <p:nvPr/>
        </p:nvSpPr>
        <p:spPr>
          <a:xfrm>
            <a:off x="1341120" y="5443858"/>
            <a:ext cx="103632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Concept Delete</a:t>
            </a:r>
            <a:r>
              <a:rPr b="0" i="0" lang="en-US" sz="1200" u="none" cap="none" strike="noStrike">
                <a:solidFill>
                  <a:srgbClr val="7A7A7A"/>
                </a:solidFill>
                <a:latin typeface="Calibri"/>
                <a:ea typeface="Calibri"/>
                <a:cs typeface="Calibri"/>
                <a:sym typeface="Calibri"/>
              </a:rPr>
              <a:t>  —  Remove a concept and all incident edges. MySQL: ordered DELETE (FK order); Memgraph: DETACH DELETE.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g3fbe76f6726_0_162"/>
          <p:cNvSpPr txBox="1"/>
          <p:nvPr/>
        </p:nvSpPr>
        <p:spPr>
          <a:xfrm>
            <a:off x="731520" y="6279250"/>
            <a:ext cx="10728900" cy="2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8B1A1A"/>
                </a:solidFill>
                <a:latin typeface="Calibri"/>
                <a:ea typeface="Calibri"/>
                <a:cs typeface="Calibri"/>
                <a:sym typeface="Calibri"/>
              </a:rPr>
              <a:t>Key insight: MySQL enforces schema at write time (preventive) — Memgraph relies on query-time validation (detective).</a:t>
            </a:r>
            <a:endParaRPr b="0" i="0" sz="1100" u="none" cap="none" strike="noStrike">
              <a:solidFill>
                <a:srgbClr val="8B1A1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g3fbe76f6726_0_162"/>
          <p:cNvSpPr/>
          <p:nvPr/>
        </p:nvSpPr>
        <p:spPr>
          <a:xfrm>
            <a:off x="731582" y="2456705"/>
            <a:ext cx="5211900" cy="1584900"/>
          </a:xfrm>
          <a:prstGeom prst="roundRect">
            <a:avLst>
              <a:gd fmla="val 6154" name="adj"/>
            </a:avLst>
          </a:prstGeom>
          <a:solidFill>
            <a:srgbClr val="FFFFFF"/>
          </a:solidFill>
          <a:ln cap="flat" cmpd="sng" w="12700">
            <a:solidFill>
              <a:srgbClr val="E0D5D7"/>
            </a:solidFill>
            <a:prstDash val="solid"/>
            <a:round/>
            <a:headEnd len="sm" w="sm" type="none"/>
            <a:tailEnd len="sm" w="sm" type="none"/>
          </a:ln>
          <a:effectLst>
            <a:outerShdw blurRad="67733" rotWithShape="0" algn="bl" dir="8100000" dist="33867">
              <a:srgbClr val="000000">
                <a:alpha val="7840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g3fbe76f6726_0_162"/>
          <p:cNvSpPr/>
          <p:nvPr/>
        </p:nvSpPr>
        <p:spPr>
          <a:xfrm>
            <a:off x="731582" y="2456705"/>
            <a:ext cx="5211900" cy="73200"/>
          </a:xfrm>
          <a:prstGeom prst="roundRect">
            <a:avLst>
              <a:gd fmla="val 50000" name="adj"/>
            </a:avLst>
          </a:prstGeom>
          <a:solidFill>
            <a:srgbClr val="7A2233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g3fbe76f6726_0_162"/>
          <p:cNvSpPr txBox="1"/>
          <p:nvPr/>
        </p:nvSpPr>
        <p:spPr>
          <a:xfrm>
            <a:off x="975422" y="2676161"/>
            <a:ext cx="4724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Constraint Validation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g3fbe76f6726_0_162"/>
          <p:cNvSpPr txBox="1"/>
          <p:nvPr/>
        </p:nvSpPr>
        <p:spPr>
          <a:xfrm>
            <a:off x="975422" y="3066305"/>
            <a:ext cx="4724400" cy="7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A priori type-contract check.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Preventive vs. detective approach.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g3fbe76f6726_0_162"/>
          <p:cNvSpPr/>
          <p:nvPr/>
        </p:nvSpPr>
        <p:spPr>
          <a:xfrm>
            <a:off x="6248463" y="2456705"/>
            <a:ext cx="5211900" cy="1584900"/>
          </a:xfrm>
          <a:prstGeom prst="roundRect">
            <a:avLst>
              <a:gd fmla="val 6154" name="adj"/>
            </a:avLst>
          </a:prstGeom>
          <a:solidFill>
            <a:srgbClr val="FFFFFF"/>
          </a:solidFill>
          <a:ln cap="flat" cmpd="sng" w="12700">
            <a:solidFill>
              <a:srgbClr val="E0D5D7"/>
            </a:solidFill>
            <a:prstDash val="solid"/>
            <a:round/>
            <a:headEnd len="sm" w="sm" type="none"/>
            <a:tailEnd len="sm" w="sm" type="none"/>
          </a:ln>
          <a:effectLst>
            <a:outerShdw blurRad="67733" rotWithShape="0" algn="bl" dir="8100000" dist="33867">
              <a:srgbClr val="000000">
                <a:alpha val="7840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g3fbe76f6726_0_162"/>
          <p:cNvSpPr/>
          <p:nvPr/>
        </p:nvSpPr>
        <p:spPr>
          <a:xfrm>
            <a:off x="6248463" y="2456705"/>
            <a:ext cx="5211900" cy="73200"/>
          </a:xfrm>
          <a:prstGeom prst="roundRect">
            <a:avLst>
              <a:gd fmla="val 50000" name="adj"/>
            </a:avLst>
          </a:prstGeom>
          <a:solidFill>
            <a:srgbClr val="7A2233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g3fbe76f6726_0_162"/>
          <p:cNvSpPr txBox="1"/>
          <p:nvPr/>
        </p:nvSpPr>
        <p:spPr>
          <a:xfrm>
            <a:off x="6492302" y="2676161"/>
            <a:ext cx="4724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Data Mutation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g3fbe76f6726_0_162"/>
          <p:cNvSpPr txBox="1"/>
          <p:nvPr/>
        </p:nvSpPr>
        <p:spPr>
          <a:xfrm>
            <a:off x="6492302" y="3066305"/>
            <a:ext cx="4724400" cy="7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Cascading deletion.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Referential integrity handling.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g3fbe76f6726_0_162"/>
          <p:cNvSpPr/>
          <p:nvPr/>
        </p:nvSpPr>
        <p:spPr>
          <a:xfrm>
            <a:off x="571475" y="1400150"/>
            <a:ext cx="11049000" cy="28500"/>
          </a:xfrm>
          <a:prstGeom prst="rect">
            <a:avLst/>
          </a:prstGeom>
          <a:solidFill>
            <a:srgbClr val="8224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g3fbe76f6726_0_162"/>
          <p:cNvSpPr/>
          <p:nvPr/>
        </p:nvSpPr>
        <p:spPr>
          <a:xfrm>
            <a:off x="-9525" y="-57220"/>
            <a:ext cx="12211200" cy="297900"/>
          </a:xfrm>
          <a:prstGeom prst="rect">
            <a:avLst/>
          </a:prstGeom>
          <a:solidFill>
            <a:srgbClr val="82243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F1A2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9" name="Google Shape;659;g3fbe76f6726_0_162"/>
          <p:cNvSpPr/>
          <p:nvPr/>
        </p:nvSpPr>
        <p:spPr>
          <a:xfrm>
            <a:off x="-19050" y="6614399"/>
            <a:ext cx="12211200" cy="297900"/>
          </a:xfrm>
          <a:prstGeom prst="rect">
            <a:avLst/>
          </a:prstGeom>
          <a:solidFill>
            <a:srgbClr val="82243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F1A2D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h49a0bcae752c4fa0_1_170"/>
          <p:cNvSpPr/>
          <p:nvPr/>
        </p:nvSpPr>
        <p:spPr>
          <a:xfrm>
            <a:off x="0" y="0"/>
            <a:ext cx="12192000" cy="97500"/>
          </a:xfrm>
          <a:prstGeom prst="rect">
            <a:avLst/>
          </a:prstGeom>
          <a:solidFill>
            <a:srgbClr val="7A2233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h49a0bcae752c4fa0_1_170"/>
          <p:cNvSpPr/>
          <p:nvPr/>
        </p:nvSpPr>
        <p:spPr>
          <a:xfrm>
            <a:off x="0" y="6760464"/>
            <a:ext cx="12192000" cy="97500"/>
          </a:xfrm>
          <a:prstGeom prst="rect">
            <a:avLst/>
          </a:prstGeom>
          <a:solidFill>
            <a:srgbClr val="7A2233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h49a0bcae752c4fa0_1_170"/>
          <p:cNvSpPr txBox="1"/>
          <p:nvPr/>
        </p:nvSpPr>
        <p:spPr>
          <a:xfrm>
            <a:off x="609600" y="341376"/>
            <a:ext cx="6096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23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7A2233"/>
                </a:solidFill>
                <a:latin typeface="Calibri"/>
                <a:ea typeface="Calibri"/>
                <a:cs typeface="Calibri"/>
                <a:sym typeface="Calibri"/>
              </a:rPr>
              <a:t>BENCHMARK — FAMILIES C &amp; 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h49a0bcae752c4fa0_1_170"/>
          <p:cNvSpPr txBox="1"/>
          <p:nvPr/>
        </p:nvSpPr>
        <p:spPr>
          <a:xfrm>
            <a:off x="609600" y="707136"/>
            <a:ext cx="109728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3500"/>
              <a:buFont typeface="Calibri"/>
              <a:buNone/>
            </a:pPr>
            <a:r>
              <a:rPr b="1" i="0" lang="en-US" sz="35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Global Retrieval &amp; Schema Integrity</a:t>
            </a:r>
            <a:endParaRPr b="0" i="0" sz="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h49a0bcae752c4fa0_1_170"/>
          <p:cNvSpPr txBox="1"/>
          <p:nvPr/>
        </p:nvSpPr>
        <p:spPr>
          <a:xfrm>
            <a:off x="609600" y="1243584"/>
            <a:ext cx="10972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Median execution time (ms). All results verified OK.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h49a0bcae752c4fa0_1_170"/>
          <p:cNvSpPr/>
          <p:nvPr/>
        </p:nvSpPr>
        <p:spPr>
          <a:xfrm>
            <a:off x="487680" y="1645920"/>
            <a:ext cx="11216700" cy="316800"/>
          </a:xfrm>
          <a:prstGeom prst="roundRect">
            <a:avLst>
              <a:gd fmla="val 15385" name="adj"/>
            </a:avLst>
          </a:prstGeom>
          <a:solidFill>
            <a:srgbClr val="7A2233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h49a0bcae752c4fa0_1_170"/>
          <p:cNvSpPr txBox="1"/>
          <p:nvPr/>
        </p:nvSpPr>
        <p:spPr>
          <a:xfrm>
            <a:off x="609600" y="1645920"/>
            <a:ext cx="5487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h49a0bcae752c4fa0_1_170"/>
          <p:cNvSpPr txBox="1"/>
          <p:nvPr/>
        </p:nvSpPr>
        <p:spPr>
          <a:xfrm>
            <a:off x="1316736" y="1645920"/>
            <a:ext cx="10365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SQL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h49a0bcae752c4fa0_1_170"/>
          <p:cNvSpPr txBox="1"/>
          <p:nvPr/>
        </p:nvSpPr>
        <p:spPr>
          <a:xfrm>
            <a:off x="2414016" y="1645920"/>
            <a:ext cx="10365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Cypher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h49a0bcae752c4fa0_1_170"/>
          <p:cNvSpPr txBox="1"/>
          <p:nvPr/>
        </p:nvSpPr>
        <p:spPr>
          <a:xfrm>
            <a:off x="3596640" y="1645920"/>
            <a:ext cx="8535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Win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h49a0bcae752c4fa0_1_170"/>
          <p:cNvSpPr txBox="1"/>
          <p:nvPr/>
        </p:nvSpPr>
        <p:spPr>
          <a:xfrm>
            <a:off x="4632960" y="1645920"/>
            <a:ext cx="70104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Finding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h49a0bcae752c4fa0_1_170"/>
          <p:cNvSpPr/>
          <p:nvPr/>
        </p:nvSpPr>
        <p:spPr>
          <a:xfrm>
            <a:off x="487680" y="2011680"/>
            <a:ext cx="11216700" cy="365700"/>
          </a:xfrm>
          <a:prstGeom prst="roundRect">
            <a:avLst>
              <a:gd fmla="val 13333" name="adj"/>
            </a:avLst>
          </a:prstGeom>
          <a:solidFill>
            <a:srgbClr val="F3EAEB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h49a0bcae752c4fa0_1_170"/>
          <p:cNvSpPr/>
          <p:nvPr/>
        </p:nvSpPr>
        <p:spPr>
          <a:xfrm>
            <a:off x="609600" y="2048256"/>
            <a:ext cx="548700" cy="292800"/>
          </a:xfrm>
          <a:prstGeom prst="roundRect">
            <a:avLst>
              <a:gd fmla="val 20833" name="adj"/>
            </a:avLst>
          </a:prstGeom>
          <a:solidFill>
            <a:srgbClr val="7A2233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8" name="Google Shape;678;h49a0bcae752c4fa0_1_170"/>
          <p:cNvSpPr txBox="1"/>
          <p:nvPr/>
        </p:nvSpPr>
        <p:spPr>
          <a:xfrm>
            <a:off x="609600" y="2048256"/>
            <a:ext cx="548700" cy="29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h49a0bcae752c4fa0_1_170"/>
          <p:cNvSpPr txBox="1"/>
          <p:nvPr/>
        </p:nvSpPr>
        <p:spPr>
          <a:xfrm>
            <a:off x="1316736" y="2011680"/>
            <a:ext cx="1036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894.57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h49a0bcae752c4fa0_1_170"/>
          <p:cNvSpPr txBox="1"/>
          <p:nvPr/>
        </p:nvSpPr>
        <p:spPr>
          <a:xfrm>
            <a:off x="2414016" y="2011680"/>
            <a:ext cx="1036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555.87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h49a0bcae752c4fa0_1_170"/>
          <p:cNvSpPr/>
          <p:nvPr/>
        </p:nvSpPr>
        <p:spPr>
          <a:xfrm>
            <a:off x="3596640" y="2048256"/>
            <a:ext cx="853500" cy="292800"/>
          </a:xfrm>
          <a:prstGeom prst="roundRect">
            <a:avLst>
              <a:gd fmla="val 50000" name="adj"/>
            </a:avLst>
          </a:prstGeom>
          <a:solidFill>
            <a:srgbClr val="F3EAEB"/>
          </a:solidFill>
          <a:ln cap="flat" cmpd="sng" w="12700">
            <a:solidFill>
              <a:srgbClr val="7A22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h49a0bcae752c4fa0_1_170"/>
          <p:cNvSpPr txBox="1"/>
          <p:nvPr/>
        </p:nvSpPr>
        <p:spPr>
          <a:xfrm>
            <a:off x="3596640" y="2048256"/>
            <a:ext cx="853500" cy="29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223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7A2233"/>
                </a:solidFill>
                <a:latin typeface="Calibri"/>
                <a:ea typeface="Calibri"/>
                <a:cs typeface="Calibri"/>
                <a:sym typeface="Calibri"/>
              </a:rPr>
              <a:t>Graph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h49a0bcae752c4fa0_1_170"/>
          <p:cNvSpPr txBox="1"/>
          <p:nvPr/>
        </p:nvSpPr>
        <p:spPr>
          <a:xfrm>
            <a:off x="4632960" y="2011680"/>
            <a:ext cx="7010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Hub ranking — Memgraph 1.6× faster</a:t>
            </a:r>
            <a:r>
              <a:rPr lang="en-US" sz="11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. SQL pays join-backs to nodes / relations.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h49a0bcae752c4fa0_1_170"/>
          <p:cNvSpPr/>
          <p:nvPr/>
        </p:nvSpPr>
        <p:spPr>
          <a:xfrm>
            <a:off x="487680" y="2414016"/>
            <a:ext cx="11216700" cy="365700"/>
          </a:xfrm>
          <a:prstGeom prst="roundRect">
            <a:avLst>
              <a:gd fmla="val 13333" name="adj"/>
            </a:avLst>
          </a:prstGeom>
          <a:solidFill>
            <a:srgbClr val="F3EAEB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Google Shape;685;h49a0bcae752c4fa0_1_170"/>
          <p:cNvSpPr/>
          <p:nvPr/>
        </p:nvSpPr>
        <p:spPr>
          <a:xfrm>
            <a:off x="609600" y="2450592"/>
            <a:ext cx="548700" cy="292800"/>
          </a:xfrm>
          <a:prstGeom prst="roundRect">
            <a:avLst>
              <a:gd fmla="val 20833" name="adj"/>
            </a:avLst>
          </a:prstGeom>
          <a:solidFill>
            <a:srgbClr val="7A2233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6" name="Google Shape;686;h49a0bcae752c4fa0_1_170"/>
          <p:cNvSpPr txBox="1"/>
          <p:nvPr/>
        </p:nvSpPr>
        <p:spPr>
          <a:xfrm>
            <a:off x="609600" y="2450592"/>
            <a:ext cx="548700" cy="29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h49a0bcae752c4fa0_1_170"/>
          <p:cNvSpPr txBox="1"/>
          <p:nvPr/>
        </p:nvSpPr>
        <p:spPr>
          <a:xfrm>
            <a:off x="1316736" y="2414016"/>
            <a:ext cx="1036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576.22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h49a0bcae752c4fa0_1_170"/>
          <p:cNvSpPr txBox="1"/>
          <p:nvPr/>
        </p:nvSpPr>
        <p:spPr>
          <a:xfrm>
            <a:off x="2414016" y="2414016"/>
            <a:ext cx="1036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163.68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h49a0bcae752c4fa0_1_170"/>
          <p:cNvSpPr/>
          <p:nvPr/>
        </p:nvSpPr>
        <p:spPr>
          <a:xfrm>
            <a:off x="3596640" y="2450592"/>
            <a:ext cx="853500" cy="292800"/>
          </a:xfrm>
          <a:prstGeom prst="roundRect">
            <a:avLst>
              <a:gd fmla="val 50000" name="adj"/>
            </a:avLst>
          </a:prstGeom>
          <a:solidFill>
            <a:srgbClr val="F3EAEB"/>
          </a:solidFill>
          <a:ln cap="flat" cmpd="sng" w="12700">
            <a:solidFill>
              <a:srgbClr val="7A22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" name="Google Shape;690;h49a0bcae752c4fa0_1_170"/>
          <p:cNvSpPr txBox="1"/>
          <p:nvPr/>
        </p:nvSpPr>
        <p:spPr>
          <a:xfrm>
            <a:off x="3596640" y="2450592"/>
            <a:ext cx="853500" cy="29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223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7A2233"/>
                </a:solidFill>
                <a:latin typeface="Calibri"/>
                <a:ea typeface="Calibri"/>
                <a:cs typeface="Calibri"/>
                <a:sym typeface="Calibri"/>
              </a:rPr>
              <a:t>Graph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h49a0bcae752c4fa0_1_170"/>
          <p:cNvSpPr txBox="1"/>
          <p:nvPr/>
        </p:nvSpPr>
        <p:spPr>
          <a:xfrm>
            <a:off x="4632960" y="2414016"/>
            <a:ext cx="7010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Relation-class matrix — Memgraph 3.5× faste</a:t>
            </a:r>
            <a:r>
              <a:rPr lang="en-US" sz="11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r. Same reason as C1 analysis.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h49a0bcae752c4fa0_1_170"/>
          <p:cNvSpPr/>
          <p:nvPr/>
        </p:nvSpPr>
        <p:spPr>
          <a:xfrm>
            <a:off x="487680" y="2816352"/>
            <a:ext cx="11216700" cy="365700"/>
          </a:xfrm>
          <a:prstGeom prst="roundRect">
            <a:avLst>
              <a:gd fmla="val 13333" name="adj"/>
            </a:avLst>
          </a:prstGeom>
          <a:solidFill>
            <a:srgbClr val="F3EAEB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3" name="Google Shape;693;h49a0bcae752c4fa0_1_170"/>
          <p:cNvSpPr/>
          <p:nvPr/>
        </p:nvSpPr>
        <p:spPr>
          <a:xfrm>
            <a:off x="609600" y="2852928"/>
            <a:ext cx="548700" cy="292800"/>
          </a:xfrm>
          <a:prstGeom prst="roundRect">
            <a:avLst>
              <a:gd fmla="val 20833" name="adj"/>
            </a:avLst>
          </a:prstGeom>
          <a:solidFill>
            <a:srgbClr val="7A2233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4" name="Google Shape;694;h49a0bcae752c4fa0_1_170"/>
          <p:cNvSpPr txBox="1"/>
          <p:nvPr/>
        </p:nvSpPr>
        <p:spPr>
          <a:xfrm>
            <a:off x="609600" y="2852928"/>
            <a:ext cx="548700" cy="29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h49a0bcae752c4fa0_1_170"/>
          <p:cNvSpPr txBox="1"/>
          <p:nvPr/>
        </p:nvSpPr>
        <p:spPr>
          <a:xfrm>
            <a:off x="1316736" y="2816352"/>
            <a:ext cx="1036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67.44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h49a0bcae752c4fa0_1_170"/>
          <p:cNvSpPr txBox="1"/>
          <p:nvPr/>
        </p:nvSpPr>
        <p:spPr>
          <a:xfrm>
            <a:off x="2414016" y="2816352"/>
            <a:ext cx="1036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4556.20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h49a0bcae752c4fa0_1_170"/>
          <p:cNvSpPr/>
          <p:nvPr/>
        </p:nvSpPr>
        <p:spPr>
          <a:xfrm>
            <a:off x="3596640" y="2852928"/>
            <a:ext cx="853500" cy="292800"/>
          </a:xfrm>
          <a:prstGeom prst="roundRect">
            <a:avLst>
              <a:gd fmla="val 50000" name="adj"/>
            </a:avLst>
          </a:prstGeom>
          <a:solidFill>
            <a:srgbClr val="E8F5EE"/>
          </a:solidFill>
          <a:ln cap="flat" cmpd="sng" w="12700">
            <a:solidFill>
              <a:srgbClr val="2E7D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8" name="Google Shape;698;h49a0bcae752c4fa0_1_170"/>
          <p:cNvSpPr txBox="1"/>
          <p:nvPr/>
        </p:nvSpPr>
        <p:spPr>
          <a:xfrm>
            <a:off x="3596640" y="2852928"/>
            <a:ext cx="853500" cy="29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5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E7D52"/>
                </a:solidFill>
                <a:latin typeface="Calibri"/>
                <a:ea typeface="Calibri"/>
                <a:cs typeface="Calibri"/>
                <a:sym typeface="Calibri"/>
              </a:rPr>
              <a:t>SQL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h49a0bcae752c4fa0_1_170"/>
          <p:cNvSpPr txBox="1"/>
          <p:nvPr/>
        </p:nvSpPr>
        <p:spPr>
          <a:xfrm>
            <a:off x="4632960" y="2816352"/>
            <a:ext cx="7010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Violation check — </a:t>
            </a:r>
            <a:r>
              <a:rPr lang="en-US" sz="11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MySQL checks the contract via a view over reference table, while Memgraph runa a per-edge anti-join.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h49a0bcae752c4fa0_1_170"/>
          <p:cNvSpPr/>
          <p:nvPr/>
        </p:nvSpPr>
        <p:spPr>
          <a:xfrm>
            <a:off x="487680" y="3218688"/>
            <a:ext cx="11216700" cy="365700"/>
          </a:xfrm>
          <a:prstGeom prst="roundRect">
            <a:avLst>
              <a:gd fmla="val 13333" name="adj"/>
            </a:avLst>
          </a:prstGeom>
          <a:solidFill>
            <a:srgbClr val="F3EAEB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1" name="Google Shape;701;h49a0bcae752c4fa0_1_170"/>
          <p:cNvSpPr/>
          <p:nvPr/>
        </p:nvSpPr>
        <p:spPr>
          <a:xfrm>
            <a:off x="609600" y="3255264"/>
            <a:ext cx="548700" cy="292800"/>
          </a:xfrm>
          <a:prstGeom prst="roundRect">
            <a:avLst>
              <a:gd fmla="val 20833" name="adj"/>
            </a:avLst>
          </a:prstGeom>
          <a:solidFill>
            <a:srgbClr val="7A2233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2" name="Google Shape;702;h49a0bcae752c4fa0_1_170"/>
          <p:cNvSpPr txBox="1"/>
          <p:nvPr/>
        </p:nvSpPr>
        <p:spPr>
          <a:xfrm>
            <a:off x="609600" y="3255264"/>
            <a:ext cx="548700" cy="29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h49a0bcae752c4fa0_1_170"/>
          <p:cNvSpPr txBox="1"/>
          <p:nvPr/>
        </p:nvSpPr>
        <p:spPr>
          <a:xfrm>
            <a:off x="1316736" y="3218688"/>
            <a:ext cx="1036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75.20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h49a0bcae752c4fa0_1_170"/>
          <p:cNvSpPr txBox="1"/>
          <p:nvPr/>
        </p:nvSpPr>
        <p:spPr>
          <a:xfrm>
            <a:off x="2414016" y="3218688"/>
            <a:ext cx="1036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4664.76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h49a0bcae752c4fa0_1_170"/>
          <p:cNvSpPr/>
          <p:nvPr/>
        </p:nvSpPr>
        <p:spPr>
          <a:xfrm>
            <a:off x="3596640" y="3255264"/>
            <a:ext cx="853500" cy="292800"/>
          </a:xfrm>
          <a:prstGeom prst="roundRect">
            <a:avLst>
              <a:gd fmla="val 50000" name="adj"/>
            </a:avLst>
          </a:prstGeom>
          <a:solidFill>
            <a:srgbClr val="E8F5EE"/>
          </a:solidFill>
          <a:ln cap="flat" cmpd="sng" w="12700">
            <a:solidFill>
              <a:srgbClr val="2E7D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6" name="Google Shape;706;h49a0bcae752c4fa0_1_170"/>
          <p:cNvSpPr txBox="1"/>
          <p:nvPr/>
        </p:nvSpPr>
        <p:spPr>
          <a:xfrm>
            <a:off x="3596640" y="3255264"/>
            <a:ext cx="853500" cy="29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5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E7D52"/>
                </a:solidFill>
                <a:latin typeface="Calibri"/>
                <a:ea typeface="Calibri"/>
                <a:cs typeface="Calibri"/>
                <a:sym typeface="Calibri"/>
              </a:rPr>
              <a:t>SQL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h49a0bcae752c4fa0_1_170"/>
          <p:cNvSpPr txBox="1"/>
          <p:nvPr/>
        </p:nvSpPr>
        <p:spPr>
          <a:xfrm>
            <a:off x="4632960" y="3218688"/>
            <a:ext cx="7010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Invalid Insert -MySQL rejects 2 of 3 invalid inserts at write time (CHECK 3819, FK 1452); the third (truthful class, unpermitted combo) loads flagged ‘permitted=0’. Memgraph accepts all three silently </a:t>
            </a:r>
            <a:endParaRPr sz="1000" u="none" cap="none" strike="noStrike">
              <a:solidFill>
                <a:srgbClr val="4A4A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h49a0bcae752c4fa0_1_170"/>
          <p:cNvSpPr/>
          <p:nvPr/>
        </p:nvSpPr>
        <p:spPr>
          <a:xfrm>
            <a:off x="487680" y="3621024"/>
            <a:ext cx="11216700" cy="365700"/>
          </a:xfrm>
          <a:prstGeom prst="roundRect">
            <a:avLst>
              <a:gd fmla="val 13333" name="adj"/>
            </a:avLst>
          </a:prstGeom>
          <a:solidFill>
            <a:srgbClr val="F3EAEB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9" name="Google Shape;709;h49a0bcae752c4fa0_1_170"/>
          <p:cNvSpPr/>
          <p:nvPr/>
        </p:nvSpPr>
        <p:spPr>
          <a:xfrm>
            <a:off x="609600" y="3657600"/>
            <a:ext cx="548700" cy="292800"/>
          </a:xfrm>
          <a:prstGeom prst="roundRect">
            <a:avLst>
              <a:gd fmla="val 20833" name="adj"/>
            </a:avLst>
          </a:prstGeom>
          <a:solidFill>
            <a:srgbClr val="7A2233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0" name="Google Shape;710;h49a0bcae752c4fa0_1_170"/>
          <p:cNvSpPr txBox="1"/>
          <p:nvPr/>
        </p:nvSpPr>
        <p:spPr>
          <a:xfrm>
            <a:off x="609600" y="3657600"/>
            <a:ext cx="548700" cy="29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h49a0bcae752c4fa0_1_170"/>
          <p:cNvSpPr txBox="1"/>
          <p:nvPr/>
        </p:nvSpPr>
        <p:spPr>
          <a:xfrm>
            <a:off x="1316736" y="3621024"/>
            <a:ext cx="1036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2.45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h49a0bcae752c4fa0_1_170"/>
          <p:cNvSpPr txBox="1"/>
          <p:nvPr/>
        </p:nvSpPr>
        <p:spPr>
          <a:xfrm>
            <a:off x="2414016" y="3621024"/>
            <a:ext cx="1036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30.39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h49a0bcae752c4fa0_1_170"/>
          <p:cNvSpPr/>
          <p:nvPr/>
        </p:nvSpPr>
        <p:spPr>
          <a:xfrm>
            <a:off x="3596640" y="3657600"/>
            <a:ext cx="853500" cy="292800"/>
          </a:xfrm>
          <a:prstGeom prst="roundRect">
            <a:avLst>
              <a:gd fmla="val 50000" name="adj"/>
            </a:avLst>
          </a:prstGeom>
          <a:solidFill>
            <a:srgbClr val="E8F5EE"/>
          </a:solidFill>
          <a:ln cap="flat" cmpd="sng" w="12700">
            <a:solidFill>
              <a:srgbClr val="2E7D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4" name="Google Shape;714;h49a0bcae752c4fa0_1_170"/>
          <p:cNvSpPr txBox="1"/>
          <p:nvPr/>
        </p:nvSpPr>
        <p:spPr>
          <a:xfrm>
            <a:off x="3596640" y="3657600"/>
            <a:ext cx="853500" cy="29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5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E7D52"/>
                </a:solidFill>
                <a:latin typeface="Calibri"/>
                <a:ea typeface="Calibri"/>
                <a:cs typeface="Calibri"/>
                <a:sym typeface="Calibri"/>
              </a:rPr>
              <a:t>SQL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h49a0bcae752c4fa0_1_170"/>
          <p:cNvSpPr txBox="1"/>
          <p:nvPr/>
        </p:nvSpPr>
        <p:spPr>
          <a:xfrm>
            <a:off x="4632960" y="3621024"/>
            <a:ext cx="7010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Concept delete — </a:t>
            </a:r>
            <a:r>
              <a:rPr lang="en-US" sz="11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MySQL fails at deleting the parent first (FK 1451; children must go first). Memgraph uses one atomic ‘DETACH DELETE’, no order needed.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h49a0bcae752c4fa0_1_170"/>
          <p:cNvSpPr txBox="1"/>
          <p:nvPr/>
        </p:nvSpPr>
        <p:spPr>
          <a:xfrm>
            <a:off x="609600" y="4084320"/>
            <a:ext cx="6096000" cy="34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Qualitative Observations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h49a0bcae752c4fa0_1_170"/>
          <p:cNvSpPr/>
          <p:nvPr/>
        </p:nvSpPr>
        <p:spPr>
          <a:xfrm>
            <a:off x="609600" y="4511040"/>
            <a:ext cx="5181600" cy="950700"/>
          </a:xfrm>
          <a:prstGeom prst="roundRect">
            <a:avLst>
              <a:gd fmla="val 12821" name="adj"/>
            </a:avLst>
          </a:prstGeom>
          <a:solidFill>
            <a:srgbClr val="F3EAEB"/>
          </a:solidFill>
          <a:ln cap="flat" cmpd="sng" w="12700">
            <a:solidFill>
              <a:srgbClr val="7A22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8" name="Google Shape;718;h49a0bcae752c4fa0_1_170"/>
          <p:cNvSpPr txBox="1"/>
          <p:nvPr/>
        </p:nvSpPr>
        <p:spPr>
          <a:xfrm>
            <a:off x="853440" y="4572000"/>
            <a:ext cx="4632900" cy="2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23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7A2233"/>
                </a:solidFill>
                <a:latin typeface="Calibri"/>
                <a:ea typeface="Calibri"/>
                <a:cs typeface="Calibri"/>
                <a:sym typeface="Calibri"/>
              </a:rPr>
              <a:t>Family C — Graph wins both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h49a0bcae752c4fa0_1_170"/>
          <p:cNvSpPr txBox="1"/>
          <p:nvPr/>
        </p:nvSpPr>
        <p:spPr>
          <a:xfrm>
            <a:off x="853440" y="4852416"/>
            <a:ext cx="46329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In-memory iteration over all 454k edges is faster than disk-based InnoDB page reads. The gap widens on C2 (3.5×) where Memgraph's label-based CASE avoids the JOIN to the relations table.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h49a0bcae752c4fa0_1_170"/>
          <p:cNvSpPr/>
          <p:nvPr/>
        </p:nvSpPr>
        <p:spPr>
          <a:xfrm>
            <a:off x="6400800" y="4511040"/>
            <a:ext cx="5181600" cy="950700"/>
          </a:xfrm>
          <a:prstGeom prst="roundRect">
            <a:avLst>
              <a:gd fmla="val 12821" name="adj"/>
            </a:avLst>
          </a:prstGeom>
          <a:solidFill>
            <a:srgbClr val="E8F5EE"/>
          </a:solidFill>
          <a:ln cap="flat" cmpd="sng" w="12700">
            <a:solidFill>
              <a:srgbClr val="2E7D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1" name="Google Shape;721;h49a0bcae752c4fa0_1_170"/>
          <p:cNvSpPr txBox="1"/>
          <p:nvPr/>
        </p:nvSpPr>
        <p:spPr>
          <a:xfrm>
            <a:off x="6644640" y="4572000"/>
            <a:ext cx="4632900" cy="2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5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E7D52"/>
                </a:solidFill>
                <a:latin typeface="Calibri"/>
                <a:ea typeface="Calibri"/>
                <a:cs typeface="Calibri"/>
                <a:sym typeface="Calibri"/>
              </a:rPr>
              <a:t>Family D — SQL wins all three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h49a0bcae752c4fa0_1_170"/>
          <p:cNvSpPr txBox="1"/>
          <p:nvPr/>
        </p:nvSpPr>
        <p:spPr>
          <a:xfrm>
            <a:off x="6644640" y="4852416"/>
            <a:ext cx="46329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MySQL enforces constraints at write time (preventive): CHECK + FK reject invalid data instantly. Memgraph accepts silently and validates retroactively via the :Schema meta-graph — </a:t>
            </a:r>
            <a:r>
              <a:rPr lang="en-US" sz="11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~</a:t>
            </a:r>
            <a:r>
              <a:rPr b="0" i="0" lang="en-US" sz="11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68× slower.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h49a0bcae752c4fa0_1_170"/>
          <p:cNvSpPr/>
          <p:nvPr/>
        </p:nvSpPr>
        <p:spPr>
          <a:xfrm>
            <a:off x="487680" y="5730240"/>
            <a:ext cx="11216700" cy="463200"/>
          </a:xfrm>
          <a:prstGeom prst="roundRect">
            <a:avLst>
              <a:gd fmla="val 15789" name="adj"/>
            </a:avLst>
          </a:prstGeom>
          <a:solidFill>
            <a:srgbClr val="F8F5F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4" name="Google Shape;724;h49a0bcae752c4fa0_1_170"/>
          <p:cNvSpPr txBox="1"/>
          <p:nvPr/>
        </p:nvSpPr>
        <p:spPr>
          <a:xfrm>
            <a:off x="731520" y="5730240"/>
            <a:ext cx="10728900" cy="46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23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7A2233"/>
                </a:solidFill>
                <a:latin typeface="Calibri"/>
                <a:ea typeface="Calibri"/>
                <a:cs typeface="Calibri"/>
                <a:sym typeface="Calibri"/>
              </a:rPr>
              <a:t>Memgraph dominates global aggregations (C). MySQL dominates schema enforcement (D) — a fundamental architectural difference.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5" name="Google Shape;725;h49a0bcae752c4fa0_1_170"/>
          <p:cNvSpPr/>
          <p:nvPr/>
        </p:nvSpPr>
        <p:spPr>
          <a:xfrm>
            <a:off x="-19050" y="6614399"/>
            <a:ext cx="12211200" cy="297900"/>
          </a:xfrm>
          <a:prstGeom prst="rect">
            <a:avLst/>
          </a:prstGeom>
          <a:solidFill>
            <a:srgbClr val="82243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F1A2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6" name="Google Shape;726;h49a0bcae752c4fa0_1_170"/>
          <p:cNvSpPr/>
          <p:nvPr/>
        </p:nvSpPr>
        <p:spPr>
          <a:xfrm>
            <a:off x="-9525" y="-57220"/>
            <a:ext cx="12211200" cy="297900"/>
          </a:xfrm>
          <a:prstGeom prst="rect">
            <a:avLst/>
          </a:prstGeom>
          <a:solidFill>
            <a:srgbClr val="82243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F1A2D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h49a0bcae752c4fa0_1_236"/>
          <p:cNvSpPr/>
          <p:nvPr/>
        </p:nvSpPr>
        <p:spPr>
          <a:xfrm>
            <a:off x="0" y="0"/>
            <a:ext cx="12192000" cy="97500"/>
          </a:xfrm>
          <a:prstGeom prst="rect">
            <a:avLst/>
          </a:prstGeom>
          <a:solidFill>
            <a:srgbClr val="7A2233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3" name="Google Shape;733;h49a0bcae752c4fa0_1_236"/>
          <p:cNvSpPr/>
          <p:nvPr/>
        </p:nvSpPr>
        <p:spPr>
          <a:xfrm>
            <a:off x="0" y="6760464"/>
            <a:ext cx="12192000" cy="97500"/>
          </a:xfrm>
          <a:prstGeom prst="rect">
            <a:avLst/>
          </a:prstGeom>
          <a:solidFill>
            <a:srgbClr val="7A2233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4" name="Google Shape;734;h49a0bcae752c4fa0_1_236"/>
          <p:cNvSpPr txBox="1"/>
          <p:nvPr/>
        </p:nvSpPr>
        <p:spPr>
          <a:xfrm>
            <a:off x="609600" y="217676"/>
            <a:ext cx="6096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23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7A2233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h49a0bcae752c4fa0_1_236"/>
          <p:cNvSpPr txBox="1"/>
          <p:nvPr/>
        </p:nvSpPr>
        <p:spPr>
          <a:xfrm>
            <a:off x="609600" y="583436"/>
            <a:ext cx="10972800" cy="58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3700"/>
              <a:buFont typeface="Calibri"/>
              <a:buNone/>
            </a:pPr>
            <a:r>
              <a:rPr b="1" i="0" lang="en-US" sz="37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MySQL vs Memgraph — Final Verdict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h49a0bcae752c4fa0_1_236"/>
          <p:cNvSpPr/>
          <p:nvPr/>
        </p:nvSpPr>
        <p:spPr>
          <a:xfrm>
            <a:off x="609600" y="1339340"/>
            <a:ext cx="5181600" cy="4145100"/>
          </a:xfrm>
          <a:prstGeom prst="roundRect">
            <a:avLst>
              <a:gd fmla="val 3529" name="adj"/>
            </a:avLst>
          </a:prstGeom>
          <a:solidFill>
            <a:srgbClr val="E8F5EE"/>
          </a:solidFill>
          <a:ln cap="flat" cmpd="sng" w="13525">
            <a:solidFill>
              <a:srgbClr val="2E7D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7" name="Google Shape;737;h49a0bcae752c4fa0_1_236"/>
          <p:cNvSpPr/>
          <p:nvPr/>
        </p:nvSpPr>
        <p:spPr>
          <a:xfrm>
            <a:off x="853440" y="1522220"/>
            <a:ext cx="1401900" cy="365700"/>
          </a:xfrm>
          <a:prstGeom prst="roundRect">
            <a:avLst>
              <a:gd fmla="val 50000" name="adj"/>
            </a:avLst>
          </a:prstGeom>
          <a:solidFill>
            <a:srgbClr val="2E7D5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8" name="Google Shape;738;h49a0bcae752c4fa0_1_236"/>
          <p:cNvSpPr txBox="1"/>
          <p:nvPr/>
        </p:nvSpPr>
        <p:spPr>
          <a:xfrm>
            <a:off x="853440" y="1522220"/>
            <a:ext cx="1401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MySQL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h49a0bcae752c4fa0_1_236"/>
          <p:cNvSpPr txBox="1"/>
          <p:nvPr/>
        </p:nvSpPr>
        <p:spPr>
          <a:xfrm>
            <a:off x="853440" y="2046476"/>
            <a:ext cx="4632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5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2E7D52"/>
                </a:solidFill>
                <a:latin typeface="Calibri"/>
                <a:ea typeface="Calibri"/>
                <a:cs typeface="Calibri"/>
                <a:sym typeface="Calibri"/>
              </a:rPr>
              <a:t>Excels </a:t>
            </a:r>
            <a:r>
              <a:rPr b="1" lang="en-US" sz="1600">
                <a:solidFill>
                  <a:srgbClr val="2E7D52"/>
                </a:solidFill>
                <a:latin typeface="Calibri"/>
                <a:ea typeface="Calibri"/>
                <a:cs typeface="Calibri"/>
                <a:sym typeface="Calibri"/>
              </a:rPr>
              <a:t>when the workload is structured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h49a0bcae752c4fa0_1_236"/>
          <p:cNvSpPr/>
          <p:nvPr/>
        </p:nvSpPr>
        <p:spPr>
          <a:xfrm>
            <a:off x="975360" y="2509822"/>
            <a:ext cx="146400" cy="146400"/>
          </a:xfrm>
          <a:prstGeom prst="ellipse">
            <a:avLst/>
          </a:prstGeom>
          <a:solidFill>
            <a:srgbClr val="2E7D5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1" name="Google Shape;741;h49a0bcae752c4fa0_1_236"/>
          <p:cNvSpPr txBox="1"/>
          <p:nvPr/>
        </p:nvSpPr>
        <p:spPr>
          <a:xfrm>
            <a:off x="1280150" y="2339034"/>
            <a:ext cx="4267200" cy="85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2000"/>
              </a:spcAft>
              <a:buNone/>
            </a:pPr>
            <a:r>
              <a:rPr b="1" lang="en-US" sz="1300">
                <a:solidFill>
                  <a:srgbClr val="0D0D0D"/>
                </a:solidFill>
                <a:latin typeface="Roboto"/>
                <a:ea typeface="Roboto"/>
                <a:cs typeface="Roboto"/>
                <a:sym typeface="Roboto"/>
              </a:rPr>
              <a:t>Point &amp; range access:</a:t>
            </a:r>
            <a:r>
              <a:rPr lang="en-US" sz="1300">
                <a:solidFill>
                  <a:srgbClr val="0D0D0D"/>
                </a:solidFill>
                <a:latin typeface="Roboto"/>
                <a:ea typeface="Roboto"/>
                <a:cs typeface="Roboto"/>
                <a:sym typeface="Roboto"/>
              </a:rPr>
              <a:t> B+ tree equality and range scans dominate local retrieval — shallow joins are cheap for the planner.</a:t>
            </a:r>
            <a:endParaRPr>
              <a:solidFill>
                <a:srgbClr val="4A4A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h49a0bcae752c4fa0_1_236"/>
          <p:cNvSpPr/>
          <p:nvPr/>
        </p:nvSpPr>
        <p:spPr>
          <a:xfrm>
            <a:off x="975360" y="3314469"/>
            <a:ext cx="146400" cy="146400"/>
          </a:xfrm>
          <a:prstGeom prst="ellipse">
            <a:avLst/>
          </a:prstGeom>
          <a:solidFill>
            <a:srgbClr val="2E7D5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3" name="Google Shape;743;h49a0bcae752c4fa0_1_236"/>
          <p:cNvSpPr txBox="1"/>
          <p:nvPr/>
        </p:nvSpPr>
        <p:spPr>
          <a:xfrm>
            <a:off x="1280150" y="3229024"/>
            <a:ext cx="4267200" cy="67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2000"/>
              </a:spcAft>
              <a:buNone/>
            </a:pPr>
            <a:r>
              <a:rPr b="1" lang="en-US" sz="1300">
                <a:solidFill>
                  <a:srgbClr val="0D0D0D"/>
                </a:solidFill>
                <a:latin typeface="Roboto"/>
                <a:ea typeface="Roboto"/>
                <a:cs typeface="Roboto"/>
                <a:sym typeface="Roboto"/>
              </a:rPr>
              <a:t>Integrity at write time:</a:t>
            </a:r>
            <a:r>
              <a:rPr lang="en-US" sz="1300">
                <a:solidFill>
                  <a:srgbClr val="0D0D0D"/>
                </a:solidFill>
                <a:latin typeface="Roboto"/>
                <a:ea typeface="Roboto"/>
                <a:cs typeface="Roboto"/>
                <a:sym typeface="Roboto"/>
              </a:rPr>
              <a:t> CHECK + composite FKs reject invalid data on insert (D2: 3819/1452) and prevent orphaning on delete (D3: 1451) — no query needed.</a:t>
            </a:r>
            <a:endParaRPr>
              <a:solidFill>
                <a:srgbClr val="4A4A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4" name="Google Shape;744;h49a0bcae752c4fa0_1_236"/>
          <p:cNvSpPr/>
          <p:nvPr/>
        </p:nvSpPr>
        <p:spPr>
          <a:xfrm>
            <a:off x="975360" y="4103891"/>
            <a:ext cx="146400" cy="146400"/>
          </a:xfrm>
          <a:prstGeom prst="ellipse">
            <a:avLst/>
          </a:prstGeom>
          <a:solidFill>
            <a:srgbClr val="2E7D5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5" name="Google Shape;745;h49a0bcae752c4fa0_1_236"/>
          <p:cNvSpPr txBox="1"/>
          <p:nvPr/>
        </p:nvSpPr>
        <p:spPr>
          <a:xfrm>
            <a:off x="1280150" y="3940530"/>
            <a:ext cx="4267200" cy="85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2000"/>
              </a:spcAft>
              <a:buNone/>
            </a:pPr>
            <a:r>
              <a:rPr b="1" lang="en-US" sz="1300">
                <a:solidFill>
                  <a:srgbClr val="0D0D0D"/>
                </a:solidFill>
                <a:latin typeface="Roboto"/>
                <a:ea typeface="Roboto"/>
                <a:cs typeface="Roboto"/>
                <a:sym typeface="Roboto"/>
              </a:rPr>
              <a:t>Contract as catalog:</a:t>
            </a:r>
            <a:r>
              <a:rPr lang="en-US" sz="1300">
                <a:solidFill>
                  <a:srgbClr val="0D0D0D"/>
                </a:solidFill>
                <a:latin typeface="Roboto"/>
                <a:ea typeface="Roboto"/>
                <a:cs typeface="Roboto"/>
                <a:sym typeface="Roboto"/>
              </a:rPr>
              <a:t> the type contract is a declared schema; checking it is a view over reference tables — 68× faster than query-time validation (D1).</a:t>
            </a:r>
            <a:endParaRPr>
              <a:solidFill>
                <a:srgbClr val="4A4A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h49a0bcae752c4fa0_1_236"/>
          <p:cNvSpPr/>
          <p:nvPr/>
        </p:nvSpPr>
        <p:spPr>
          <a:xfrm>
            <a:off x="975360" y="4893315"/>
            <a:ext cx="146400" cy="146400"/>
          </a:xfrm>
          <a:prstGeom prst="ellipse">
            <a:avLst/>
          </a:prstGeom>
          <a:solidFill>
            <a:srgbClr val="2E7D5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7" name="Google Shape;747;h49a0bcae752c4fa0_1_236"/>
          <p:cNvSpPr txBox="1"/>
          <p:nvPr/>
        </p:nvSpPr>
        <p:spPr>
          <a:xfrm>
            <a:off x="1280160" y="4841450"/>
            <a:ext cx="4267200" cy="34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2000"/>
              </a:spcAft>
              <a:buNone/>
            </a:pPr>
            <a:r>
              <a:rPr b="1" lang="en-US" sz="1300">
                <a:solidFill>
                  <a:srgbClr val="0D0D0D"/>
                </a:solidFill>
                <a:latin typeface="Roboto"/>
                <a:ea typeface="Roboto"/>
                <a:cs typeface="Roboto"/>
                <a:sym typeface="Roboto"/>
              </a:rPr>
              <a:t>Durable &amp; compact:</a:t>
            </a:r>
            <a:r>
              <a:rPr lang="en-US" sz="1300">
                <a:solidFill>
                  <a:srgbClr val="0D0D0D"/>
                </a:solidFill>
                <a:latin typeface="Roboto"/>
                <a:ea typeface="Roboto"/>
                <a:cs typeface="Roboto"/>
                <a:sym typeface="Roboto"/>
              </a:rPr>
              <a:t> 186 MB on disk with persistence by default — vs. 1.54 GiB resident in RAM.</a:t>
            </a:r>
            <a:endParaRPr>
              <a:solidFill>
                <a:srgbClr val="4A4A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h49a0bcae752c4fa0_1_236"/>
          <p:cNvSpPr/>
          <p:nvPr/>
        </p:nvSpPr>
        <p:spPr>
          <a:xfrm>
            <a:off x="609600" y="5667500"/>
            <a:ext cx="10972800" cy="853500"/>
          </a:xfrm>
          <a:prstGeom prst="roundRect">
            <a:avLst>
              <a:gd fmla="val 11429" name="adj"/>
            </a:avLst>
          </a:prstGeom>
          <a:solidFill>
            <a:srgbClr val="F8F5F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9" name="Google Shape;749;h49a0bcae752c4fa0_1_236"/>
          <p:cNvSpPr txBox="1"/>
          <p:nvPr/>
        </p:nvSpPr>
        <p:spPr>
          <a:xfrm>
            <a:off x="853440" y="5667500"/>
            <a:ext cx="10485300" cy="85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2233"/>
              </a:buClr>
              <a:buSzPts val="1300"/>
              <a:buFont typeface="Calibri"/>
              <a:buNone/>
            </a:pPr>
            <a:r>
              <a:rPr b="1" i="0" lang="en-US" u="none" cap="none" strike="noStrike">
                <a:solidFill>
                  <a:srgbClr val="7A2233"/>
                </a:solidFill>
                <a:latin typeface="Calibri"/>
                <a:ea typeface="Calibri"/>
                <a:cs typeface="Calibri"/>
                <a:sym typeface="Calibri"/>
              </a:rPr>
              <a:t>Bottom line: </a:t>
            </a:r>
            <a:r>
              <a:rPr b="1" lang="en-US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Neither architecture dominates: the winner is decided by the shape of the question. </a:t>
            </a:r>
            <a:r>
              <a:rPr lang="en-US" sz="1300">
                <a:solidFill>
                  <a:schemeClr val="dk1"/>
                </a:solidFill>
                <a:highlight>
                  <a:srgbClr val="F8F8F8"/>
                </a:highlight>
                <a:latin typeface="Roboto"/>
                <a:ea typeface="Roboto"/>
                <a:cs typeface="Roboto"/>
                <a:sym typeface="Roboto"/>
              </a:rPr>
              <a:t>Local lookups, declared integrity, and compact durability favor MySQL; multi-hop navigation, path semantics, and whole-graph aggregation favor Memgraph — and only the relational engine can </a:t>
            </a:r>
            <a:r>
              <a:rPr i="1" lang="en-US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guarantee</a:t>
            </a:r>
            <a:r>
              <a:rPr lang="en-US" sz="1300">
                <a:solidFill>
                  <a:schemeClr val="dk1"/>
                </a:solidFill>
                <a:highlight>
                  <a:srgbClr val="F8F8F8"/>
                </a:highlight>
                <a:latin typeface="Roboto"/>
                <a:ea typeface="Roboto"/>
                <a:cs typeface="Roboto"/>
                <a:sym typeface="Roboto"/>
              </a:rPr>
              <a:t> the contract, while only the graph engine treats paths as data.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h49a0bcae752c4fa0_1_236"/>
          <p:cNvSpPr/>
          <p:nvPr/>
        </p:nvSpPr>
        <p:spPr>
          <a:xfrm>
            <a:off x="6400800" y="1345565"/>
            <a:ext cx="5181600" cy="4145100"/>
          </a:xfrm>
          <a:prstGeom prst="roundRect">
            <a:avLst>
              <a:gd fmla="val 3529" name="adj"/>
            </a:avLst>
          </a:prstGeom>
          <a:solidFill>
            <a:srgbClr val="FDEDED"/>
          </a:solidFill>
          <a:ln cap="flat" cmpd="sng" w="13525">
            <a:solidFill>
              <a:srgbClr val="8B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1" name="Google Shape;751;h49a0bcae752c4fa0_1_236"/>
          <p:cNvSpPr/>
          <p:nvPr/>
        </p:nvSpPr>
        <p:spPr>
          <a:xfrm>
            <a:off x="6644640" y="1528445"/>
            <a:ext cx="1401900" cy="365700"/>
          </a:xfrm>
          <a:prstGeom prst="roundRect">
            <a:avLst>
              <a:gd fmla="val 50000" name="adj"/>
            </a:avLst>
          </a:prstGeom>
          <a:solidFill>
            <a:srgbClr val="8B1A1A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Memgraph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h49a0bcae752c4fa0_1_236"/>
          <p:cNvSpPr txBox="1"/>
          <p:nvPr/>
        </p:nvSpPr>
        <p:spPr>
          <a:xfrm>
            <a:off x="6644640" y="2052701"/>
            <a:ext cx="4632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5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8B1A1A"/>
                </a:solidFill>
                <a:latin typeface="Calibri"/>
                <a:ea typeface="Calibri"/>
                <a:cs typeface="Calibri"/>
                <a:sym typeface="Calibri"/>
              </a:rPr>
              <a:t>Excels </a:t>
            </a:r>
            <a:r>
              <a:rPr b="1" lang="en-US" sz="1600">
                <a:solidFill>
                  <a:srgbClr val="8B1A1A"/>
                </a:solidFill>
                <a:latin typeface="Calibri"/>
                <a:ea typeface="Calibri"/>
                <a:cs typeface="Calibri"/>
                <a:sym typeface="Calibri"/>
              </a:rPr>
              <a:t>when the workload is navigational</a:t>
            </a:r>
            <a:endParaRPr b="0" i="0" sz="1600" u="none" cap="none" strike="noStrike">
              <a:solidFill>
                <a:srgbClr val="8B1A1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h49a0bcae752c4fa0_1_236"/>
          <p:cNvSpPr/>
          <p:nvPr/>
        </p:nvSpPr>
        <p:spPr>
          <a:xfrm>
            <a:off x="6766560" y="2563272"/>
            <a:ext cx="146400" cy="146400"/>
          </a:xfrm>
          <a:prstGeom prst="ellipse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4" name="Google Shape;754;h49a0bcae752c4fa0_1_236"/>
          <p:cNvSpPr txBox="1"/>
          <p:nvPr/>
        </p:nvSpPr>
        <p:spPr>
          <a:xfrm>
            <a:off x="7071350" y="2345259"/>
            <a:ext cx="4267200" cy="85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2000"/>
              </a:spcAft>
              <a:buNone/>
            </a:pPr>
            <a:r>
              <a:rPr b="1" lang="en-US" sz="1300">
                <a:solidFill>
                  <a:srgbClr val="0D0D0D"/>
                </a:solidFill>
                <a:latin typeface="Roboto"/>
                <a:ea typeface="Roboto"/>
                <a:cs typeface="Roboto"/>
                <a:sym typeface="Roboto"/>
              </a:rPr>
              <a:t>Deep traversal:</a:t>
            </a:r>
            <a:r>
              <a:rPr lang="en-US" sz="1300">
                <a:solidFill>
                  <a:srgbClr val="0D0D0D"/>
                </a:solidFill>
                <a:latin typeface="Roboto"/>
                <a:ea typeface="Roboto"/>
                <a:cs typeface="Roboto"/>
                <a:sym typeface="Roboto"/>
              </a:rPr>
              <a:t> index-free adjacency wins as hops compound — crossover at k = 4 (B1), 16× on shortest path (B3)</a:t>
            </a:r>
            <a:endParaRPr b="1">
              <a:solidFill>
                <a:srgbClr val="0D0D0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5" name="Google Shape;755;h49a0bcae752c4fa0_1_236"/>
          <p:cNvSpPr/>
          <p:nvPr/>
        </p:nvSpPr>
        <p:spPr>
          <a:xfrm>
            <a:off x="6766560" y="3378794"/>
            <a:ext cx="146400" cy="146400"/>
          </a:xfrm>
          <a:prstGeom prst="ellipse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6" name="Google Shape;756;h49a0bcae752c4fa0_1_236"/>
          <p:cNvSpPr txBox="1"/>
          <p:nvPr/>
        </p:nvSpPr>
        <p:spPr>
          <a:xfrm>
            <a:off x="7071350" y="3235249"/>
            <a:ext cx="4267200" cy="67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200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Path-shaped questions:</a:t>
            </a:r>
            <a:r>
              <a:rPr lang="en-US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variable-length patterns are native; B4 has no SQL formulation— recursive CTEs only approximate it.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7" name="Google Shape;757;h49a0bcae752c4fa0_1_236"/>
          <p:cNvSpPr/>
          <p:nvPr/>
        </p:nvSpPr>
        <p:spPr>
          <a:xfrm>
            <a:off x="6766560" y="4157741"/>
            <a:ext cx="146400" cy="146400"/>
          </a:xfrm>
          <a:prstGeom prst="ellipse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8" name="Google Shape;758;h49a0bcae752c4fa0_1_236"/>
          <p:cNvSpPr txBox="1"/>
          <p:nvPr/>
        </p:nvSpPr>
        <p:spPr>
          <a:xfrm>
            <a:off x="7071350" y="3838717"/>
            <a:ext cx="4267200" cy="85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2000"/>
              </a:spcAft>
              <a:buNone/>
            </a:pPr>
            <a:r>
              <a:rPr b="1" lang="en-US">
                <a:solidFill>
                  <a:srgbClr val="0D0D0D"/>
                </a:solidFill>
                <a:latin typeface="Roboto"/>
                <a:ea typeface="Roboto"/>
                <a:cs typeface="Roboto"/>
                <a:sym typeface="Roboto"/>
              </a:rPr>
              <a:t>Undirected &amp; difference patterns:</a:t>
            </a:r>
            <a:r>
              <a:rPr lang="en-US">
                <a:solidFill>
                  <a:srgbClr val="0D0D0D"/>
                </a:solidFill>
                <a:latin typeface="Roboto"/>
                <a:ea typeface="Roboto"/>
                <a:cs typeface="Roboto"/>
                <a:sym typeface="Roboto"/>
              </a:rPr>
              <a:t> one pattern where SQL needs OR-predicates or anti-joins (A4b, A7).</a:t>
            </a:r>
            <a:endParaRPr b="1" sz="1500">
              <a:solidFill>
                <a:srgbClr val="0D0D0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9" name="Google Shape;759;h49a0bcae752c4fa0_1_236"/>
          <p:cNvSpPr/>
          <p:nvPr/>
        </p:nvSpPr>
        <p:spPr>
          <a:xfrm>
            <a:off x="6766560" y="4841440"/>
            <a:ext cx="146400" cy="146400"/>
          </a:xfrm>
          <a:prstGeom prst="ellipse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0" name="Google Shape;760;h49a0bcae752c4fa0_1_236"/>
          <p:cNvSpPr txBox="1"/>
          <p:nvPr/>
        </p:nvSpPr>
        <p:spPr>
          <a:xfrm>
            <a:off x="7071360" y="4847675"/>
            <a:ext cx="4267200" cy="34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2000"/>
              </a:spcAft>
              <a:buNone/>
            </a:pPr>
            <a:r>
              <a:rPr b="1" lang="en-US">
                <a:solidFill>
                  <a:srgbClr val="0D0D0D"/>
                </a:solidFill>
                <a:latin typeface="Roboto"/>
                <a:ea typeface="Roboto"/>
                <a:cs typeface="Roboto"/>
                <a:sym typeface="Roboto"/>
              </a:rPr>
              <a:t>Full-graph aggregation:</a:t>
            </a:r>
            <a:r>
              <a:rPr lang="en-US">
                <a:solidFill>
                  <a:srgbClr val="0D0D0D"/>
                </a:solidFill>
                <a:latin typeface="Roboto"/>
                <a:ea typeface="Roboto"/>
                <a:cs typeface="Roboto"/>
                <a:sym typeface="Roboto"/>
              </a:rPr>
              <a:t> reads labels/properties off </a:t>
            </a:r>
            <a:r>
              <a:rPr lang="en-US">
                <a:solidFill>
                  <a:srgbClr val="0D0D0D"/>
                </a:solidFill>
                <a:latin typeface="Roboto"/>
                <a:ea typeface="Roboto"/>
                <a:cs typeface="Roboto"/>
                <a:sym typeface="Roboto"/>
              </a:rPr>
              <a:t>t</a:t>
            </a:r>
            <a:r>
              <a:rPr lang="en-US">
                <a:solidFill>
                  <a:srgbClr val="0D0D0D"/>
                </a:solidFill>
                <a:latin typeface="Roboto"/>
                <a:ea typeface="Roboto"/>
                <a:cs typeface="Roboto"/>
                <a:sym typeface="Roboto"/>
              </a:rPr>
              <a:t>raversed records — no join-backs to reassemble tuples (C1, C2: up to 3.5×).</a:t>
            </a:r>
            <a:endParaRPr b="1" sz="1500">
              <a:solidFill>
                <a:srgbClr val="0D0D0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1" name="Google Shape;761;h49a0bcae752c4fa0_1_236"/>
          <p:cNvSpPr/>
          <p:nvPr/>
        </p:nvSpPr>
        <p:spPr>
          <a:xfrm>
            <a:off x="-19050" y="6614399"/>
            <a:ext cx="12211200" cy="297900"/>
          </a:xfrm>
          <a:prstGeom prst="rect">
            <a:avLst/>
          </a:prstGeom>
          <a:solidFill>
            <a:srgbClr val="82243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F1A2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2" name="Google Shape;762;h49a0bcae752c4fa0_1_236"/>
          <p:cNvSpPr/>
          <p:nvPr/>
        </p:nvSpPr>
        <p:spPr>
          <a:xfrm>
            <a:off x="-9525" y="-57220"/>
            <a:ext cx="12211200" cy="297900"/>
          </a:xfrm>
          <a:prstGeom prst="rect">
            <a:avLst/>
          </a:prstGeom>
          <a:solidFill>
            <a:srgbClr val="82243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F1A2D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h49a0bcae752c4fa0_0_58"/>
          <p:cNvSpPr txBox="1"/>
          <p:nvPr/>
        </p:nvSpPr>
        <p:spPr>
          <a:xfrm>
            <a:off x="3628650" y="2339225"/>
            <a:ext cx="4934700" cy="16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7E0705"/>
                </a:solidFill>
                <a:latin typeface="Calibri"/>
                <a:ea typeface="Calibri"/>
                <a:cs typeface="Calibri"/>
                <a:sym typeface="Calibri"/>
              </a:rPr>
              <a:t>Thank you for the attention</a:t>
            </a:r>
            <a:endParaRPr b="1" sz="3200">
              <a:solidFill>
                <a:srgbClr val="7E070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7E0705"/>
                </a:solidFill>
                <a:latin typeface="Calibri"/>
                <a:ea typeface="Calibri"/>
                <a:cs typeface="Calibri"/>
                <a:sym typeface="Calibri"/>
              </a:rPr>
              <a:t>Valerio lorito </a:t>
            </a:r>
            <a:endParaRPr b="1" sz="3200">
              <a:solidFill>
                <a:srgbClr val="7E070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h49a0bcae752c4fa0_0_58"/>
          <p:cNvSpPr/>
          <p:nvPr/>
        </p:nvSpPr>
        <p:spPr>
          <a:xfrm>
            <a:off x="-19050" y="6614399"/>
            <a:ext cx="12211200" cy="297900"/>
          </a:xfrm>
          <a:prstGeom prst="rect">
            <a:avLst/>
          </a:prstGeom>
          <a:solidFill>
            <a:srgbClr val="82243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F1A2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9" name="Google Shape;769;h49a0bcae752c4fa0_0_58"/>
          <p:cNvSpPr/>
          <p:nvPr/>
        </p:nvSpPr>
        <p:spPr>
          <a:xfrm>
            <a:off x="-9525" y="-57220"/>
            <a:ext cx="12211200" cy="297900"/>
          </a:xfrm>
          <a:prstGeom prst="rect">
            <a:avLst/>
          </a:prstGeom>
          <a:solidFill>
            <a:srgbClr val="82243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F1A2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70" name="Google Shape;770;h49a0bcae752c4fa0_0_58" title="images-7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72275" y="-281750"/>
            <a:ext cx="12810574" cy="7194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